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1.png"/><Relationship Id="rId3" Type="http://schemas.openxmlformats.org/officeDocument/2006/relationships/image" Target="../media/image-29-1.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image" Target="../media/image-32-1.png"/><Relationship Id="rId4" Type="http://schemas.openxmlformats.org/officeDocument/2006/relationships/image" Target="../media/image-32-1.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1.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5410048" y="822960"/>
            <a:ext cx="1371600" cy="1371600"/>
          </a:xfrm>
          <a:prstGeom prst="ellipse">
            <a:avLst/>
          </a:prstGeom>
          <a:solidFill>
            <a:srgbClr val="306998"/>
          </a:solidFill>
          <a:ln/>
        </p:spPr>
      </p:sp>
      <p:pic>
        <p:nvPicPr>
          <p:cNvPr id="3" name="Image 0" descr="/tmp/claude-0/-home-user-pythonSEM-intro/a422a649-6240-52ae-9445-beabcf08c9b3/scratchpad/pyintro/icons/python_logo.png">    </p:cNvPr>
          <p:cNvPicPr>
            <a:picLocks noChangeAspect="1"/>
          </p:cNvPicPr>
          <p:nvPr/>
        </p:nvPicPr>
        <p:blipFill>
          <a:blip r:embed="rId1"/>
          <a:stretch>
            <a:fillRect/>
          </a:stretch>
        </p:blipFill>
        <p:spPr>
          <a:xfrm>
            <a:off x="5588356" y="1001268"/>
            <a:ext cx="1014984" cy="1014984"/>
          </a:xfrm>
          <a:prstGeom prst="rect">
            <a:avLst/>
          </a:prstGeom>
        </p:spPr>
      </p:pic>
      <p:sp>
        <p:nvSpPr>
          <p:cNvPr id="4" name="Text 1"/>
          <p:cNvSpPr txBox="1"/>
          <p:nvPr/>
        </p:nvSpPr>
        <p:spPr>
          <a:xfrm>
            <a:off x="0" y="2514600"/>
            <a:ext cx="12191695" cy="457200"/>
          </a:xfrm>
          <a:prstGeom prst="rect">
            <a:avLst/>
          </a:prstGeom>
          <a:noFill/>
          <a:ln/>
        </p:spPr>
        <p:txBody>
          <a:bodyPr wrap="square" lIns="0" tIns="0" rIns="0" bIns="0" rtlCol="0" anchor="ctr"/>
          <a:lstStyle/>
          <a:p>
            <a:pPr algn="ctr" indent="0" marL="0">
              <a:buNone/>
            </a:pPr>
            <a:r>
              <a:rPr lang="en-US" sz="1800" b="1" spc="400" kern="0" dirty="0">
                <a:solidFill>
                  <a:srgbClr val="FFD43B"/>
                </a:solidFill>
                <a:latin typeface="Arial" pitchFamily="34" charset="0"/>
                <a:ea typeface="Arial" pitchFamily="34" charset="-122"/>
                <a:cs typeface="Arial" pitchFamily="34" charset="-120"/>
              </a:rPr>
              <a:t>INTRODUCTION TO</a:t>
            </a:r>
            <a:endParaRPr lang="en-US" sz="1800" dirty="0"/>
          </a:p>
        </p:txBody>
      </p:sp>
      <p:sp>
        <p:nvSpPr>
          <p:cNvPr id="5" name="Text 2"/>
          <p:cNvSpPr txBox="1"/>
          <p:nvPr/>
        </p:nvSpPr>
        <p:spPr>
          <a:xfrm>
            <a:off x="0" y="2880360"/>
            <a:ext cx="12191695" cy="1188720"/>
          </a:xfrm>
          <a:prstGeom prst="rect">
            <a:avLst/>
          </a:prstGeom>
          <a:noFill/>
          <a:ln/>
        </p:spPr>
        <p:txBody>
          <a:bodyPr wrap="square" lIns="0" tIns="0" rIns="0" bIns="0" rtlCol="0" anchor="ctr"/>
          <a:lstStyle/>
          <a:p>
            <a:pPr algn="ctr" indent="0" marL="0">
              <a:buNone/>
            </a:pPr>
            <a:r>
              <a:rPr lang="en-US" sz="6600" b="1" dirty="0">
                <a:solidFill>
                  <a:srgbClr val="FFFFFF"/>
                </a:solidFill>
                <a:latin typeface="Arial" pitchFamily="34" charset="0"/>
                <a:ea typeface="Arial" pitchFamily="34" charset="-122"/>
                <a:cs typeface="Arial" pitchFamily="34" charset="-120"/>
              </a:rPr>
              <a:t>Python</a:t>
            </a:r>
            <a:endParaRPr lang="en-US" sz="6600" dirty="0"/>
          </a:p>
        </p:txBody>
      </p:sp>
      <p:sp>
        <p:nvSpPr>
          <p:cNvPr id="6" name="Text 3"/>
          <p:cNvSpPr txBox="1"/>
          <p:nvPr/>
        </p:nvSpPr>
        <p:spPr>
          <a:xfrm>
            <a:off x="0" y="4114800"/>
            <a:ext cx="12191695" cy="457200"/>
          </a:xfrm>
          <a:prstGeom prst="rect">
            <a:avLst/>
          </a:prstGeom>
          <a:noFill/>
          <a:ln/>
        </p:spPr>
        <p:txBody>
          <a:bodyPr wrap="square" lIns="0" tIns="0" rIns="0" bIns="0" rtlCol="0" anchor="ctr"/>
          <a:lstStyle/>
          <a:p>
            <a:pPr algn="ctr" indent="0" marL="0">
              <a:buNone/>
            </a:pPr>
            <a:r>
              <a:rPr lang="en-US" sz="1800" dirty="0">
                <a:solidFill>
                  <a:srgbClr val="AEB9CC"/>
                </a:solidFill>
                <a:latin typeface="Calibri" pitchFamily="34" charset="0"/>
                <a:ea typeface="Calibri" pitchFamily="34" charset="-122"/>
                <a:cs typeface="Calibri" pitchFamily="34" charset="-120"/>
              </a:rPr>
              <a:t>A friendly, no-experience-needed course for our team</a:t>
            </a:r>
            <a:endParaRPr lang="en-US" sz="1800" dirty="0"/>
          </a:p>
        </p:txBody>
      </p:sp>
      <p:sp>
        <p:nvSpPr>
          <p:cNvPr id="7" name="Shape 4"/>
          <p:cNvSpPr/>
          <p:nvPr/>
        </p:nvSpPr>
        <p:spPr>
          <a:xfrm>
            <a:off x="3718408" y="4892040"/>
            <a:ext cx="4754880" cy="502920"/>
          </a:xfrm>
          <a:prstGeom prst="roundRect">
            <a:avLst>
              <a:gd name="adj" fmla="val 50909"/>
            </a:avLst>
          </a:prstGeom>
          <a:solidFill>
            <a:srgbClr val="1B2A4A"/>
          </a:solidFill>
          <a:ln w="12700">
            <a:solidFill>
              <a:srgbClr val="306998"/>
            </a:solidFill>
            <a:prstDash val="solid"/>
          </a:ln>
        </p:spPr>
      </p:sp>
      <p:sp>
        <p:nvSpPr>
          <p:cNvPr id="8" name="Text 5"/>
          <p:cNvSpPr txBox="1"/>
          <p:nvPr/>
        </p:nvSpPr>
        <p:spPr>
          <a:xfrm>
            <a:off x="3718408" y="4892040"/>
            <a:ext cx="4754880" cy="502920"/>
          </a:xfrm>
          <a:prstGeom prst="rect">
            <a:avLst/>
          </a:prstGeom>
          <a:noFill/>
          <a:ln/>
        </p:spPr>
        <p:txBody>
          <a:bodyPr wrap="square" lIns="0" tIns="0" rIns="0" bIns="0" rtlCol="0" anchor="ctr"/>
          <a:lstStyle/>
          <a:p>
            <a:pPr algn="ctr" indent="0" marL="0">
              <a:buNone/>
            </a:pPr>
            <a:r>
              <a:rPr lang="en-US" sz="1250" dirty="0">
                <a:solidFill>
                  <a:srgbClr val="FFD43B"/>
                </a:solidFill>
                <a:latin typeface="Calibri" pitchFamily="34" charset="0"/>
                <a:ea typeface="Calibri" pitchFamily="34" charset="-122"/>
                <a:cs typeface="Calibri" pitchFamily="34" charset="-120"/>
              </a:rPr>
              <a:t>6 chapters  •  hands-on  •  zero prior coding needed</a:t>
            </a:r>
            <a:endParaRPr lang="en-US" sz="1250" dirty="0"/>
          </a:p>
        </p:txBody>
      </p:sp>
      <p:sp>
        <p:nvSpPr>
          <p:cNvPr id="9" name="Text 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Team Python Onboarding</a:t>
            </a:r>
            <a:endParaRPr lang="en-US" sz="1000" dirty="0"/>
          </a:p>
        </p:txBody>
      </p:sp>
      <p:sp>
        <p:nvSpPr>
          <p:cNvPr id="10" name="Text 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WELCOME</a:t>
            </a:r>
            <a:endParaRPr lang="en-US" sz="13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we're headed</a:t>
            </a:r>
            <a:endParaRPr lang="en-US" sz="3200" dirty="0"/>
          </a:p>
        </p:txBody>
      </p:sp>
      <p:sp>
        <p:nvSpPr>
          <p:cNvPr id="4" name="Text 2"/>
          <p:cNvSpPr txBox="1"/>
          <p:nvPr/>
        </p:nvSpPr>
        <p:spPr>
          <a:xfrm>
            <a:off x="640080" y="1417320"/>
            <a:ext cx="10881360" cy="4572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Six short chapters, from installing Python to knowing what makes it special. No experience required, just curiosity.</a:t>
            </a:r>
            <a:endParaRPr lang="en-US" sz="1400" dirty="0"/>
          </a:p>
        </p:txBody>
      </p:sp>
      <p:sp>
        <p:nvSpPr>
          <p:cNvPr id="5" name="Shape 3"/>
          <p:cNvSpPr/>
          <p:nvPr/>
        </p:nvSpPr>
        <p:spPr>
          <a:xfrm>
            <a:off x="640080" y="2148840"/>
            <a:ext cx="3429000" cy="1691640"/>
          </a:xfrm>
          <a:prstGeom prst="roundRect">
            <a:avLst>
              <a:gd name="adj" fmla="val 4865"/>
            </a:avLst>
          </a:prstGeom>
          <a:solidFill>
            <a:srgbClr val="F4F6F9"/>
          </a:solidFill>
          <a:ln/>
        </p:spPr>
      </p:sp>
      <p:sp>
        <p:nvSpPr>
          <p:cNvPr id="6" name="Shape 4"/>
          <p:cNvSpPr/>
          <p:nvPr/>
        </p:nvSpPr>
        <p:spPr>
          <a:xfrm>
            <a:off x="896112" y="2404872"/>
            <a:ext cx="566928" cy="566928"/>
          </a:xfrm>
          <a:prstGeom prst="ellipse">
            <a:avLst/>
          </a:prstGeom>
          <a:solidFill>
            <a:srgbClr val="306998"/>
          </a:solidFill>
          <a:ln/>
        </p:spPr>
      </p:sp>
      <p:pic>
        <p:nvPicPr>
          <p:cNvPr id="7" name="Image 0" descr="/tmp/claude-0/-home-user-pythonSEM-intro/a422a649-6240-52ae-9445-beabcf08c9b3/scratchpad/pyintro/icons/download.png">    </p:cNvPr>
          <p:cNvPicPr>
            <a:picLocks noChangeAspect="1"/>
          </p:cNvPicPr>
          <p:nvPr/>
        </p:nvPicPr>
        <p:blipFill>
          <a:blip r:embed="rId1"/>
          <a:stretch>
            <a:fillRect/>
          </a:stretch>
        </p:blipFill>
        <p:spPr>
          <a:xfrm>
            <a:off x="969813" y="2478573"/>
            <a:ext cx="419527" cy="419527"/>
          </a:xfrm>
          <a:prstGeom prst="rect">
            <a:avLst/>
          </a:prstGeom>
        </p:spPr>
      </p:pic>
      <p:sp>
        <p:nvSpPr>
          <p:cNvPr id="8" name="Text 5"/>
          <p:cNvSpPr txBox="1"/>
          <p:nvPr/>
        </p:nvSpPr>
        <p:spPr>
          <a:xfrm>
            <a:off x="1645920" y="24048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1</a:t>
            </a:r>
            <a:endParaRPr lang="en-US" sz="1050" dirty="0"/>
          </a:p>
        </p:txBody>
      </p:sp>
      <p:sp>
        <p:nvSpPr>
          <p:cNvPr id="9" name="Text 6"/>
          <p:cNvSpPr txBox="1"/>
          <p:nvPr/>
        </p:nvSpPr>
        <p:spPr>
          <a:xfrm>
            <a:off x="1645920" y="26609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Installing Python</a:t>
            </a:r>
            <a:endParaRPr lang="en-US" sz="1600" dirty="0"/>
          </a:p>
        </p:txBody>
      </p:sp>
      <p:sp>
        <p:nvSpPr>
          <p:cNvPr id="10" name="Shape 7"/>
          <p:cNvSpPr/>
          <p:nvPr/>
        </p:nvSpPr>
        <p:spPr>
          <a:xfrm>
            <a:off x="4297680" y="2148840"/>
            <a:ext cx="3429000" cy="1691640"/>
          </a:xfrm>
          <a:prstGeom prst="roundRect">
            <a:avLst>
              <a:gd name="adj" fmla="val 4865"/>
            </a:avLst>
          </a:prstGeom>
          <a:solidFill>
            <a:srgbClr val="F4F6F9"/>
          </a:solidFill>
          <a:ln/>
        </p:spPr>
      </p:sp>
      <p:sp>
        <p:nvSpPr>
          <p:cNvPr id="11" name="Shape 8"/>
          <p:cNvSpPr/>
          <p:nvPr/>
        </p:nvSpPr>
        <p:spPr>
          <a:xfrm>
            <a:off x="4553712" y="2404872"/>
            <a:ext cx="566928" cy="566928"/>
          </a:xfrm>
          <a:prstGeom prst="ellipse">
            <a:avLst/>
          </a:prstGeom>
          <a:solidFill>
            <a:srgbClr val="306998"/>
          </a:solidFill>
          <a:ln/>
        </p:spPr>
      </p:sp>
      <p:pic>
        <p:nvPicPr>
          <p:cNvPr id="12" name="Image 1" descr="/tmp/claude-0/-home-user-pythonSEM-intro/a422a649-6240-52ae-9445-beabcf08c9b3/scratchpad/pyintro/icons/question.png">    </p:cNvPr>
          <p:cNvPicPr>
            <a:picLocks noChangeAspect="1"/>
          </p:cNvPicPr>
          <p:nvPr/>
        </p:nvPicPr>
        <p:blipFill>
          <a:blip r:embed="rId2"/>
          <a:stretch>
            <a:fillRect/>
          </a:stretch>
        </p:blipFill>
        <p:spPr>
          <a:xfrm>
            <a:off x="4627413" y="2478573"/>
            <a:ext cx="419527" cy="419527"/>
          </a:xfrm>
          <a:prstGeom prst="rect">
            <a:avLst/>
          </a:prstGeom>
        </p:spPr>
      </p:pic>
      <p:sp>
        <p:nvSpPr>
          <p:cNvPr id="13" name="Text 9"/>
          <p:cNvSpPr txBox="1"/>
          <p:nvPr/>
        </p:nvSpPr>
        <p:spPr>
          <a:xfrm>
            <a:off x="5303520" y="24048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2</a:t>
            </a:r>
            <a:endParaRPr lang="en-US" sz="1050" dirty="0"/>
          </a:p>
        </p:txBody>
      </p:sp>
      <p:sp>
        <p:nvSpPr>
          <p:cNvPr id="14" name="Text 10"/>
          <p:cNvSpPr txBox="1"/>
          <p:nvPr/>
        </p:nvSpPr>
        <p:spPr>
          <a:xfrm>
            <a:off x="5303520" y="26609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What is Python?</a:t>
            </a:r>
            <a:endParaRPr lang="en-US" sz="1600" dirty="0"/>
          </a:p>
        </p:txBody>
      </p:sp>
      <p:sp>
        <p:nvSpPr>
          <p:cNvPr id="15" name="Shape 11"/>
          <p:cNvSpPr/>
          <p:nvPr/>
        </p:nvSpPr>
        <p:spPr>
          <a:xfrm>
            <a:off x="7955280" y="2148840"/>
            <a:ext cx="3429000" cy="1691640"/>
          </a:xfrm>
          <a:prstGeom prst="roundRect">
            <a:avLst>
              <a:gd name="adj" fmla="val 4865"/>
            </a:avLst>
          </a:prstGeom>
          <a:solidFill>
            <a:srgbClr val="F4F6F9"/>
          </a:solidFill>
          <a:ln/>
        </p:spPr>
      </p:sp>
      <p:sp>
        <p:nvSpPr>
          <p:cNvPr id="16" name="Shape 12"/>
          <p:cNvSpPr/>
          <p:nvPr/>
        </p:nvSpPr>
        <p:spPr>
          <a:xfrm>
            <a:off x="8211312" y="2404872"/>
            <a:ext cx="566928" cy="566928"/>
          </a:xfrm>
          <a:prstGeom prst="ellipse">
            <a:avLst/>
          </a:prstGeom>
          <a:solidFill>
            <a:srgbClr val="306998"/>
          </a:solidFill>
          <a:ln/>
        </p:spPr>
      </p:sp>
      <p:pic>
        <p:nvPicPr>
          <p:cNvPr id="17" name="Image 2" descr="/tmp/claude-0/-home-user-pythonSEM-intro/a422a649-6240-52ae-9445-beabcf08c9b3/scratchpad/pyintro/icons/code.png">    </p:cNvPr>
          <p:cNvPicPr>
            <a:picLocks noChangeAspect="1"/>
          </p:cNvPicPr>
          <p:nvPr/>
        </p:nvPicPr>
        <p:blipFill>
          <a:blip r:embed="rId3"/>
          <a:stretch>
            <a:fillRect/>
          </a:stretch>
        </p:blipFill>
        <p:spPr>
          <a:xfrm>
            <a:off x="8285013" y="2478573"/>
            <a:ext cx="419527" cy="419527"/>
          </a:xfrm>
          <a:prstGeom prst="rect">
            <a:avLst/>
          </a:prstGeom>
        </p:spPr>
      </p:pic>
      <p:sp>
        <p:nvSpPr>
          <p:cNvPr id="18" name="Text 13"/>
          <p:cNvSpPr txBox="1"/>
          <p:nvPr/>
        </p:nvSpPr>
        <p:spPr>
          <a:xfrm>
            <a:off x="8961120" y="24048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3</a:t>
            </a:r>
            <a:endParaRPr lang="en-US" sz="1050" dirty="0"/>
          </a:p>
        </p:txBody>
      </p:sp>
      <p:sp>
        <p:nvSpPr>
          <p:cNvPr id="19" name="Text 14"/>
          <p:cNvSpPr txBox="1"/>
          <p:nvPr/>
        </p:nvSpPr>
        <p:spPr>
          <a:xfrm>
            <a:off x="8961120" y="26609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Your first program</a:t>
            </a:r>
            <a:endParaRPr lang="en-US" sz="1600" dirty="0"/>
          </a:p>
        </p:txBody>
      </p:sp>
      <p:sp>
        <p:nvSpPr>
          <p:cNvPr id="20" name="Shape 15"/>
          <p:cNvSpPr/>
          <p:nvPr/>
        </p:nvSpPr>
        <p:spPr>
          <a:xfrm>
            <a:off x="640080" y="4114800"/>
            <a:ext cx="3429000" cy="1691640"/>
          </a:xfrm>
          <a:prstGeom prst="roundRect">
            <a:avLst>
              <a:gd name="adj" fmla="val 4865"/>
            </a:avLst>
          </a:prstGeom>
          <a:solidFill>
            <a:srgbClr val="F4F6F9"/>
          </a:solidFill>
          <a:ln/>
        </p:spPr>
      </p:sp>
      <p:sp>
        <p:nvSpPr>
          <p:cNvPr id="21" name="Shape 16"/>
          <p:cNvSpPr/>
          <p:nvPr/>
        </p:nvSpPr>
        <p:spPr>
          <a:xfrm>
            <a:off x="896112" y="4370832"/>
            <a:ext cx="566928" cy="566928"/>
          </a:xfrm>
          <a:prstGeom prst="ellipse">
            <a:avLst/>
          </a:prstGeom>
          <a:solidFill>
            <a:srgbClr val="306998"/>
          </a:solidFill>
          <a:ln/>
        </p:spPr>
      </p:sp>
      <p:pic>
        <p:nvPicPr>
          <p:cNvPr id="22" name="Image 3" descr="/tmp/claude-0/-home-user-pythonSEM-intro/a422a649-6240-52ae-9445-beabcf08c9b3/scratchpad/pyintro/icons/book.png">    </p:cNvPr>
          <p:cNvPicPr>
            <a:picLocks noChangeAspect="1"/>
          </p:cNvPicPr>
          <p:nvPr/>
        </p:nvPicPr>
        <p:blipFill>
          <a:blip r:embed="rId4"/>
          <a:stretch>
            <a:fillRect/>
          </a:stretch>
        </p:blipFill>
        <p:spPr>
          <a:xfrm>
            <a:off x="969813" y="4444533"/>
            <a:ext cx="419527" cy="419527"/>
          </a:xfrm>
          <a:prstGeom prst="rect">
            <a:avLst/>
          </a:prstGeom>
        </p:spPr>
      </p:pic>
      <p:sp>
        <p:nvSpPr>
          <p:cNvPr id="23" name="Text 17"/>
          <p:cNvSpPr txBox="1"/>
          <p:nvPr/>
        </p:nvSpPr>
        <p:spPr>
          <a:xfrm>
            <a:off x="1645920" y="437083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4</a:t>
            </a:r>
            <a:endParaRPr lang="en-US" sz="1050" dirty="0"/>
          </a:p>
        </p:txBody>
      </p:sp>
      <p:sp>
        <p:nvSpPr>
          <p:cNvPr id="24" name="Text 18"/>
          <p:cNvSpPr txBox="1"/>
          <p:nvPr/>
        </p:nvSpPr>
        <p:spPr>
          <a:xfrm>
            <a:off x="1645920" y="462686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Libraries &amp; modules</a:t>
            </a:r>
            <a:endParaRPr lang="en-US" sz="1600" dirty="0"/>
          </a:p>
        </p:txBody>
      </p:sp>
      <p:sp>
        <p:nvSpPr>
          <p:cNvPr id="25" name="Shape 19"/>
          <p:cNvSpPr/>
          <p:nvPr/>
        </p:nvSpPr>
        <p:spPr>
          <a:xfrm>
            <a:off x="4297680" y="4114800"/>
            <a:ext cx="3429000" cy="1691640"/>
          </a:xfrm>
          <a:prstGeom prst="roundRect">
            <a:avLst>
              <a:gd name="adj" fmla="val 4865"/>
            </a:avLst>
          </a:prstGeom>
          <a:solidFill>
            <a:srgbClr val="F4F6F9"/>
          </a:solidFill>
          <a:ln/>
        </p:spPr>
      </p:sp>
      <p:sp>
        <p:nvSpPr>
          <p:cNvPr id="26" name="Shape 20"/>
          <p:cNvSpPr/>
          <p:nvPr/>
        </p:nvSpPr>
        <p:spPr>
          <a:xfrm>
            <a:off x="4553712" y="4370832"/>
            <a:ext cx="566928" cy="566928"/>
          </a:xfrm>
          <a:prstGeom prst="ellipse">
            <a:avLst/>
          </a:prstGeom>
          <a:solidFill>
            <a:srgbClr val="306998"/>
          </a:solidFill>
          <a:ln/>
        </p:spPr>
      </p:sp>
      <p:pic>
        <p:nvPicPr>
          <p:cNvPr id="27" name="Image 4" descr="/tmp/claude-0/-home-user-pythonSEM-intro/a422a649-6240-52ae-9445-beabcf08c9b3/scratchpad/pyintro/icons/compare.png">    </p:cNvPr>
          <p:cNvPicPr>
            <a:picLocks noChangeAspect="1"/>
          </p:cNvPicPr>
          <p:nvPr/>
        </p:nvPicPr>
        <p:blipFill>
          <a:blip r:embed="rId5"/>
          <a:stretch>
            <a:fillRect/>
          </a:stretch>
        </p:blipFill>
        <p:spPr>
          <a:xfrm>
            <a:off x="4627413" y="4444533"/>
            <a:ext cx="419527" cy="419527"/>
          </a:xfrm>
          <a:prstGeom prst="rect">
            <a:avLst/>
          </a:prstGeom>
        </p:spPr>
      </p:pic>
      <p:sp>
        <p:nvSpPr>
          <p:cNvPr id="28" name="Text 21"/>
          <p:cNvSpPr txBox="1"/>
          <p:nvPr/>
        </p:nvSpPr>
        <p:spPr>
          <a:xfrm>
            <a:off x="5303520" y="437083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5</a:t>
            </a:r>
            <a:endParaRPr lang="en-US" sz="1050" dirty="0"/>
          </a:p>
        </p:txBody>
      </p:sp>
      <p:sp>
        <p:nvSpPr>
          <p:cNvPr id="29" name="Text 22"/>
          <p:cNvSpPr txBox="1"/>
          <p:nvPr/>
        </p:nvSpPr>
        <p:spPr>
          <a:xfrm>
            <a:off x="5303520" y="462686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Why Python wins</a:t>
            </a:r>
            <a:endParaRPr lang="en-US" sz="1600" dirty="0"/>
          </a:p>
        </p:txBody>
      </p:sp>
      <p:sp>
        <p:nvSpPr>
          <p:cNvPr id="30" name="Shape 23"/>
          <p:cNvSpPr/>
          <p:nvPr/>
        </p:nvSpPr>
        <p:spPr>
          <a:xfrm>
            <a:off x="7955280" y="4114800"/>
            <a:ext cx="3429000" cy="1691640"/>
          </a:xfrm>
          <a:prstGeom prst="roundRect">
            <a:avLst>
              <a:gd name="adj" fmla="val 4865"/>
            </a:avLst>
          </a:prstGeom>
          <a:solidFill>
            <a:srgbClr val="F4F6F9"/>
          </a:solidFill>
          <a:ln/>
        </p:spPr>
      </p:sp>
      <p:sp>
        <p:nvSpPr>
          <p:cNvPr id="31" name="Shape 24"/>
          <p:cNvSpPr/>
          <p:nvPr/>
        </p:nvSpPr>
        <p:spPr>
          <a:xfrm>
            <a:off x="8211312" y="4370832"/>
            <a:ext cx="566928" cy="566928"/>
          </a:xfrm>
          <a:prstGeom prst="ellipse">
            <a:avLst/>
          </a:prstGeom>
          <a:solidFill>
            <a:srgbClr val="306998"/>
          </a:solidFill>
          <a:ln/>
        </p:spPr>
      </p:sp>
      <p:pic>
        <p:nvPicPr>
          <p:cNvPr id="32" name="Image 5" descr="/tmp/claude-0/-home-user-pythonSEM-intro/a422a649-6240-52ae-9445-beabcf08c9b3/scratchpad/pyintro/icons/gear.png">    </p:cNvPr>
          <p:cNvPicPr>
            <a:picLocks noChangeAspect="1"/>
          </p:cNvPicPr>
          <p:nvPr/>
        </p:nvPicPr>
        <p:blipFill>
          <a:blip r:embed="rId6"/>
          <a:stretch>
            <a:fillRect/>
          </a:stretch>
        </p:blipFill>
        <p:spPr>
          <a:xfrm>
            <a:off x="8285013" y="4444533"/>
            <a:ext cx="419527" cy="419527"/>
          </a:xfrm>
          <a:prstGeom prst="rect">
            <a:avLst/>
          </a:prstGeom>
        </p:spPr>
      </p:pic>
      <p:sp>
        <p:nvSpPr>
          <p:cNvPr id="33" name="Text 25"/>
          <p:cNvSpPr txBox="1"/>
          <p:nvPr/>
        </p:nvSpPr>
        <p:spPr>
          <a:xfrm>
            <a:off x="8961120" y="437083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6</a:t>
            </a:r>
            <a:endParaRPr lang="en-US" sz="1050" dirty="0"/>
          </a:p>
        </p:txBody>
      </p:sp>
      <p:sp>
        <p:nvSpPr>
          <p:cNvPr id="34" name="Text 26"/>
          <p:cNvSpPr txBox="1"/>
          <p:nvPr/>
        </p:nvSpPr>
        <p:spPr>
          <a:xfrm>
            <a:off x="8961120" y="462686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Good habits to know</a:t>
            </a:r>
            <a:endParaRPr lang="en-US" sz="1600" dirty="0"/>
          </a:p>
        </p:txBody>
      </p:sp>
      <p:sp>
        <p:nvSpPr>
          <p:cNvPr id="35" name="Text 2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0 · Welcome</a:t>
            </a:r>
            <a:endParaRPr lang="en-US" sz="1000" dirty="0"/>
          </a:p>
        </p:txBody>
      </p:sp>
      <p:sp>
        <p:nvSpPr>
          <p:cNvPr id="36" name="Text 2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306998"/>
          </a:solidFill>
          <a:ln/>
        </p:spPr>
      </p:sp>
      <p:pic>
        <p:nvPicPr>
          <p:cNvPr id="3" name="Image 0" descr="/tmp/claude-0/-home-user-pythonSEM-intro/a422a649-6240-52ae-9445-beabcf08c9b3/scratchpad/pyintro/icons/comments.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21792"/>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LET’S START WITH A QUICK POLL</a:t>
            </a:r>
            <a:endParaRPr lang="en-US" sz="1300" dirty="0"/>
          </a:p>
        </p:txBody>
      </p:sp>
      <p:sp>
        <p:nvSpPr>
          <p:cNvPr id="5" name="Text 2"/>
          <p:cNvSpPr txBox="1"/>
          <p:nvPr/>
        </p:nvSpPr>
        <p:spPr>
          <a:xfrm>
            <a:off x="1691640" y="914400"/>
            <a:ext cx="96012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Raise your hand: where are you starting from?</a:t>
            </a:r>
            <a:endParaRPr lang="en-US" sz="2600" dirty="0"/>
          </a:p>
        </p:txBody>
      </p:sp>
      <p:sp>
        <p:nvSpPr>
          <p:cNvPr id="6" name="Shape 3"/>
          <p:cNvSpPr/>
          <p:nvPr/>
        </p:nvSpPr>
        <p:spPr>
          <a:xfrm>
            <a:off x="822960" y="1965960"/>
            <a:ext cx="10515600" cy="960120"/>
          </a:xfrm>
          <a:prstGeom prst="roundRect">
            <a:avLst>
              <a:gd name="adj" fmla="val 9524"/>
            </a:avLst>
          </a:prstGeom>
          <a:solidFill>
            <a:srgbClr val="1B2A4A"/>
          </a:solidFill>
          <a:ln w="12700">
            <a:solidFill>
              <a:srgbClr val="1F4B70"/>
            </a:solidFill>
            <a:prstDash val="solid"/>
          </a:ln>
        </p:spPr>
      </p:sp>
      <p:sp>
        <p:nvSpPr>
          <p:cNvPr id="7" name="Shape 4"/>
          <p:cNvSpPr/>
          <p:nvPr/>
        </p:nvSpPr>
        <p:spPr>
          <a:xfrm>
            <a:off x="1097280" y="2194560"/>
            <a:ext cx="502920" cy="502920"/>
          </a:xfrm>
          <a:prstGeom prst="ellipse">
            <a:avLst/>
          </a:prstGeom>
          <a:solidFill>
            <a:srgbClr val="FFD43B"/>
          </a:solidFill>
          <a:ln/>
        </p:spPr>
      </p:sp>
      <p:sp>
        <p:nvSpPr>
          <p:cNvPr id="8" name="Text 5"/>
          <p:cNvSpPr txBox="1"/>
          <p:nvPr/>
        </p:nvSpPr>
        <p:spPr>
          <a:xfrm>
            <a:off x="1097280" y="219456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A</a:t>
            </a:r>
            <a:endParaRPr lang="en-US" sz="1800" dirty="0"/>
          </a:p>
        </p:txBody>
      </p:sp>
      <p:sp>
        <p:nvSpPr>
          <p:cNvPr id="9" name="Text 6"/>
          <p:cNvSpPr txBox="1"/>
          <p:nvPr/>
        </p:nvSpPr>
        <p:spPr>
          <a:xfrm>
            <a:off x="1828800" y="196596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 have never written a line of code</a:t>
            </a:r>
            <a:endParaRPr lang="en-US" sz="1650" dirty="0"/>
          </a:p>
        </p:txBody>
      </p:sp>
      <p:sp>
        <p:nvSpPr>
          <p:cNvPr id="10" name="Shape 7"/>
          <p:cNvSpPr/>
          <p:nvPr/>
        </p:nvSpPr>
        <p:spPr>
          <a:xfrm>
            <a:off x="822960" y="3063240"/>
            <a:ext cx="10515600" cy="960120"/>
          </a:xfrm>
          <a:prstGeom prst="roundRect">
            <a:avLst>
              <a:gd name="adj" fmla="val 9524"/>
            </a:avLst>
          </a:prstGeom>
          <a:solidFill>
            <a:srgbClr val="1B2A4A"/>
          </a:solidFill>
          <a:ln w="12700">
            <a:solidFill>
              <a:srgbClr val="1F4B70"/>
            </a:solidFill>
            <a:prstDash val="solid"/>
          </a:ln>
        </p:spPr>
      </p:sp>
      <p:sp>
        <p:nvSpPr>
          <p:cNvPr id="11" name="Shape 8"/>
          <p:cNvSpPr/>
          <p:nvPr/>
        </p:nvSpPr>
        <p:spPr>
          <a:xfrm>
            <a:off x="1097280" y="3291840"/>
            <a:ext cx="502920" cy="502920"/>
          </a:xfrm>
          <a:prstGeom prst="ellipse">
            <a:avLst/>
          </a:prstGeom>
          <a:solidFill>
            <a:srgbClr val="FFD43B"/>
          </a:solidFill>
          <a:ln/>
        </p:spPr>
      </p:sp>
      <p:sp>
        <p:nvSpPr>
          <p:cNvPr id="12" name="Text 9"/>
          <p:cNvSpPr txBox="1"/>
          <p:nvPr/>
        </p:nvSpPr>
        <p:spPr>
          <a:xfrm>
            <a:off x="1097280" y="329184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B</a:t>
            </a:r>
            <a:endParaRPr lang="en-US" sz="1800" dirty="0"/>
          </a:p>
        </p:txBody>
      </p:sp>
      <p:sp>
        <p:nvSpPr>
          <p:cNvPr id="13" name="Text 10"/>
          <p:cNvSpPr txBox="1"/>
          <p:nvPr/>
        </p:nvSpPr>
        <p:spPr>
          <a:xfrm>
            <a:off x="1828800" y="306324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 have dabbled (Excel formulas, a bit of HTML)</a:t>
            </a:r>
            <a:endParaRPr lang="en-US" sz="1650" dirty="0"/>
          </a:p>
        </p:txBody>
      </p:sp>
      <p:sp>
        <p:nvSpPr>
          <p:cNvPr id="14" name="Shape 11"/>
          <p:cNvSpPr/>
          <p:nvPr/>
        </p:nvSpPr>
        <p:spPr>
          <a:xfrm>
            <a:off x="822960" y="4160520"/>
            <a:ext cx="10515600" cy="960120"/>
          </a:xfrm>
          <a:prstGeom prst="roundRect">
            <a:avLst>
              <a:gd name="adj" fmla="val 9524"/>
            </a:avLst>
          </a:prstGeom>
          <a:solidFill>
            <a:srgbClr val="1B2A4A"/>
          </a:solidFill>
          <a:ln w="12700">
            <a:solidFill>
              <a:srgbClr val="1F4B70"/>
            </a:solidFill>
            <a:prstDash val="solid"/>
          </a:ln>
        </p:spPr>
      </p:sp>
      <p:sp>
        <p:nvSpPr>
          <p:cNvPr id="15" name="Shape 12"/>
          <p:cNvSpPr/>
          <p:nvPr/>
        </p:nvSpPr>
        <p:spPr>
          <a:xfrm>
            <a:off x="1097280" y="4389120"/>
            <a:ext cx="502920" cy="502920"/>
          </a:xfrm>
          <a:prstGeom prst="ellipse">
            <a:avLst/>
          </a:prstGeom>
          <a:solidFill>
            <a:srgbClr val="FFD43B"/>
          </a:solidFill>
          <a:ln/>
        </p:spPr>
      </p:sp>
      <p:sp>
        <p:nvSpPr>
          <p:cNvPr id="16" name="Text 13"/>
          <p:cNvSpPr txBox="1"/>
          <p:nvPr/>
        </p:nvSpPr>
        <p:spPr>
          <a:xfrm>
            <a:off x="1097280" y="438912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C</a:t>
            </a:r>
            <a:endParaRPr lang="en-US" sz="1800" dirty="0"/>
          </a:p>
        </p:txBody>
      </p:sp>
      <p:sp>
        <p:nvSpPr>
          <p:cNvPr id="17" name="Text 14"/>
          <p:cNvSpPr txBox="1"/>
          <p:nvPr/>
        </p:nvSpPr>
        <p:spPr>
          <a:xfrm>
            <a:off x="1828800" y="416052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 know another language, but not Python</a:t>
            </a:r>
            <a:endParaRPr lang="en-US" sz="1650" dirty="0"/>
          </a:p>
        </p:txBody>
      </p:sp>
      <p:sp>
        <p:nvSpPr>
          <p:cNvPr id="18" name="Text 1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There is no wrong answer, this course is built to work for all three.</a:t>
            </a:r>
            <a:endParaRPr lang="en-US" sz="1250" dirty="0"/>
          </a:p>
        </p:txBody>
      </p:sp>
      <p:sp>
        <p:nvSpPr>
          <p:cNvPr id="19" name="Text 1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0 · Welcome</a:t>
            </a:r>
            <a:endParaRPr lang="en-US" sz="10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1</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Installing Python</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Getting Python onto your machine takes about ten minutes. Let’s do it step by step.</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download.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1</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Before you begin</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You only need three things. No special hardware, no prior setup.</a:t>
            </a:r>
            <a:endParaRPr lang="en-US" sz="1400" dirty="0"/>
          </a:p>
        </p:txBody>
      </p:sp>
      <p:sp>
        <p:nvSpPr>
          <p:cNvPr id="7" name="Shape 5"/>
          <p:cNvSpPr/>
          <p:nvPr/>
        </p:nvSpPr>
        <p:spPr>
          <a:xfrm>
            <a:off x="640080" y="2148840"/>
            <a:ext cx="3429000" cy="3108960"/>
          </a:xfrm>
          <a:prstGeom prst="roundRect">
            <a:avLst>
              <a:gd name="adj" fmla="val 2647"/>
            </a:avLst>
          </a:prstGeom>
          <a:solidFill>
            <a:srgbClr val="F4F6F9"/>
          </a:solidFill>
          <a:ln/>
        </p:spPr>
      </p:sp>
      <p:sp>
        <p:nvSpPr>
          <p:cNvPr id="8" name="Shape 6"/>
          <p:cNvSpPr/>
          <p:nvPr/>
        </p:nvSpPr>
        <p:spPr>
          <a:xfrm>
            <a:off x="1943100" y="2560320"/>
            <a:ext cx="822960" cy="822960"/>
          </a:xfrm>
          <a:prstGeom prst="ellipse">
            <a:avLst/>
          </a:prstGeom>
          <a:solidFill>
            <a:srgbClr val="306998"/>
          </a:solidFill>
          <a:ln/>
        </p:spPr>
      </p:sp>
      <p:pic>
        <p:nvPicPr>
          <p:cNvPr id="9" name="Image 0" descr="/tmp/claude-0/-home-user-pythonSEM-intro/a422a649-6240-52ae-9445-beabcf08c9b3/scratchpad/pyintro/icons/check.png">    </p:cNvPr>
          <p:cNvPicPr>
            <a:picLocks noChangeAspect="1"/>
          </p:cNvPicPr>
          <p:nvPr/>
        </p:nvPicPr>
        <p:blipFill>
          <a:blip r:embed="rId1"/>
          <a:stretch>
            <a:fillRect/>
          </a:stretch>
        </p:blipFill>
        <p:spPr>
          <a:xfrm>
            <a:off x="2050085" y="2667305"/>
            <a:ext cx="608990" cy="608990"/>
          </a:xfrm>
          <a:prstGeom prst="rect">
            <a:avLst/>
          </a:prstGeom>
        </p:spPr>
      </p:pic>
      <p:sp>
        <p:nvSpPr>
          <p:cNvPr id="10" name="Text 7"/>
          <p:cNvSpPr txBox="1"/>
          <p:nvPr/>
        </p:nvSpPr>
        <p:spPr>
          <a:xfrm>
            <a:off x="9144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A computer</a:t>
            </a:r>
            <a:endParaRPr lang="en-US" sz="1600" dirty="0"/>
          </a:p>
        </p:txBody>
      </p:sp>
      <p:sp>
        <p:nvSpPr>
          <p:cNvPr id="11" name="Text 8"/>
          <p:cNvSpPr txBox="1"/>
          <p:nvPr/>
        </p:nvSpPr>
        <p:spPr>
          <a:xfrm>
            <a:off x="9144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Windows, Mac, or Linux, all are fully supported</a:t>
            </a:r>
            <a:endParaRPr lang="en-US" sz="1250" dirty="0"/>
          </a:p>
        </p:txBody>
      </p:sp>
      <p:sp>
        <p:nvSpPr>
          <p:cNvPr id="12" name="Shape 9"/>
          <p:cNvSpPr/>
          <p:nvPr/>
        </p:nvSpPr>
        <p:spPr>
          <a:xfrm>
            <a:off x="4297680" y="2148840"/>
            <a:ext cx="3429000" cy="3108960"/>
          </a:xfrm>
          <a:prstGeom prst="roundRect">
            <a:avLst>
              <a:gd name="adj" fmla="val 2647"/>
            </a:avLst>
          </a:prstGeom>
          <a:solidFill>
            <a:srgbClr val="F4F6F9"/>
          </a:solidFill>
          <a:ln/>
        </p:spPr>
      </p:sp>
      <p:sp>
        <p:nvSpPr>
          <p:cNvPr id="13" name="Shape 10"/>
          <p:cNvSpPr/>
          <p:nvPr/>
        </p:nvSpPr>
        <p:spPr>
          <a:xfrm>
            <a:off x="5600700" y="2560320"/>
            <a:ext cx="822960" cy="822960"/>
          </a:xfrm>
          <a:prstGeom prst="ellipse">
            <a:avLst/>
          </a:prstGeom>
          <a:solidFill>
            <a:srgbClr val="306998"/>
          </a:solidFill>
          <a:ln/>
        </p:spPr>
      </p:sp>
      <p:pic>
        <p:nvPicPr>
          <p:cNvPr id="14" name="Image 1" descr="/tmp/claude-0/-home-user-pythonSEM-intro/a422a649-6240-52ae-9445-beabcf08c9b3/scratchpad/pyintro/icons/globe.png">    </p:cNvPr>
          <p:cNvPicPr>
            <a:picLocks noChangeAspect="1"/>
          </p:cNvPicPr>
          <p:nvPr/>
        </p:nvPicPr>
        <p:blipFill>
          <a:blip r:embed="rId2"/>
          <a:stretch>
            <a:fillRect/>
          </a:stretch>
        </p:blipFill>
        <p:spPr>
          <a:xfrm>
            <a:off x="5707685" y="2667305"/>
            <a:ext cx="608990" cy="608990"/>
          </a:xfrm>
          <a:prstGeom prst="rect">
            <a:avLst/>
          </a:prstGeom>
        </p:spPr>
      </p:pic>
      <p:sp>
        <p:nvSpPr>
          <p:cNvPr id="15" name="Text 11"/>
          <p:cNvSpPr txBox="1"/>
          <p:nvPr/>
        </p:nvSpPr>
        <p:spPr>
          <a:xfrm>
            <a:off x="45720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An internet connection</a:t>
            </a:r>
            <a:endParaRPr lang="en-US" sz="1600" dirty="0"/>
          </a:p>
        </p:txBody>
      </p:sp>
      <p:sp>
        <p:nvSpPr>
          <p:cNvPr id="16" name="Text 12"/>
          <p:cNvSpPr txBox="1"/>
          <p:nvPr/>
        </p:nvSpPr>
        <p:spPr>
          <a:xfrm>
            <a:off x="45720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Just for the one-time download, about 30 MB</a:t>
            </a:r>
            <a:endParaRPr lang="en-US" sz="1250" dirty="0"/>
          </a:p>
        </p:txBody>
      </p:sp>
      <p:sp>
        <p:nvSpPr>
          <p:cNvPr id="17" name="Shape 13"/>
          <p:cNvSpPr/>
          <p:nvPr/>
        </p:nvSpPr>
        <p:spPr>
          <a:xfrm>
            <a:off x="7955280" y="2148840"/>
            <a:ext cx="3429000" cy="3108960"/>
          </a:xfrm>
          <a:prstGeom prst="roundRect">
            <a:avLst>
              <a:gd name="adj" fmla="val 2647"/>
            </a:avLst>
          </a:prstGeom>
          <a:solidFill>
            <a:srgbClr val="F4F6F9"/>
          </a:solidFill>
          <a:ln/>
        </p:spPr>
      </p:sp>
      <p:sp>
        <p:nvSpPr>
          <p:cNvPr id="18" name="Shape 14"/>
          <p:cNvSpPr/>
          <p:nvPr/>
        </p:nvSpPr>
        <p:spPr>
          <a:xfrm>
            <a:off x="9258300" y="2560320"/>
            <a:ext cx="822960" cy="822960"/>
          </a:xfrm>
          <a:prstGeom prst="ellipse">
            <a:avLst/>
          </a:prstGeom>
          <a:solidFill>
            <a:srgbClr val="306998"/>
          </a:solidFill>
          <a:ln/>
        </p:spPr>
      </p:sp>
      <p:pic>
        <p:nvPicPr>
          <p:cNvPr id="19" name="Image 2" descr="/tmp/claude-0/-home-user-pythonSEM-intro/a422a649-6240-52ae-9445-beabcf08c9b3/scratchpad/pyintro/icons/keyboard.png">    </p:cNvPr>
          <p:cNvPicPr>
            <a:picLocks noChangeAspect="1"/>
          </p:cNvPicPr>
          <p:nvPr/>
        </p:nvPicPr>
        <p:blipFill>
          <a:blip r:embed="rId3"/>
          <a:stretch>
            <a:fillRect/>
          </a:stretch>
        </p:blipFill>
        <p:spPr>
          <a:xfrm>
            <a:off x="9365285" y="2667305"/>
            <a:ext cx="608990" cy="608990"/>
          </a:xfrm>
          <a:prstGeom prst="rect">
            <a:avLst/>
          </a:prstGeom>
        </p:spPr>
      </p:pic>
      <p:sp>
        <p:nvSpPr>
          <p:cNvPr id="20" name="Text 15"/>
          <p:cNvSpPr txBox="1"/>
          <p:nvPr/>
        </p:nvSpPr>
        <p:spPr>
          <a:xfrm>
            <a:off x="82296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10 to 15 minutes</a:t>
            </a:r>
            <a:endParaRPr lang="en-US" sz="1600" dirty="0"/>
          </a:p>
        </p:txBody>
      </p:sp>
      <p:sp>
        <p:nvSpPr>
          <p:cNvPr id="21" name="Text 16"/>
          <p:cNvSpPr txBox="1"/>
          <p:nvPr/>
        </p:nvSpPr>
        <p:spPr>
          <a:xfrm>
            <a:off x="82296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Enough time to download, install, and verify it works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Shape 3"/>
          <p:cNvSpPr/>
          <p:nvPr/>
        </p:nvSpPr>
        <p:spPr>
          <a:xfrm>
            <a:off x="640080" y="1417320"/>
            <a:ext cx="822960" cy="822960"/>
          </a:xfrm>
          <a:prstGeom prst="ellipse">
            <a:avLst/>
          </a:prstGeom>
          <a:solidFill>
            <a:srgbClr val="306998"/>
          </a:solidFill>
          <a:ln/>
        </p:spPr>
      </p:sp>
      <p:pic>
        <p:nvPicPr>
          <p:cNvPr id="6" name="Image 0" descr="/tmp/claude-0/-home-user-pythonSEM-intro/a422a649-6240-52ae-9445-beabcf08c9b3/scratchpad/pyintro/icons/windows.png">    </p:cNvPr>
          <p:cNvPicPr>
            <a:picLocks noChangeAspect="1"/>
          </p:cNvPicPr>
          <p:nvPr/>
        </p:nvPicPr>
        <p:blipFill>
          <a:blip r:embed="rId1"/>
          <a:stretch>
            <a:fillRect/>
          </a:stretch>
        </p:blipFill>
        <p:spPr>
          <a:xfrm>
            <a:off x="747065" y="1524305"/>
            <a:ext cx="608990" cy="608990"/>
          </a:xfrm>
          <a:prstGeom prst="rect">
            <a:avLst/>
          </a:prstGeom>
        </p:spPr>
      </p:pic>
      <p:sp>
        <p:nvSpPr>
          <p:cNvPr id="7" name="Text 4"/>
          <p:cNvSpPr txBox="1"/>
          <p:nvPr/>
        </p:nvSpPr>
        <p:spPr>
          <a:xfrm>
            <a:off x="1645920" y="1536192"/>
            <a:ext cx="8229600" cy="64008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Installing on Windows</a:t>
            </a:r>
            <a:endParaRPr lang="en-US" sz="2800" dirty="0"/>
          </a:p>
        </p:txBody>
      </p:sp>
      <p:sp>
        <p:nvSpPr>
          <p:cNvPr id="8" name="Shape 5"/>
          <p:cNvSpPr/>
          <p:nvPr/>
        </p:nvSpPr>
        <p:spPr>
          <a:xfrm>
            <a:off x="640080" y="2560320"/>
            <a:ext cx="457200" cy="457200"/>
          </a:xfrm>
          <a:prstGeom prst="ellipse">
            <a:avLst/>
          </a:prstGeom>
          <a:solidFill>
            <a:srgbClr val="306998"/>
          </a:solidFill>
          <a:ln/>
        </p:spPr>
      </p:sp>
      <p:sp>
        <p:nvSpPr>
          <p:cNvPr id="9" name="Text 6"/>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80160" y="2532888"/>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Go to python.org and open Downloads, then click the yellow "Download Python" button</a:t>
            </a:r>
            <a:endParaRPr lang="en-US" sz="1450" dirty="0"/>
          </a:p>
        </p:txBody>
      </p:sp>
      <p:sp>
        <p:nvSpPr>
          <p:cNvPr id="11" name="Shape 8"/>
          <p:cNvSpPr/>
          <p:nvPr/>
        </p:nvSpPr>
        <p:spPr>
          <a:xfrm>
            <a:off x="640080" y="3182112"/>
            <a:ext cx="457200" cy="457200"/>
          </a:xfrm>
          <a:prstGeom prst="ellipse">
            <a:avLst/>
          </a:prstGeom>
          <a:solidFill>
            <a:srgbClr val="306998"/>
          </a:solidFill>
          <a:ln/>
        </p:spPr>
      </p:sp>
      <p:sp>
        <p:nvSpPr>
          <p:cNvPr id="12" name="Text 9"/>
          <p:cNvSpPr txBox="1"/>
          <p:nvPr/>
        </p:nvSpPr>
        <p:spPr>
          <a:xfrm>
            <a:off x="640080" y="3182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280160" y="3154680"/>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Run the downloaded .exe file</a:t>
            </a:r>
            <a:endParaRPr lang="en-US" sz="1450" dirty="0"/>
          </a:p>
        </p:txBody>
      </p:sp>
      <p:sp>
        <p:nvSpPr>
          <p:cNvPr id="14" name="Shape 11"/>
          <p:cNvSpPr/>
          <p:nvPr/>
        </p:nvSpPr>
        <p:spPr>
          <a:xfrm>
            <a:off x="640080" y="3803904"/>
            <a:ext cx="457200" cy="457200"/>
          </a:xfrm>
          <a:prstGeom prst="ellipse">
            <a:avLst/>
          </a:prstGeom>
          <a:solidFill>
            <a:srgbClr val="306998"/>
          </a:solidFill>
          <a:ln/>
        </p:spPr>
      </p:sp>
      <p:sp>
        <p:nvSpPr>
          <p:cNvPr id="15" name="Text 12"/>
          <p:cNvSpPr txBox="1"/>
          <p:nvPr/>
        </p:nvSpPr>
        <p:spPr>
          <a:xfrm>
            <a:off x="640080" y="3803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3"/>
          <p:cNvSpPr txBox="1"/>
          <p:nvPr/>
        </p:nvSpPr>
        <p:spPr>
          <a:xfrm>
            <a:off x="1280160" y="3776472"/>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Important: tick the box "Add python.exe to PATH" at the bottom of the first screen</a:t>
            </a:r>
            <a:endParaRPr lang="en-US" sz="1450" dirty="0"/>
          </a:p>
        </p:txBody>
      </p:sp>
      <p:sp>
        <p:nvSpPr>
          <p:cNvPr id="17" name="Shape 14"/>
          <p:cNvSpPr/>
          <p:nvPr/>
        </p:nvSpPr>
        <p:spPr>
          <a:xfrm>
            <a:off x="640080" y="4425696"/>
            <a:ext cx="457200" cy="457200"/>
          </a:xfrm>
          <a:prstGeom prst="ellipse">
            <a:avLst/>
          </a:prstGeom>
          <a:solidFill>
            <a:srgbClr val="306998"/>
          </a:solidFill>
          <a:ln/>
        </p:spPr>
      </p:sp>
      <p:sp>
        <p:nvSpPr>
          <p:cNvPr id="18" name="Text 15"/>
          <p:cNvSpPr txBox="1"/>
          <p:nvPr/>
        </p:nvSpPr>
        <p:spPr>
          <a:xfrm>
            <a:off x="640080" y="4425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txBox="1"/>
          <p:nvPr/>
        </p:nvSpPr>
        <p:spPr>
          <a:xfrm>
            <a:off x="1280160" y="4398264"/>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Click "Install Now" and wait for the confirmation screen</a:t>
            </a:r>
            <a:endParaRPr lang="en-US" sz="1450" dirty="0"/>
          </a:p>
        </p:txBody>
      </p:sp>
      <p:sp>
        <p:nvSpPr>
          <p:cNvPr id="20" name="Shape 17"/>
          <p:cNvSpPr/>
          <p:nvPr/>
        </p:nvSpPr>
        <p:spPr>
          <a:xfrm>
            <a:off x="640080" y="5184648"/>
            <a:ext cx="10515600" cy="685800"/>
          </a:xfrm>
          <a:prstGeom prst="roundRect">
            <a:avLst>
              <a:gd name="adj" fmla="val 10667"/>
            </a:avLst>
          </a:prstGeom>
          <a:solidFill>
            <a:srgbClr val="F4F6F9"/>
          </a:solidFill>
          <a:ln/>
        </p:spPr>
      </p:sp>
      <p:sp>
        <p:nvSpPr>
          <p:cNvPr id="21" name="Shape 18"/>
          <p:cNvSpPr/>
          <p:nvPr/>
        </p:nvSpPr>
        <p:spPr>
          <a:xfrm>
            <a:off x="777240" y="5276088"/>
            <a:ext cx="457200" cy="457200"/>
          </a:xfrm>
          <a:prstGeom prst="ellipse">
            <a:avLst/>
          </a:prstGeom>
          <a:solidFill>
            <a:srgbClr val="FFD43B"/>
          </a:solidFill>
          <a:ln/>
        </p:spPr>
      </p:sp>
      <p:pic>
        <p:nvPicPr>
          <p:cNvPr id="22" name="Image 1" descr="/tmp/claude-0/-home-user-pythonSEM-intro/a422a649-6240-52ae-9445-beabcf08c9b3/scratchpad/pyintro/icons/lightbulb.png">    </p:cNvPr>
          <p:cNvPicPr>
            <a:picLocks noChangeAspect="1"/>
          </p:cNvPicPr>
          <p:nvPr/>
        </p:nvPicPr>
        <p:blipFill>
          <a:blip r:embed="rId2"/>
          <a:stretch>
            <a:fillRect/>
          </a:stretch>
        </p:blipFill>
        <p:spPr>
          <a:xfrm>
            <a:off x="836676" y="5335524"/>
            <a:ext cx="338328" cy="338328"/>
          </a:xfrm>
          <a:prstGeom prst="rect">
            <a:avLst/>
          </a:prstGeom>
        </p:spPr>
      </p:pic>
      <p:sp>
        <p:nvSpPr>
          <p:cNvPr id="23" name="Text 19"/>
          <p:cNvSpPr txBox="1"/>
          <p:nvPr/>
        </p:nvSpPr>
        <p:spPr>
          <a:xfrm>
            <a:off x="1371600" y="5184648"/>
            <a:ext cx="9601200" cy="68580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The checkbox is easy to miss, if you forget it, you can re-run the installer and select "Modify" to add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Shape 3"/>
          <p:cNvSpPr/>
          <p:nvPr/>
        </p:nvSpPr>
        <p:spPr>
          <a:xfrm>
            <a:off x="640080" y="1417320"/>
            <a:ext cx="822960" cy="822960"/>
          </a:xfrm>
          <a:prstGeom prst="ellipse">
            <a:avLst/>
          </a:prstGeom>
          <a:solidFill>
            <a:srgbClr val="306998"/>
          </a:solidFill>
          <a:ln/>
        </p:spPr>
      </p:sp>
      <p:pic>
        <p:nvPicPr>
          <p:cNvPr id="6" name="Image 0" descr="/tmp/claude-0/-home-user-pythonSEM-intro/a422a649-6240-52ae-9445-beabcf08c9b3/scratchpad/pyintro/icons/apple.png">    </p:cNvPr>
          <p:cNvPicPr>
            <a:picLocks noChangeAspect="1"/>
          </p:cNvPicPr>
          <p:nvPr/>
        </p:nvPicPr>
        <p:blipFill>
          <a:blip r:embed="rId1"/>
          <a:stretch>
            <a:fillRect/>
          </a:stretch>
        </p:blipFill>
        <p:spPr>
          <a:xfrm>
            <a:off x="747065" y="1524305"/>
            <a:ext cx="608990" cy="608990"/>
          </a:xfrm>
          <a:prstGeom prst="rect">
            <a:avLst/>
          </a:prstGeom>
        </p:spPr>
      </p:pic>
      <p:sp>
        <p:nvSpPr>
          <p:cNvPr id="7" name="Text 4"/>
          <p:cNvSpPr txBox="1"/>
          <p:nvPr/>
        </p:nvSpPr>
        <p:spPr>
          <a:xfrm>
            <a:off x="1645920" y="1536192"/>
            <a:ext cx="8229600" cy="64008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Installing on Mac</a:t>
            </a:r>
            <a:endParaRPr lang="en-US" sz="2800" dirty="0"/>
          </a:p>
        </p:txBody>
      </p:sp>
      <p:sp>
        <p:nvSpPr>
          <p:cNvPr id="8" name="Shape 5"/>
          <p:cNvSpPr/>
          <p:nvPr/>
        </p:nvSpPr>
        <p:spPr>
          <a:xfrm>
            <a:off x="640080" y="2560320"/>
            <a:ext cx="457200" cy="457200"/>
          </a:xfrm>
          <a:prstGeom prst="ellipse">
            <a:avLst/>
          </a:prstGeom>
          <a:solidFill>
            <a:srgbClr val="306998"/>
          </a:solidFill>
          <a:ln/>
        </p:spPr>
      </p:sp>
      <p:sp>
        <p:nvSpPr>
          <p:cNvPr id="9" name="Text 6"/>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80160" y="2532888"/>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Go to python.org, open Downloads, and choose the macOS installer</a:t>
            </a:r>
            <a:endParaRPr lang="en-US" sz="1450" dirty="0"/>
          </a:p>
        </p:txBody>
      </p:sp>
      <p:sp>
        <p:nvSpPr>
          <p:cNvPr id="11" name="Shape 8"/>
          <p:cNvSpPr/>
          <p:nvPr/>
        </p:nvSpPr>
        <p:spPr>
          <a:xfrm>
            <a:off x="640080" y="3182112"/>
            <a:ext cx="457200" cy="457200"/>
          </a:xfrm>
          <a:prstGeom prst="ellipse">
            <a:avLst/>
          </a:prstGeom>
          <a:solidFill>
            <a:srgbClr val="306998"/>
          </a:solidFill>
          <a:ln/>
        </p:spPr>
      </p:sp>
      <p:sp>
        <p:nvSpPr>
          <p:cNvPr id="12" name="Text 9"/>
          <p:cNvSpPr txBox="1"/>
          <p:nvPr/>
        </p:nvSpPr>
        <p:spPr>
          <a:xfrm>
            <a:off x="640080" y="3182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280160" y="3154680"/>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Open the downloaded .pkg file and click through the installer</a:t>
            </a:r>
            <a:endParaRPr lang="en-US" sz="1450" dirty="0"/>
          </a:p>
        </p:txBody>
      </p:sp>
      <p:sp>
        <p:nvSpPr>
          <p:cNvPr id="14" name="Shape 11"/>
          <p:cNvSpPr/>
          <p:nvPr/>
        </p:nvSpPr>
        <p:spPr>
          <a:xfrm>
            <a:off x="640080" y="3803904"/>
            <a:ext cx="457200" cy="457200"/>
          </a:xfrm>
          <a:prstGeom prst="ellipse">
            <a:avLst/>
          </a:prstGeom>
          <a:solidFill>
            <a:srgbClr val="306998"/>
          </a:solidFill>
          <a:ln/>
        </p:spPr>
      </p:sp>
      <p:sp>
        <p:nvSpPr>
          <p:cNvPr id="15" name="Text 12"/>
          <p:cNvSpPr txBox="1"/>
          <p:nvPr/>
        </p:nvSpPr>
        <p:spPr>
          <a:xfrm>
            <a:off x="640080" y="3803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3"/>
          <p:cNvSpPr txBox="1"/>
          <p:nvPr/>
        </p:nvSpPr>
        <p:spPr>
          <a:xfrm>
            <a:off x="1280160" y="3776472"/>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Enter your Mac password when prompted, then finish the install</a:t>
            </a:r>
            <a:endParaRPr lang="en-US" sz="1450" dirty="0"/>
          </a:p>
        </p:txBody>
      </p:sp>
      <p:sp>
        <p:nvSpPr>
          <p:cNvPr id="17" name="Shape 14"/>
          <p:cNvSpPr/>
          <p:nvPr/>
        </p:nvSpPr>
        <p:spPr>
          <a:xfrm>
            <a:off x="640080" y="4425696"/>
            <a:ext cx="457200" cy="457200"/>
          </a:xfrm>
          <a:prstGeom prst="ellipse">
            <a:avLst/>
          </a:prstGeom>
          <a:solidFill>
            <a:srgbClr val="306998"/>
          </a:solidFill>
          <a:ln/>
        </p:spPr>
      </p:sp>
      <p:sp>
        <p:nvSpPr>
          <p:cNvPr id="18" name="Text 15"/>
          <p:cNvSpPr txBox="1"/>
          <p:nvPr/>
        </p:nvSpPr>
        <p:spPr>
          <a:xfrm>
            <a:off x="640080" y="4425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txBox="1"/>
          <p:nvPr/>
        </p:nvSpPr>
        <p:spPr>
          <a:xfrm>
            <a:off x="1280160" y="4398264"/>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Open the new "Python 3.x" folder in Applications and double-click "Install Certificates.command"</a:t>
            </a:r>
            <a:endParaRPr lang="en-US" sz="1450" dirty="0"/>
          </a:p>
        </p:txBody>
      </p:sp>
      <p:sp>
        <p:nvSpPr>
          <p:cNvPr id="20" name="Shape 17"/>
          <p:cNvSpPr/>
          <p:nvPr/>
        </p:nvSpPr>
        <p:spPr>
          <a:xfrm>
            <a:off x="640080" y="5184648"/>
            <a:ext cx="10515600" cy="685800"/>
          </a:xfrm>
          <a:prstGeom prst="roundRect">
            <a:avLst>
              <a:gd name="adj" fmla="val 10667"/>
            </a:avLst>
          </a:prstGeom>
          <a:solidFill>
            <a:srgbClr val="F4F6F9"/>
          </a:solidFill>
          <a:ln/>
        </p:spPr>
      </p:sp>
      <p:sp>
        <p:nvSpPr>
          <p:cNvPr id="21" name="Shape 18"/>
          <p:cNvSpPr/>
          <p:nvPr/>
        </p:nvSpPr>
        <p:spPr>
          <a:xfrm>
            <a:off x="777240" y="5276088"/>
            <a:ext cx="457200" cy="457200"/>
          </a:xfrm>
          <a:prstGeom prst="ellipse">
            <a:avLst/>
          </a:prstGeom>
          <a:solidFill>
            <a:srgbClr val="FFD43B"/>
          </a:solidFill>
          <a:ln/>
        </p:spPr>
      </p:sp>
      <p:pic>
        <p:nvPicPr>
          <p:cNvPr id="22" name="Image 1" descr="/tmp/claude-0/-home-user-pythonSEM-intro/a422a649-6240-52ae-9445-beabcf08c9b3/scratchpad/pyintro/icons/lightbulb.png">    </p:cNvPr>
          <p:cNvPicPr>
            <a:picLocks noChangeAspect="1"/>
          </p:cNvPicPr>
          <p:nvPr/>
        </p:nvPicPr>
        <p:blipFill>
          <a:blip r:embed="rId2"/>
          <a:stretch>
            <a:fillRect/>
          </a:stretch>
        </p:blipFill>
        <p:spPr>
          <a:xfrm>
            <a:off x="836676" y="5335524"/>
            <a:ext cx="338328" cy="338328"/>
          </a:xfrm>
          <a:prstGeom prst="rect">
            <a:avLst/>
          </a:prstGeom>
        </p:spPr>
      </p:pic>
      <p:sp>
        <p:nvSpPr>
          <p:cNvPr id="23" name="Text 19"/>
          <p:cNvSpPr txBox="1"/>
          <p:nvPr/>
        </p:nvSpPr>
        <p:spPr>
          <a:xfrm>
            <a:off x="1371600" y="5184648"/>
            <a:ext cx="9601200" cy="68580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macOS ships with an old Python 2 for internal use only, always install Python 3 yourself from python.org.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Shape 3"/>
          <p:cNvSpPr/>
          <p:nvPr/>
        </p:nvSpPr>
        <p:spPr>
          <a:xfrm>
            <a:off x="640080" y="1417320"/>
            <a:ext cx="822960" cy="822960"/>
          </a:xfrm>
          <a:prstGeom prst="ellipse">
            <a:avLst/>
          </a:prstGeom>
          <a:solidFill>
            <a:srgbClr val="306998"/>
          </a:solidFill>
          <a:ln/>
        </p:spPr>
      </p:sp>
      <p:pic>
        <p:nvPicPr>
          <p:cNvPr id="6" name="Image 0" descr="/tmp/claude-0/-home-user-pythonSEM-intro/a422a649-6240-52ae-9445-beabcf08c9b3/scratchpad/pyintro/icons/linux.png">    </p:cNvPr>
          <p:cNvPicPr>
            <a:picLocks noChangeAspect="1"/>
          </p:cNvPicPr>
          <p:nvPr/>
        </p:nvPicPr>
        <p:blipFill>
          <a:blip r:embed="rId1"/>
          <a:stretch>
            <a:fillRect/>
          </a:stretch>
        </p:blipFill>
        <p:spPr>
          <a:xfrm>
            <a:off x="747065" y="1524305"/>
            <a:ext cx="608990" cy="608990"/>
          </a:xfrm>
          <a:prstGeom prst="rect">
            <a:avLst/>
          </a:prstGeom>
        </p:spPr>
      </p:pic>
      <p:sp>
        <p:nvSpPr>
          <p:cNvPr id="7" name="Text 4"/>
          <p:cNvSpPr txBox="1"/>
          <p:nvPr/>
        </p:nvSpPr>
        <p:spPr>
          <a:xfrm>
            <a:off x="1645920" y="1536192"/>
            <a:ext cx="8229600" cy="64008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Installing on Linux</a:t>
            </a:r>
            <a:endParaRPr lang="en-US" sz="2800" dirty="0"/>
          </a:p>
        </p:txBody>
      </p:sp>
      <p:sp>
        <p:nvSpPr>
          <p:cNvPr id="8" name="Shape 5"/>
          <p:cNvSpPr/>
          <p:nvPr/>
        </p:nvSpPr>
        <p:spPr>
          <a:xfrm>
            <a:off x="640080" y="2560320"/>
            <a:ext cx="457200" cy="457200"/>
          </a:xfrm>
          <a:prstGeom prst="ellipse">
            <a:avLst/>
          </a:prstGeom>
          <a:solidFill>
            <a:srgbClr val="306998"/>
          </a:solidFill>
          <a:ln/>
        </p:spPr>
      </p:sp>
      <p:sp>
        <p:nvSpPr>
          <p:cNvPr id="9" name="Text 6"/>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80160" y="2532888"/>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Open a terminal window</a:t>
            </a:r>
            <a:endParaRPr lang="en-US" sz="1450" dirty="0"/>
          </a:p>
        </p:txBody>
      </p:sp>
      <p:sp>
        <p:nvSpPr>
          <p:cNvPr id="11" name="Shape 8"/>
          <p:cNvSpPr/>
          <p:nvPr/>
        </p:nvSpPr>
        <p:spPr>
          <a:xfrm>
            <a:off x="640080" y="3182112"/>
            <a:ext cx="457200" cy="457200"/>
          </a:xfrm>
          <a:prstGeom prst="ellipse">
            <a:avLst/>
          </a:prstGeom>
          <a:solidFill>
            <a:srgbClr val="306998"/>
          </a:solidFill>
          <a:ln/>
        </p:spPr>
      </p:sp>
      <p:sp>
        <p:nvSpPr>
          <p:cNvPr id="12" name="Text 9"/>
          <p:cNvSpPr txBox="1"/>
          <p:nvPr/>
        </p:nvSpPr>
        <p:spPr>
          <a:xfrm>
            <a:off x="640080" y="3182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280160" y="3154680"/>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On Ubuntu or Debian, run: sudo apt update  then  sudo apt install python3 python3-pip</a:t>
            </a:r>
            <a:endParaRPr lang="en-US" sz="1450" dirty="0"/>
          </a:p>
        </p:txBody>
      </p:sp>
      <p:sp>
        <p:nvSpPr>
          <p:cNvPr id="14" name="Shape 11"/>
          <p:cNvSpPr/>
          <p:nvPr/>
        </p:nvSpPr>
        <p:spPr>
          <a:xfrm>
            <a:off x="640080" y="3803904"/>
            <a:ext cx="457200" cy="457200"/>
          </a:xfrm>
          <a:prstGeom prst="ellipse">
            <a:avLst/>
          </a:prstGeom>
          <a:solidFill>
            <a:srgbClr val="306998"/>
          </a:solidFill>
          <a:ln/>
        </p:spPr>
      </p:sp>
      <p:sp>
        <p:nvSpPr>
          <p:cNvPr id="15" name="Text 12"/>
          <p:cNvSpPr txBox="1"/>
          <p:nvPr/>
        </p:nvSpPr>
        <p:spPr>
          <a:xfrm>
            <a:off x="640080" y="3803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3"/>
          <p:cNvSpPr txBox="1"/>
          <p:nvPr/>
        </p:nvSpPr>
        <p:spPr>
          <a:xfrm>
            <a:off x="1280160" y="3776472"/>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On Fedora, run: sudo dnf install python3 python3-pip</a:t>
            </a:r>
            <a:endParaRPr lang="en-US" sz="1450" dirty="0"/>
          </a:p>
        </p:txBody>
      </p:sp>
      <p:sp>
        <p:nvSpPr>
          <p:cNvPr id="17" name="Shape 14"/>
          <p:cNvSpPr/>
          <p:nvPr/>
        </p:nvSpPr>
        <p:spPr>
          <a:xfrm>
            <a:off x="640080" y="4425696"/>
            <a:ext cx="457200" cy="457200"/>
          </a:xfrm>
          <a:prstGeom prst="ellipse">
            <a:avLst/>
          </a:prstGeom>
          <a:solidFill>
            <a:srgbClr val="306998"/>
          </a:solidFill>
          <a:ln/>
        </p:spPr>
      </p:sp>
      <p:sp>
        <p:nvSpPr>
          <p:cNvPr id="18" name="Text 15"/>
          <p:cNvSpPr txBox="1"/>
          <p:nvPr/>
        </p:nvSpPr>
        <p:spPr>
          <a:xfrm>
            <a:off x="640080" y="4425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txBox="1"/>
          <p:nvPr/>
        </p:nvSpPr>
        <p:spPr>
          <a:xfrm>
            <a:off x="1280160" y="4398264"/>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Wait for the install to finish, then move on to verifying below</a:t>
            </a:r>
            <a:endParaRPr lang="en-US" sz="1450" dirty="0"/>
          </a:p>
        </p:txBody>
      </p:sp>
      <p:sp>
        <p:nvSpPr>
          <p:cNvPr id="20" name="Shape 17"/>
          <p:cNvSpPr/>
          <p:nvPr/>
        </p:nvSpPr>
        <p:spPr>
          <a:xfrm>
            <a:off x="640080" y="5184648"/>
            <a:ext cx="10515600" cy="685800"/>
          </a:xfrm>
          <a:prstGeom prst="roundRect">
            <a:avLst>
              <a:gd name="adj" fmla="val 10667"/>
            </a:avLst>
          </a:prstGeom>
          <a:solidFill>
            <a:srgbClr val="F4F6F9"/>
          </a:solidFill>
          <a:ln/>
        </p:spPr>
      </p:sp>
      <p:sp>
        <p:nvSpPr>
          <p:cNvPr id="21" name="Shape 18"/>
          <p:cNvSpPr/>
          <p:nvPr/>
        </p:nvSpPr>
        <p:spPr>
          <a:xfrm>
            <a:off x="777240" y="5276088"/>
            <a:ext cx="457200" cy="457200"/>
          </a:xfrm>
          <a:prstGeom prst="ellipse">
            <a:avLst/>
          </a:prstGeom>
          <a:solidFill>
            <a:srgbClr val="FFD43B"/>
          </a:solidFill>
          <a:ln/>
        </p:spPr>
      </p:sp>
      <p:pic>
        <p:nvPicPr>
          <p:cNvPr id="22" name="Image 1" descr="/tmp/claude-0/-home-user-pythonSEM-intro/a422a649-6240-52ae-9445-beabcf08c9b3/scratchpad/pyintro/icons/lightbulb.png">    </p:cNvPr>
          <p:cNvPicPr>
            <a:picLocks noChangeAspect="1"/>
          </p:cNvPicPr>
          <p:nvPr/>
        </p:nvPicPr>
        <p:blipFill>
          <a:blip r:embed="rId2"/>
          <a:stretch>
            <a:fillRect/>
          </a:stretch>
        </p:blipFill>
        <p:spPr>
          <a:xfrm>
            <a:off x="836676" y="5335524"/>
            <a:ext cx="338328" cy="338328"/>
          </a:xfrm>
          <a:prstGeom prst="rect">
            <a:avLst/>
          </a:prstGeom>
        </p:spPr>
      </p:pic>
      <p:sp>
        <p:nvSpPr>
          <p:cNvPr id="23" name="Text 19"/>
          <p:cNvSpPr txBox="1"/>
          <p:nvPr/>
        </p:nvSpPr>
        <p:spPr>
          <a:xfrm>
            <a:off x="1371600" y="5184648"/>
            <a:ext cx="9601200" cy="68580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Most Linux distributions already include Python 3, this step is only needed to confirm or update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Verify it, then pick an editor</a:t>
            </a:r>
            <a:endParaRPr lang="en-US" sz="3200" dirty="0"/>
          </a:p>
        </p:txBody>
      </p:sp>
      <p:sp>
        <p:nvSpPr>
          <p:cNvPr id="6" name="Shape 4"/>
          <p:cNvSpPr/>
          <p:nvPr/>
        </p:nvSpPr>
        <p:spPr>
          <a:xfrm>
            <a:off x="640080" y="1554480"/>
            <a:ext cx="5120640" cy="4206240"/>
          </a:xfrm>
          <a:prstGeom prst="roundRect">
            <a:avLst>
              <a:gd name="adj" fmla="val 1957"/>
            </a:avLst>
          </a:prstGeom>
          <a:solidFill>
            <a:srgbClr val="F4F6F9"/>
          </a:solidFill>
          <a:ln/>
        </p:spPr>
      </p:sp>
      <p:sp>
        <p:nvSpPr>
          <p:cNvPr id="7" name="Shape 5"/>
          <p:cNvSpPr/>
          <p:nvPr/>
        </p:nvSpPr>
        <p:spPr>
          <a:xfrm>
            <a:off x="914400" y="1828800"/>
            <a:ext cx="640080" cy="640080"/>
          </a:xfrm>
          <a:prstGeom prst="ellipse">
            <a:avLst/>
          </a:prstGeom>
          <a:solidFill>
            <a:srgbClr val="306998"/>
          </a:solidFill>
          <a:ln/>
        </p:spPr>
      </p:sp>
      <p:pic>
        <p:nvPicPr>
          <p:cNvPr id="8" name="Image 0" descr="/tmp/claude-0/-home-user-pythonSEM-intro/a422a649-6240-52ae-9445-beabcf08c9b3/scratchpad/pyintro/icons/terminal.png">    </p:cNvPr>
          <p:cNvPicPr>
            <a:picLocks noChangeAspect="1"/>
          </p:cNvPicPr>
          <p:nvPr/>
        </p:nvPicPr>
        <p:blipFill>
          <a:blip r:embed="rId1"/>
          <a:stretch>
            <a:fillRect/>
          </a:stretch>
        </p:blipFill>
        <p:spPr>
          <a:xfrm>
            <a:off x="997610" y="1912010"/>
            <a:ext cx="473659" cy="473659"/>
          </a:xfrm>
          <a:prstGeom prst="rect">
            <a:avLst/>
          </a:prstGeom>
        </p:spPr>
      </p:pic>
      <p:sp>
        <p:nvSpPr>
          <p:cNvPr id="9" name="Text 6"/>
          <p:cNvSpPr txBox="1"/>
          <p:nvPr/>
        </p:nvSpPr>
        <p:spPr>
          <a:xfrm>
            <a:off x="1691640" y="1901952"/>
            <a:ext cx="3840480"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Confirm the install</a:t>
            </a:r>
            <a:endParaRPr lang="en-US" sz="1700" dirty="0"/>
          </a:p>
        </p:txBody>
      </p:sp>
      <p:sp>
        <p:nvSpPr>
          <p:cNvPr id="10" name="Text 7"/>
          <p:cNvSpPr txBox="1"/>
          <p:nvPr/>
        </p:nvSpPr>
        <p:spPr>
          <a:xfrm>
            <a:off x="914400" y="2606040"/>
            <a:ext cx="457200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Open a terminal (Command Prompt, Terminal, or your shell) and type:</a:t>
            </a:r>
            <a:endParaRPr lang="en-US" sz="1250" dirty="0"/>
          </a:p>
        </p:txBody>
      </p:sp>
      <p:sp>
        <p:nvSpPr>
          <p:cNvPr id="11" name="Shape 8"/>
          <p:cNvSpPr/>
          <p:nvPr/>
        </p:nvSpPr>
        <p:spPr>
          <a:xfrm>
            <a:off x="914400" y="3063240"/>
            <a:ext cx="4572000" cy="502920"/>
          </a:xfrm>
          <a:prstGeom prst="roundRect">
            <a:avLst>
              <a:gd name="adj" fmla="val 10909"/>
            </a:avLst>
          </a:prstGeom>
          <a:solidFill>
            <a:srgbClr val="132038"/>
          </a:solidFill>
          <a:ln/>
        </p:spPr>
      </p:sp>
      <p:sp>
        <p:nvSpPr>
          <p:cNvPr id="12" name="Text 9"/>
          <p:cNvSpPr txBox="1"/>
          <p:nvPr/>
        </p:nvSpPr>
        <p:spPr>
          <a:xfrm>
            <a:off x="1097280" y="3063240"/>
            <a:ext cx="4206240" cy="502920"/>
          </a:xfrm>
          <a:prstGeom prst="rect">
            <a:avLst/>
          </a:prstGeom>
          <a:noFill/>
          <a:ln/>
        </p:spPr>
        <p:txBody>
          <a:bodyPr wrap="square" lIns="0" tIns="0" rIns="0" bIns="0" rtlCol="0" anchor="ctr"/>
          <a:lstStyle/>
          <a:p>
            <a:pPr indent="0" marL="0">
              <a:buNone/>
            </a:pPr>
            <a:r>
              <a:rPr lang="en-US" sz="1400" dirty="0">
                <a:solidFill>
                  <a:srgbClr val="FFD43B"/>
                </a:solidFill>
                <a:latin typeface="Courier New" pitchFamily="34" charset="0"/>
                <a:ea typeface="Courier New" pitchFamily="34" charset="-122"/>
                <a:cs typeface="Courier New" pitchFamily="34" charset="-120"/>
              </a:rPr>
              <a:t>python --version</a:t>
            </a:r>
            <a:endParaRPr lang="en-US" sz="1400" dirty="0"/>
          </a:p>
        </p:txBody>
      </p:sp>
      <p:sp>
        <p:nvSpPr>
          <p:cNvPr id="13" name="Text 10"/>
          <p:cNvSpPr txBox="1"/>
          <p:nvPr/>
        </p:nvSpPr>
        <p:spPr>
          <a:xfrm>
            <a:off x="914400" y="3703320"/>
            <a:ext cx="4572000" cy="5486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You should see something like Python 3.12.4. Then check pip, the tool that installs libraries:</a:t>
            </a:r>
            <a:endParaRPr lang="en-US" sz="1250" dirty="0"/>
          </a:p>
        </p:txBody>
      </p:sp>
      <p:sp>
        <p:nvSpPr>
          <p:cNvPr id="14" name="Shape 11"/>
          <p:cNvSpPr/>
          <p:nvPr/>
        </p:nvSpPr>
        <p:spPr>
          <a:xfrm>
            <a:off x="914400" y="4297680"/>
            <a:ext cx="4572000" cy="502920"/>
          </a:xfrm>
          <a:prstGeom prst="roundRect">
            <a:avLst>
              <a:gd name="adj" fmla="val 10909"/>
            </a:avLst>
          </a:prstGeom>
          <a:solidFill>
            <a:srgbClr val="132038"/>
          </a:solidFill>
          <a:ln/>
        </p:spPr>
      </p:sp>
      <p:sp>
        <p:nvSpPr>
          <p:cNvPr id="15" name="Text 12"/>
          <p:cNvSpPr txBox="1"/>
          <p:nvPr/>
        </p:nvSpPr>
        <p:spPr>
          <a:xfrm>
            <a:off x="1097280" y="4297680"/>
            <a:ext cx="4206240" cy="502920"/>
          </a:xfrm>
          <a:prstGeom prst="rect">
            <a:avLst/>
          </a:prstGeom>
          <a:noFill/>
          <a:ln/>
        </p:spPr>
        <p:txBody>
          <a:bodyPr wrap="square" lIns="0" tIns="0" rIns="0" bIns="0" rtlCol="0" anchor="ctr"/>
          <a:lstStyle/>
          <a:p>
            <a:pPr indent="0" marL="0">
              <a:buNone/>
            </a:pPr>
            <a:r>
              <a:rPr lang="en-US" sz="1400" dirty="0">
                <a:solidFill>
                  <a:srgbClr val="FFD43B"/>
                </a:solidFill>
                <a:latin typeface="Courier New" pitchFamily="34" charset="0"/>
                <a:ea typeface="Courier New" pitchFamily="34" charset="-122"/>
                <a:cs typeface="Courier New" pitchFamily="34" charset="-120"/>
              </a:rPr>
              <a:t>pip --version</a:t>
            </a:r>
            <a:endParaRPr lang="en-US" sz="1400" dirty="0"/>
          </a:p>
        </p:txBody>
      </p:sp>
      <p:sp>
        <p:nvSpPr>
          <p:cNvPr id="16" name="Text 13"/>
          <p:cNvSpPr txBox="1"/>
          <p:nvPr/>
        </p:nvSpPr>
        <p:spPr>
          <a:xfrm>
            <a:off x="914400" y="4983480"/>
            <a:ext cx="4572000" cy="548640"/>
          </a:xfrm>
          <a:prstGeom prst="rect">
            <a:avLst/>
          </a:prstGeom>
          <a:noFill/>
          <a:ln/>
        </p:spPr>
        <p:txBody>
          <a:bodyPr wrap="square" lIns="0" tIns="0" rIns="0" bIns="0"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On Mac or Linux, use python3 and pip3 if python alone is not found.</a:t>
            </a:r>
            <a:endParaRPr lang="en-US" sz="1150" dirty="0"/>
          </a:p>
        </p:txBody>
      </p:sp>
      <p:sp>
        <p:nvSpPr>
          <p:cNvPr id="17" name="Shape 14"/>
          <p:cNvSpPr/>
          <p:nvPr/>
        </p:nvSpPr>
        <p:spPr>
          <a:xfrm>
            <a:off x="6035040" y="1554480"/>
            <a:ext cx="5513832" cy="4206240"/>
          </a:xfrm>
          <a:prstGeom prst="roundRect">
            <a:avLst>
              <a:gd name="adj" fmla="val 1957"/>
            </a:avLst>
          </a:prstGeom>
          <a:solidFill>
            <a:srgbClr val="F4F6F9"/>
          </a:solidFill>
          <a:ln/>
        </p:spPr>
      </p:sp>
      <p:sp>
        <p:nvSpPr>
          <p:cNvPr id="18" name="Shape 15"/>
          <p:cNvSpPr/>
          <p:nvPr/>
        </p:nvSpPr>
        <p:spPr>
          <a:xfrm>
            <a:off x="6309360" y="1828800"/>
            <a:ext cx="640080" cy="640080"/>
          </a:xfrm>
          <a:prstGeom prst="ellipse">
            <a:avLst/>
          </a:prstGeom>
          <a:solidFill>
            <a:srgbClr val="306998"/>
          </a:solidFill>
          <a:ln/>
        </p:spPr>
      </p:sp>
      <p:pic>
        <p:nvPicPr>
          <p:cNvPr id="19" name="Image 1" descr="/tmp/claude-0/-home-user-pythonSEM-intro/a422a649-6240-52ae-9445-beabcf08c9b3/scratchpad/pyintro/icons/code.png">    </p:cNvPr>
          <p:cNvPicPr>
            <a:picLocks noChangeAspect="1"/>
          </p:cNvPicPr>
          <p:nvPr/>
        </p:nvPicPr>
        <p:blipFill>
          <a:blip r:embed="rId2"/>
          <a:stretch>
            <a:fillRect/>
          </a:stretch>
        </p:blipFill>
        <p:spPr>
          <a:xfrm>
            <a:off x="6392570" y="1912010"/>
            <a:ext cx="473659" cy="473659"/>
          </a:xfrm>
          <a:prstGeom prst="rect">
            <a:avLst/>
          </a:prstGeom>
        </p:spPr>
      </p:pic>
      <p:sp>
        <p:nvSpPr>
          <p:cNvPr id="20" name="Text 16"/>
          <p:cNvSpPr txBox="1"/>
          <p:nvPr/>
        </p:nvSpPr>
        <p:spPr>
          <a:xfrm>
            <a:off x="7086600" y="1901952"/>
            <a:ext cx="4233672"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Pick a place to write code</a:t>
            </a:r>
            <a:endParaRPr lang="en-US" sz="1700" dirty="0"/>
          </a:p>
        </p:txBody>
      </p:sp>
      <p:sp>
        <p:nvSpPr>
          <p:cNvPr id="21" name="Shape 17"/>
          <p:cNvSpPr/>
          <p:nvPr/>
        </p:nvSpPr>
        <p:spPr>
          <a:xfrm>
            <a:off x="6309360" y="2651760"/>
            <a:ext cx="164592" cy="164592"/>
          </a:xfrm>
          <a:prstGeom prst="ellipse">
            <a:avLst/>
          </a:prstGeom>
          <a:solidFill>
            <a:srgbClr val="FFD43B"/>
          </a:solidFill>
          <a:ln/>
        </p:spPr>
      </p:sp>
      <p:sp>
        <p:nvSpPr>
          <p:cNvPr id="22" name="Text 18"/>
          <p:cNvSpPr txBox="1"/>
          <p:nvPr/>
        </p:nvSpPr>
        <p:spPr>
          <a:xfrm>
            <a:off x="6601968" y="2606040"/>
            <a:ext cx="4599432" cy="27432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VS Code (recommended)</a:t>
            </a:r>
            <a:endParaRPr lang="en-US" sz="1350" dirty="0"/>
          </a:p>
        </p:txBody>
      </p:sp>
      <p:sp>
        <p:nvSpPr>
          <p:cNvPr id="23" name="Text 19"/>
          <p:cNvSpPr txBox="1"/>
          <p:nvPr/>
        </p:nvSpPr>
        <p:spPr>
          <a:xfrm>
            <a:off x="6601968" y="2898648"/>
            <a:ext cx="4599432"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Free, friendly, works on every OS. Add the "Python" extension from Microsoft.</a:t>
            </a:r>
            <a:endParaRPr lang="en-US" sz="1150" dirty="0"/>
          </a:p>
        </p:txBody>
      </p:sp>
      <p:sp>
        <p:nvSpPr>
          <p:cNvPr id="24" name="Shape 20"/>
          <p:cNvSpPr/>
          <p:nvPr/>
        </p:nvSpPr>
        <p:spPr>
          <a:xfrm>
            <a:off x="6309360" y="3611880"/>
            <a:ext cx="164592" cy="164592"/>
          </a:xfrm>
          <a:prstGeom prst="ellipse">
            <a:avLst/>
          </a:prstGeom>
          <a:solidFill>
            <a:srgbClr val="FFD43B"/>
          </a:solidFill>
          <a:ln/>
        </p:spPr>
      </p:sp>
      <p:sp>
        <p:nvSpPr>
          <p:cNvPr id="25" name="Text 21"/>
          <p:cNvSpPr txBox="1"/>
          <p:nvPr/>
        </p:nvSpPr>
        <p:spPr>
          <a:xfrm>
            <a:off x="6601968" y="3566160"/>
            <a:ext cx="4599432" cy="27432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IDLE</a:t>
            </a:r>
            <a:endParaRPr lang="en-US" sz="1350" dirty="0"/>
          </a:p>
        </p:txBody>
      </p:sp>
      <p:sp>
        <p:nvSpPr>
          <p:cNvPr id="26" name="Text 22"/>
          <p:cNvSpPr txBox="1"/>
          <p:nvPr/>
        </p:nvSpPr>
        <p:spPr>
          <a:xfrm>
            <a:off x="6601968" y="3858768"/>
            <a:ext cx="4599432"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Installed automatically with Python. No setup, great for your very first script.</a:t>
            </a:r>
            <a:endParaRPr lang="en-US" sz="1150" dirty="0"/>
          </a:p>
        </p:txBody>
      </p:sp>
      <p:sp>
        <p:nvSpPr>
          <p:cNvPr id="27" name="Shape 23"/>
          <p:cNvSpPr/>
          <p:nvPr/>
        </p:nvSpPr>
        <p:spPr>
          <a:xfrm>
            <a:off x="6309360" y="4572000"/>
            <a:ext cx="164592" cy="164592"/>
          </a:xfrm>
          <a:prstGeom prst="ellipse">
            <a:avLst/>
          </a:prstGeom>
          <a:solidFill>
            <a:srgbClr val="FFD43B"/>
          </a:solidFill>
          <a:ln/>
        </p:spPr>
      </p:sp>
      <p:sp>
        <p:nvSpPr>
          <p:cNvPr id="28" name="Text 24"/>
          <p:cNvSpPr txBox="1"/>
          <p:nvPr/>
        </p:nvSpPr>
        <p:spPr>
          <a:xfrm>
            <a:off x="6601968" y="4526280"/>
            <a:ext cx="4599432" cy="27432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Jupyter Notebook</a:t>
            </a:r>
            <a:endParaRPr lang="en-US" sz="1350" dirty="0"/>
          </a:p>
        </p:txBody>
      </p:sp>
      <p:sp>
        <p:nvSpPr>
          <p:cNvPr id="29" name="Text 25"/>
          <p:cNvSpPr txBox="1"/>
          <p:nvPr/>
        </p:nvSpPr>
        <p:spPr>
          <a:xfrm>
            <a:off x="6601968" y="4818888"/>
            <a:ext cx="4599432"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Runs code in blocks with instant output. Popular for data and experimentation.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94360"/>
            <a:ext cx="822960" cy="822960"/>
          </a:xfrm>
          <a:prstGeom prst="ellipse">
            <a:avLst/>
          </a:prstGeom>
          <a:solidFill>
            <a:srgbClr val="FFD43B"/>
          </a:solidFill>
          <a:ln/>
        </p:spPr>
      </p:sp>
      <p:pic>
        <p:nvPicPr>
          <p:cNvPr id="3" name="Image 0" descr="/tmp/claude-0/-home-user-pythonSEM-intro/a422a649-6240-52ae-9445-beabcf08c9b3/scratchpad/pyintro/icons/rocket.png">    </p:cNvPr>
          <p:cNvPicPr>
            <a:picLocks noChangeAspect="1"/>
          </p:cNvPicPr>
          <p:nvPr/>
        </p:nvPicPr>
        <p:blipFill>
          <a:blip r:embed="rId1"/>
          <a:stretch>
            <a:fillRect/>
          </a:stretch>
        </p:blipFill>
        <p:spPr>
          <a:xfrm>
            <a:off x="747065" y="701345"/>
            <a:ext cx="608990" cy="608990"/>
          </a:xfrm>
          <a:prstGeom prst="rect">
            <a:avLst/>
          </a:prstGeom>
        </p:spPr>
      </p:pic>
      <p:sp>
        <p:nvSpPr>
          <p:cNvPr id="4" name="Text 1"/>
          <p:cNvSpPr txBox="1"/>
          <p:nvPr/>
        </p:nvSpPr>
        <p:spPr>
          <a:xfrm>
            <a:off x="1691640" y="68580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TRY IT NOW</a:t>
            </a:r>
            <a:endParaRPr lang="en-US" sz="1300" dirty="0"/>
          </a:p>
        </p:txBody>
      </p:sp>
      <p:sp>
        <p:nvSpPr>
          <p:cNvPr id="5" name="Text 2"/>
          <p:cNvSpPr txBox="1"/>
          <p:nvPr/>
        </p:nvSpPr>
        <p:spPr>
          <a:xfrm>
            <a:off x="1691640" y="987552"/>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Two minutes, on your own laptop</a:t>
            </a:r>
            <a:endParaRPr lang="en-US" sz="2600" dirty="0"/>
          </a:p>
        </p:txBody>
      </p:sp>
      <p:sp>
        <p:nvSpPr>
          <p:cNvPr id="6" name="Shape 3"/>
          <p:cNvSpPr/>
          <p:nvPr/>
        </p:nvSpPr>
        <p:spPr>
          <a:xfrm>
            <a:off x="822960" y="1965960"/>
            <a:ext cx="10515600" cy="777240"/>
          </a:xfrm>
          <a:prstGeom prst="roundRect">
            <a:avLst>
              <a:gd name="adj" fmla="val 11765"/>
            </a:avLst>
          </a:prstGeom>
          <a:solidFill>
            <a:srgbClr val="1B2A4A"/>
          </a:solidFill>
          <a:ln/>
        </p:spPr>
      </p:sp>
      <p:sp>
        <p:nvSpPr>
          <p:cNvPr id="7" name="Shape 4"/>
          <p:cNvSpPr/>
          <p:nvPr/>
        </p:nvSpPr>
        <p:spPr>
          <a:xfrm>
            <a:off x="1051560" y="2121408"/>
            <a:ext cx="457200" cy="457200"/>
          </a:xfrm>
          <a:prstGeom prst="ellipse">
            <a:avLst/>
          </a:prstGeom>
          <a:solidFill>
            <a:srgbClr val="306998"/>
          </a:solidFill>
          <a:ln/>
        </p:spPr>
      </p:sp>
      <p:sp>
        <p:nvSpPr>
          <p:cNvPr id="8" name="Text 5"/>
          <p:cNvSpPr txBox="1"/>
          <p:nvPr/>
        </p:nvSpPr>
        <p:spPr>
          <a:xfrm>
            <a:off x="1051560" y="21214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6"/>
          <p:cNvSpPr txBox="1"/>
          <p:nvPr/>
        </p:nvSpPr>
        <p:spPr>
          <a:xfrm>
            <a:off x="1691640" y="196596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Open a terminal (or Command Prompt on Windows)</a:t>
            </a:r>
            <a:endParaRPr lang="en-US" sz="1450" dirty="0"/>
          </a:p>
        </p:txBody>
      </p:sp>
      <p:sp>
        <p:nvSpPr>
          <p:cNvPr id="10" name="Shape 7"/>
          <p:cNvSpPr/>
          <p:nvPr/>
        </p:nvSpPr>
        <p:spPr>
          <a:xfrm>
            <a:off x="822960" y="2880360"/>
            <a:ext cx="10515600" cy="777240"/>
          </a:xfrm>
          <a:prstGeom prst="roundRect">
            <a:avLst>
              <a:gd name="adj" fmla="val 11765"/>
            </a:avLst>
          </a:prstGeom>
          <a:solidFill>
            <a:srgbClr val="1B2A4A"/>
          </a:solidFill>
          <a:ln/>
        </p:spPr>
      </p:sp>
      <p:sp>
        <p:nvSpPr>
          <p:cNvPr id="11" name="Shape 8"/>
          <p:cNvSpPr/>
          <p:nvPr/>
        </p:nvSpPr>
        <p:spPr>
          <a:xfrm>
            <a:off x="1051560" y="3035808"/>
            <a:ext cx="457200" cy="457200"/>
          </a:xfrm>
          <a:prstGeom prst="ellipse">
            <a:avLst/>
          </a:prstGeom>
          <a:solidFill>
            <a:srgbClr val="306998"/>
          </a:solidFill>
          <a:ln/>
        </p:spPr>
      </p:sp>
      <p:sp>
        <p:nvSpPr>
          <p:cNvPr id="12" name="Text 9"/>
          <p:cNvSpPr txBox="1"/>
          <p:nvPr/>
        </p:nvSpPr>
        <p:spPr>
          <a:xfrm>
            <a:off x="1051560" y="30358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691640" y="288036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Type python and press Enter, you should land inside "&gt;&gt;&gt;"</a:t>
            </a:r>
            <a:endParaRPr lang="en-US" sz="1450" dirty="0"/>
          </a:p>
        </p:txBody>
      </p:sp>
      <p:sp>
        <p:nvSpPr>
          <p:cNvPr id="14" name="Shape 11"/>
          <p:cNvSpPr/>
          <p:nvPr/>
        </p:nvSpPr>
        <p:spPr>
          <a:xfrm>
            <a:off x="822960" y="3794760"/>
            <a:ext cx="10515600" cy="777240"/>
          </a:xfrm>
          <a:prstGeom prst="roundRect">
            <a:avLst>
              <a:gd name="adj" fmla="val 11765"/>
            </a:avLst>
          </a:prstGeom>
          <a:solidFill>
            <a:srgbClr val="1B2A4A"/>
          </a:solidFill>
          <a:ln/>
        </p:spPr>
      </p:sp>
      <p:sp>
        <p:nvSpPr>
          <p:cNvPr id="15" name="Shape 12"/>
          <p:cNvSpPr/>
          <p:nvPr/>
        </p:nvSpPr>
        <p:spPr>
          <a:xfrm>
            <a:off x="1051560" y="3950208"/>
            <a:ext cx="457200" cy="457200"/>
          </a:xfrm>
          <a:prstGeom prst="ellipse">
            <a:avLst/>
          </a:prstGeom>
          <a:solidFill>
            <a:srgbClr val="306998"/>
          </a:solidFill>
          <a:ln/>
        </p:spPr>
      </p:sp>
      <p:sp>
        <p:nvSpPr>
          <p:cNvPr id="16" name="Text 13"/>
          <p:cNvSpPr txBox="1"/>
          <p:nvPr/>
        </p:nvSpPr>
        <p:spPr>
          <a:xfrm>
            <a:off x="1051560" y="3950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691640" y="379476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Type 2 + 2 and press Enter, Python should reply 4</a:t>
            </a:r>
            <a:endParaRPr lang="en-US" sz="1450" dirty="0"/>
          </a:p>
        </p:txBody>
      </p:sp>
      <p:sp>
        <p:nvSpPr>
          <p:cNvPr id="18" name="Shape 15"/>
          <p:cNvSpPr/>
          <p:nvPr/>
        </p:nvSpPr>
        <p:spPr>
          <a:xfrm>
            <a:off x="822960" y="4709160"/>
            <a:ext cx="10515600" cy="777240"/>
          </a:xfrm>
          <a:prstGeom prst="roundRect">
            <a:avLst>
              <a:gd name="adj" fmla="val 11765"/>
            </a:avLst>
          </a:prstGeom>
          <a:solidFill>
            <a:srgbClr val="1B2A4A"/>
          </a:solidFill>
          <a:ln/>
        </p:spPr>
      </p:sp>
      <p:sp>
        <p:nvSpPr>
          <p:cNvPr id="19" name="Shape 16"/>
          <p:cNvSpPr/>
          <p:nvPr/>
        </p:nvSpPr>
        <p:spPr>
          <a:xfrm>
            <a:off x="1051560" y="4864608"/>
            <a:ext cx="457200" cy="457200"/>
          </a:xfrm>
          <a:prstGeom prst="ellipse">
            <a:avLst/>
          </a:prstGeom>
          <a:solidFill>
            <a:srgbClr val="306998"/>
          </a:solidFill>
          <a:ln/>
        </p:spPr>
      </p:sp>
      <p:sp>
        <p:nvSpPr>
          <p:cNvPr id="20" name="Text 17"/>
          <p:cNvSpPr txBox="1"/>
          <p:nvPr/>
        </p:nvSpPr>
        <p:spPr>
          <a:xfrm>
            <a:off x="1051560" y="4864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691640" y="470916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Type exit() to leave, then give a thumbs up when you see the 4</a:t>
            </a:r>
            <a:endParaRPr lang="en-US" sz="1450" dirty="0"/>
          </a:p>
        </p:txBody>
      </p:sp>
      <p:sp>
        <p:nvSpPr>
          <p:cNvPr id="22" name="Text 19"/>
          <p:cNvSpPr txBox="1"/>
          <p:nvPr/>
        </p:nvSpPr>
        <p:spPr>
          <a:xfrm>
            <a:off x="822960" y="580644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Stuck? Raise a hand, we will pair up and fix it together before moving on.</a:t>
            </a:r>
            <a:endParaRPr lang="en-US" sz="1250" dirty="0"/>
          </a:p>
        </p:txBody>
      </p:sp>
      <p:sp>
        <p:nvSpPr>
          <p:cNvPr id="23"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1 · Installing Python</a:t>
            </a:r>
            <a:endParaRPr lang="en-US" sz="1000" dirty="0"/>
          </a:p>
        </p:txBody>
      </p:sp>
      <p:sp>
        <p:nvSpPr>
          <p:cNvPr id="24"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2</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What is Python?</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A little history and the traits that make Python different from other languages.</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question.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2</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is Python, really?</a:t>
            </a:r>
            <a:endParaRPr lang="en-US" sz="3200" dirty="0"/>
          </a:p>
        </p:txBody>
      </p:sp>
      <p:sp>
        <p:nvSpPr>
          <p:cNvPr id="6" name="Text 4"/>
          <p:cNvSpPr txBox="1"/>
          <p:nvPr/>
        </p:nvSpPr>
        <p:spPr>
          <a:xfrm>
            <a:off x="640080" y="1417320"/>
            <a:ext cx="6309360" cy="14630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Python is a high-level, general-purpose programming language. In plain terms: you write instructions in something close to everyday English, and Python turns them into actions on your computer.</a:t>
            </a:r>
            <a:endParaRPr lang="en-US" sz="1500" dirty="0"/>
          </a:p>
        </p:txBody>
      </p:sp>
      <p:sp>
        <p:nvSpPr>
          <p:cNvPr id="7" name="Text 5"/>
          <p:cNvSpPr txBox="1"/>
          <p:nvPr/>
        </p:nvSpPr>
        <p:spPr>
          <a:xfrm>
            <a:off x="640080" y="3063240"/>
            <a:ext cx="6309360" cy="17373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It was created by Guido van Rossum and first released in 1991. He named it after the British comedy show "Monty Python's Flying Circus," not the snake, which is why you will see jokes and easter eggs about comedy sketches in Python's own culture.</a:t>
            </a:r>
            <a:endParaRPr lang="en-US" sz="1400" dirty="0"/>
          </a:p>
        </p:txBody>
      </p:sp>
      <p:sp>
        <p:nvSpPr>
          <p:cNvPr id="8" name="Shape 6"/>
          <p:cNvSpPr/>
          <p:nvPr/>
        </p:nvSpPr>
        <p:spPr>
          <a:xfrm>
            <a:off x="7269480" y="1463040"/>
            <a:ext cx="4251960" cy="1325880"/>
          </a:xfrm>
          <a:prstGeom prst="roundRect">
            <a:avLst>
              <a:gd name="adj" fmla="val 6207"/>
            </a:avLst>
          </a:prstGeom>
          <a:solidFill>
            <a:srgbClr val="F4F6F9"/>
          </a:solidFill>
          <a:ln/>
        </p:spPr>
      </p:sp>
      <p:sp>
        <p:nvSpPr>
          <p:cNvPr id="9" name="Text 7"/>
          <p:cNvSpPr txBox="1"/>
          <p:nvPr/>
        </p:nvSpPr>
        <p:spPr>
          <a:xfrm>
            <a:off x="7498080" y="1600200"/>
            <a:ext cx="1828800" cy="822960"/>
          </a:xfrm>
          <a:prstGeom prst="rect">
            <a:avLst/>
          </a:prstGeom>
          <a:noFill/>
          <a:ln/>
        </p:spPr>
        <p:txBody>
          <a:bodyPr wrap="square" lIns="0" tIns="0" rIns="0" bIns="0" rtlCol="0" anchor="ctr"/>
          <a:lstStyle/>
          <a:p>
            <a:pPr indent="0" marL="0">
              <a:buNone/>
            </a:pPr>
            <a:r>
              <a:rPr lang="en-US" sz="3400" b="1" dirty="0">
                <a:solidFill>
                  <a:srgbClr val="306998"/>
                </a:solidFill>
                <a:latin typeface="Arial" pitchFamily="34" charset="0"/>
                <a:ea typeface="Arial" pitchFamily="34" charset="-122"/>
                <a:cs typeface="Arial" pitchFamily="34" charset="-120"/>
              </a:rPr>
              <a:t>1991</a:t>
            </a:r>
            <a:endParaRPr lang="en-US" sz="3400" dirty="0"/>
          </a:p>
        </p:txBody>
      </p:sp>
      <p:sp>
        <p:nvSpPr>
          <p:cNvPr id="10" name="Text 8"/>
          <p:cNvSpPr txBox="1"/>
          <p:nvPr/>
        </p:nvSpPr>
        <p:spPr>
          <a:xfrm>
            <a:off x="7498080" y="233172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Year it was first released</a:t>
            </a:r>
            <a:endParaRPr lang="en-US" sz="1150" dirty="0"/>
          </a:p>
        </p:txBody>
      </p:sp>
      <p:sp>
        <p:nvSpPr>
          <p:cNvPr id="11" name="Shape 9"/>
          <p:cNvSpPr/>
          <p:nvPr/>
        </p:nvSpPr>
        <p:spPr>
          <a:xfrm>
            <a:off x="7269480" y="2971800"/>
            <a:ext cx="4251960" cy="1325880"/>
          </a:xfrm>
          <a:prstGeom prst="roundRect">
            <a:avLst>
              <a:gd name="adj" fmla="val 6207"/>
            </a:avLst>
          </a:prstGeom>
          <a:solidFill>
            <a:srgbClr val="F4F6F9"/>
          </a:solidFill>
          <a:ln/>
        </p:spPr>
      </p:sp>
      <p:sp>
        <p:nvSpPr>
          <p:cNvPr id="12" name="Text 10"/>
          <p:cNvSpPr txBox="1"/>
          <p:nvPr/>
        </p:nvSpPr>
        <p:spPr>
          <a:xfrm>
            <a:off x="7498080" y="3108960"/>
            <a:ext cx="1828800" cy="822960"/>
          </a:xfrm>
          <a:prstGeom prst="rect">
            <a:avLst/>
          </a:prstGeom>
          <a:noFill/>
          <a:ln/>
        </p:spPr>
        <p:txBody>
          <a:bodyPr wrap="square" lIns="0" tIns="0" rIns="0" bIns="0" rtlCol="0" anchor="ctr"/>
          <a:lstStyle/>
          <a:p>
            <a:pPr indent="0" marL="0">
              <a:buNone/>
            </a:pPr>
            <a:r>
              <a:rPr lang="en-US" sz="3400" b="1" dirty="0">
                <a:solidFill>
                  <a:srgbClr val="306998"/>
                </a:solidFill>
                <a:latin typeface="Arial" pitchFamily="34" charset="0"/>
                <a:ea typeface="Arial" pitchFamily="34" charset="-122"/>
                <a:cs typeface="Arial" pitchFamily="34" charset="-120"/>
              </a:rPr>
              <a:t>#1</a:t>
            </a:r>
            <a:endParaRPr lang="en-US" sz="3400" dirty="0"/>
          </a:p>
        </p:txBody>
      </p:sp>
      <p:sp>
        <p:nvSpPr>
          <p:cNvPr id="13" name="Text 11"/>
          <p:cNvSpPr txBox="1"/>
          <p:nvPr/>
        </p:nvSpPr>
        <p:spPr>
          <a:xfrm>
            <a:off x="7498080" y="384048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Most popular language, several recent industry surveys</a:t>
            </a:r>
            <a:endParaRPr lang="en-US" sz="1150" dirty="0"/>
          </a:p>
        </p:txBody>
      </p:sp>
      <p:sp>
        <p:nvSpPr>
          <p:cNvPr id="14" name="Shape 12"/>
          <p:cNvSpPr/>
          <p:nvPr/>
        </p:nvSpPr>
        <p:spPr>
          <a:xfrm>
            <a:off x="7269480" y="4480560"/>
            <a:ext cx="4251960" cy="1325880"/>
          </a:xfrm>
          <a:prstGeom prst="roundRect">
            <a:avLst>
              <a:gd name="adj" fmla="val 6207"/>
            </a:avLst>
          </a:prstGeom>
          <a:solidFill>
            <a:srgbClr val="F4F6F9"/>
          </a:solidFill>
          <a:ln/>
        </p:spPr>
      </p:sp>
      <p:sp>
        <p:nvSpPr>
          <p:cNvPr id="15" name="Text 13"/>
          <p:cNvSpPr txBox="1"/>
          <p:nvPr/>
        </p:nvSpPr>
        <p:spPr>
          <a:xfrm>
            <a:off x="7498080" y="4617720"/>
            <a:ext cx="1828800" cy="822960"/>
          </a:xfrm>
          <a:prstGeom prst="rect">
            <a:avLst/>
          </a:prstGeom>
          <a:noFill/>
          <a:ln/>
        </p:spPr>
        <p:txBody>
          <a:bodyPr wrap="square" lIns="0" tIns="0" rIns="0" bIns="0" rtlCol="0" anchor="ctr"/>
          <a:lstStyle/>
          <a:p>
            <a:pPr indent="0" marL="0">
              <a:buNone/>
            </a:pPr>
            <a:r>
              <a:rPr lang="en-US" sz="3400" b="1" dirty="0">
                <a:solidFill>
                  <a:srgbClr val="306998"/>
                </a:solidFill>
                <a:latin typeface="Arial" pitchFamily="34" charset="0"/>
                <a:ea typeface="Arial" pitchFamily="34" charset="-122"/>
                <a:cs typeface="Arial" pitchFamily="34" charset="-120"/>
              </a:rPr>
              <a:t>30+</a:t>
            </a:r>
            <a:endParaRPr lang="en-US" sz="3400" dirty="0"/>
          </a:p>
        </p:txBody>
      </p:sp>
      <p:sp>
        <p:nvSpPr>
          <p:cNvPr id="16" name="Text 14"/>
          <p:cNvSpPr txBox="1"/>
          <p:nvPr/>
        </p:nvSpPr>
        <p:spPr>
          <a:xfrm>
            <a:off x="7498080" y="534924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Years of active, ongoing development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Four traits worth knowing</a:t>
            </a:r>
            <a:endParaRPr lang="en-US" sz="3200" dirty="0"/>
          </a:p>
        </p:txBody>
      </p:sp>
      <p:sp>
        <p:nvSpPr>
          <p:cNvPr id="6" name="Shape 4"/>
          <p:cNvSpPr/>
          <p:nvPr/>
        </p:nvSpPr>
        <p:spPr>
          <a:xfrm>
            <a:off x="640080" y="1508760"/>
            <a:ext cx="5257800" cy="1920240"/>
          </a:xfrm>
          <a:prstGeom prst="roundRect">
            <a:avLst>
              <a:gd name="adj" fmla="val 4286"/>
            </a:avLst>
          </a:prstGeom>
          <a:solidFill>
            <a:srgbClr val="F4F6F9"/>
          </a:solidFill>
          <a:ln/>
        </p:spPr>
      </p:sp>
      <p:sp>
        <p:nvSpPr>
          <p:cNvPr id="7" name="Shape 5"/>
          <p:cNvSpPr/>
          <p:nvPr/>
        </p:nvSpPr>
        <p:spPr>
          <a:xfrm>
            <a:off x="914400" y="1783080"/>
            <a:ext cx="640080" cy="640080"/>
          </a:xfrm>
          <a:prstGeom prst="ellipse">
            <a:avLst/>
          </a:prstGeom>
          <a:solidFill>
            <a:srgbClr val="306998"/>
          </a:solidFill>
          <a:ln/>
        </p:spPr>
      </p:sp>
      <p:pic>
        <p:nvPicPr>
          <p:cNvPr id="8" name="Image 0" descr="/tmp/claude-0/-home-user-pythonSEM-intro/a422a649-6240-52ae-9445-beabcf08c9b3/scratchpad/pyintro/icons/code.png">    </p:cNvPr>
          <p:cNvPicPr>
            <a:picLocks noChangeAspect="1"/>
          </p:cNvPicPr>
          <p:nvPr/>
        </p:nvPicPr>
        <p:blipFill>
          <a:blip r:embed="rId1"/>
          <a:stretch>
            <a:fillRect/>
          </a:stretch>
        </p:blipFill>
        <p:spPr>
          <a:xfrm>
            <a:off x="997610" y="1866290"/>
            <a:ext cx="473659" cy="473659"/>
          </a:xfrm>
          <a:prstGeom prst="rect">
            <a:avLst/>
          </a:prstGeom>
        </p:spPr>
      </p:pic>
      <p:sp>
        <p:nvSpPr>
          <p:cNvPr id="9" name="Text 6"/>
          <p:cNvSpPr txBox="1"/>
          <p:nvPr/>
        </p:nvSpPr>
        <p:spPr>
          <a:xfrm>
            <a:off x="1737360" y="180136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Interpreted</a:t>
            </a:r>
            <a:endParaRPr lang="en-US" sz="1600" dirty="0"/>
          </a:p>
        </p:txBody>
      </p:sp>
      <p:sp>
        <p:nvSpPr>
          <p:cNvPr id="10" name="Text 7"/>
          <p:cNvSpPr txBox="1"/>
          <p:nvPr/>
        </p:nvSpPr>
        <p:spPr>
          <a:xfrm>
            <a:off x="914400" y="246888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Python runs your code line by line. No separate compile step, you save the file and run it right away.</a:t>
            </a:r>
            <a:endParaRPr lang="en-US" sz="1200" dirty="0"/>
          </a:p>
        </p:txBody>
      </p:sp>
      <p:sp>
        <p:nvSpPr>
          <p:cNvPr id="11" name="Shape 8"/>
          <p:cNvSpPr/>
          <p:nvPr/>
        </p:nvSpPr>
        <p:spPr>
          <a:xfrm>
            <a:off x="6172200" y="1508760"/>
            <a:ext cx="5257800" cy="1920240"/>
          </a:xfrm>
          <a:prstGeom prst="roundRect">
            <a:avLst>
              <a:gd name="adj" fmla="val 4286"/>
            </a:avLst>
          </a:prstGeom>
          <a:solidFill>
            <a:srgbClr val="F4F6F9"/>
          </a:solidFill>
          <a:ln/>
        </p:spPr>
      </p:sp>
      <p:sp>
        <p:nvSpPr>
          <p:cNvPr id="12" name="Shape 9"/>
          <p:cNvSpPr/>
          <p:nvPr/>
        </p:nvSpPr>
        <p:spPr>
          <a:xfrm>
            <a:off x="6446520" y="1783080"/>
            <a:ext cx="640080" cy="640080"/>
          </a:xfrm>
          <a:prstGeom prst="ellipse">
            <a:avLst/>
          </a:prstGeom>
          <a:solidFill>
            <a:srgbClr val="306998"/>
          </a:solidFill>
          <a:ln/>
        </p:spPr>
      </p:sp>
      <p:pic>
        <p:nvPicPr>
          <p:cNvPr id="13" name="Image 1" descr="/tmp/claude-0/-home-user-pythonSEM-intro/a422a649-6240-52ae-9445-beabcf08c9b3/scratchpad/pyintro/icons/gradcap.png">    </p:cNvPr>
          <p:cNvPicPr>
            <a:picLocks noChangeAspect="1"/>
          </p:cNvPicPr>
          <p:nvPr/>
        </p:nvPicPr>
        <p:blipFill>
          <a:blip r:embed="rId2"/>
          <a:stretch>
            <a:fillRect/>
          </a:stretch>
        </p:blipFill>
        <p:spPr>
          <a:xfrm>
            <a:off x="6529730" y="1866290"/>
            <a:ext cx="473659" cy="473659"/>
          </a:xfrm>
          <a:prstGeom prst="rect">
            <a:avLst/>
          </a:prstGeom>
        </p:spPr>
      </p:pic>
      <p:sp>
        <p:nvSpPr>
          <p:cNvPr id="14" name="Text 10"/>
          <p:cNvSpPr txBox="1"/>
          <p:nvPr/>
        </p:nvSpPr>
        <p:spPr>
          <a:xfrm>
            <a:off x="7269480" y="180136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High-level</a:t>
            </a:r>
            <a:endParaRPr lang="en-US" sz="1600" dirty="0"/>
          </a:p>
        </p:txBody>
      </p:sp>
      <p:sp>
        <p:nvSpPr>
          <p:cNvPr id="15" name="Text 11"/>
          <p:cNvSpPr txBox="1"/>
          <p:nvPr/>
        </p:nvSpPr>
        <p:spPr>
          <a:xfrm>
            <a:off x="6446520" y="246888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You describe what you want, not how memory or hardware should handle it. Python manages the details for you.</a:t>
            </a:r>
            <a:endParaRPr lang="en-US" sz="1200" dirty="0"/>
          </a:p>
        </p:txBody>
      </p:sp>
      <p:sp>
        <p:nvSpPr>
          <p:cNvPr id="16" name="Shape 12"/>
          <p:cNvSpPr/>
          <p:nvPr/>
        </p:nvSpPr>
        <p:spPr>
          <a:xfrm>
            <a:off x="640080" y="3703320"/>
            <a:ext cx="5257800" cy="1920240"/>
          </a:xfrm>
          <a:prstGeom prst="roundRect">
            <a:avLst>
              <a:gd name="adj" fmla="val 4286"/>
            </a:avLst>
          </a:prstGeom>
          <a:solidFill>
            <a:srgbClr val="F4F6F9"/>
          </a:solidFill>
          <a:ln/>
        </p:spPr>
      </p:sp>
      <p:sp>
        <p:nvSpPr>
          <p:cNvPr id="17" name="Shape 13"/>
          <p:cNvSpPr/>
          <p:nvPr/>
        </p:nvSpPr>
        <p:spPr>
          <a:xfrm>
            <a:off x="914400" y="3977640"/>
            <a:ext cx="640080" cy="640080"/>
          </a:xfrm>
          <a:prstGeom prst="ellipse">
            <a:avLst/>
          </a:prstGeom>
          <a:solidFill>
            <a:srgbClr val="306998"/>
          </a:solidFill>
          <a:ln/>
        </p:spPr>
      </p:sp>
      <p:pic>
        <p:nvPicPr>
          <p:cNvPr id="18" name="Image 2" descr="/tmp/claude-0/-home-user-pythonSEM-intro/a422a649-6240-52ae-9445-beabcf08c9b3/scratchpad/pyintro/icons/puzzle.png">    </p:cNvPr>
          <p:cNvPicPr>
            <a:picLocks noChangeAspect="1"/>
          </p:cNvPicPr>
          <p:nvPr/>
        </p:nvPicPr>
        <p:blipFill>
          <a:blip r:embed="rId3"/>
          <a:stretch>
            <a:fillRect/>
          </a:stretch>
        </p:blipFill>
        <p:spPr>
          <a:xfrm>
            <a:off x="997610" y="4060850"/>
            <a:ext cx="473659" cy="473659"/>
          </a:xfrm>
          <a:prstGeom prst="rect">
            <a:avLst/>
          </a:prstGeom>
        </p:spPr>
      </p:pic>
      <p:sp>
        <p:nvSpPr>
          <p:cNvPr id="19" name="Text 14"/>
          <p:cNvSpPr txBox="1"/>
          <p:nvPr/>
        </p:nvSpPr>
        <p:spPr>
          <a:xfrm>
            <a:off x="1737360" y="399592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Dynamically typed</a:t>
            </a:r>
            <a:endParaRPr lang="en-US" sz="1600" dirty="0"/>
          </a:p>
        </p:txBody>
      </p:sp>
      <p:sp>
        <p:nvSpPr>
          <p:cNvPr id="20" name="Text 15"/>
          <p:cNvSpPr txBox="1"/>
          <p:nvPr/>
        </p:nvSpPr>
        <p:spPr>
          <a:xfrm>
            <a:off x="914400" y="466344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You don't declare a variable's type up front. Python figures it out from the value you give it.</a:t>
            </a:r>
            <a:endParaRPr lang="en-US" sz="1200" dirty="0"/>
          </a:p>
        </p:txBody>
      </p:sp>
      <p:sp>
        <p:nvSpPr>
          <p:cNvPr id="21" name="Shape 16"/>
          <p:cNvSpPr/>
          <p:nvPr/>
        </p:nvSpPr>
        <p:spPr>
          <a:xfrm>
            <a:off x="6172200" y="3703320"/>
            <a:ext cx="5257800" cy="1920240"/>
          </a:xfrm>
          <a:prstGeom prst="roundRect">
            <a:avLst>
              <a:gd name="adj" fmla="val 4286"/>
            </a:avLst>
          </a:prstGeom>
          <a:solidFill>
            <a:srgbClr val="F4F6F9"/>
          </a:solidFill>
          <a:ln/>
        </p:spPr>
      </p:sp>
      <p:sp>
        <p:nvSpPr>
          <p:cNvPr id="22" name="Shape 17"/>
          <p:cNvSpPr/>
          <p:nvPr/>
        </p:nvSpPr>
        <p:spPr>
          <a:xfrm>
            <a:off x="6446520" y="3977640"/>
            <a:ext cx="640080" cy="640080"/>
          </a:xfrm>
          <a:prstGeom prst="ellipse">
            <a:avLst/>
          </a:prstGeom>
          <a:solidFill>
            <a:srgbClr val="306998"/>
          </a:solidFill>
          <a:ln/>
        </p:spPr>
      </p:sp>
      <p:pic>
        <p:nvPicPr>
          <p:cNvPr id="23" name="Image 3" descr="/tmp/claude-0/-home-user-pythonSEM-intro/a422a649-6240-52ae-9445-beabcf08c9b3/scratchpad/pyintro/icons/globe.png">    </p:cNvPr>
          <p:cNvPicPr>
            <a:picLocks noChangeAspect="1"/>
          </p:cNvPicPr>
          <p:nvPr/>
        </p:nvPicPr>
        <p:blipFill>
          <a:blip r:embed="rId4"/>
          <a:stretch>
            <a:fillRect/>
          </a:stretch>
        </p:blipFill>
        <p:spPr>
          <a:xfrm>
            <a:off x="6529730" y="4060850"/>
            <a:ext cx="473659" cy="473659"/>
          </a:xfrm>
          <a:prstGeom prst="rect">
            <a:avLst/>
          </a:prstGeom>
        </p:spPr>
      </p:pic>
      <p:sp>
        <p:nvSpPr>
          <p:cNvPr id="24" name="Text 18"/>
          <p:cNvSpPr txBox="1"/>
          <p:nvPr/>
        </p:nvSpPr>
        <p:spPr>
          <a:xfrm>
            <a:off x="7269480" y="399592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General-purpose</a:t>
            </a:r>
            <a:endParaRPr lang="en-US" sz="1600" dirty="0"/>
          </a:p>
        </p:txBody>
      </p:sp>
      <p:sp>
        <p:nvSpPr>
          <p:cNvPr id="25" name="Text 19"/>
          <p:cNvSpPr txBox="1"/>
          <p:nvPr/>
        </p:nvSpPr>
        <p:spPr>
          <a:xfrm>
            <a:off x="6446520" y="466344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Web apps, data analysis, automation, AI, games: the same language works across nearly every domain.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Python shows up at work</a:t>
            </a:r>
            <a:endParaRPr lang="en-US" sz="3200" dirty="0"/>
          </a:p>
        </p:txBody>
      </p:sp>
      <p:sp>
        <p:nvSpPr>
          <p:cNvPr id="6" name="Text 4"/>
          <p:cNvSpPr txBox="1"/>
          <p:nvPr/>
        </p:nvSpPr>
        <p:spPr>
          <a:xfrm>
            <a:off x="640080" y="1417320"/>
            <a:ext cx="91440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The same language you are learning today powers all of these fields.</a:t>
            </a:r>
            <a:endParaRPr lang="en-US" sz="1400" dirty="0"/>
          </a:p>
        </p:txBody>
      </p:sp>
      <p:sp>
        <p:nvSpPr>
          <p:cNvPr id="7" name="Shape 5"/>
          <p:cNvSpPr/>
          <p:nvPr/>
        </p:nvSpPr>
        <p:spPr>
          <a:xfrm>
            <a:off x="640080" y="1965960"/>
            <a:ext cx="3429000" cy="1828800"/>
          </a:xfrm>
          <a:prstGeom prst="roundRect">
            <a:avLst>
              <a:gd name="adj" fmla="val 4500"/>
            </a:avLst>
          </a:prstGeom>
          <a:solidFill>
            <a:srgbClr val="F4F6F9"/>
          </a:solidFill>
          <a:ln/>
        </p:spPr>
      </p:sp>
      <p:sp>
        <p:nvSpPr>
          <p:cNvPr id="8" name="Shape 6"/>
          <p:cNvSpPr/>
          <p:nvPr/>
        </p:nvSpPr>
        <p:spPr>
          <a:xfrm>
            <a:off x="896112" y="2221992"/>
            <a:ext cx="594360" cy="594360"/>
          </a:xfrm>
          <a:prstGeom prst="ellipse">
            <a:avLst/>
          </a:prstGeom>
          <a:solidFill>
            <a:srgbClr val="306998"/>
          </a:solidFill>
          <a:ln/>
        </p:spPr>
      </p:sp>
      <p:pic>
        <p:nvPicPr>
          <p:cNvPr id="9" name="Image 0" descr="/tmp/claude-0/-home-user-pythonSEM-intro/a422a649-6240-52ae-9445-beabcf08c9b3/scratchpad/pyintro/icons/chart.png">    </p:cNvPr>
          <p:cNvPicPr>
            <a:picLocks noChangeAspect="1"/>
          </p:cNvPicPr>
          <p:nvPr/>
        </p:nvPicPr>
        <p:blipFill>
          <a:blip r:embed="rId1"/>
          <a:stretch>
            <a:fillRect/>
          </a:stretch>
        </p:blipFill>
        <p:spPr>
          <a:xfrm>
            <a:off x="973379" y="2299259"/>
            <a:ext cx="439826" cy="439826"/>
          </a:xfrm>
          <a:prstGeom prst="rect">
            <a:avLst/>
          </a:prstGeom>
        </p:spPr>
      </p:pic>
      <p:sp>
        <p:nvSpPr>
          <p:cNvPr id="10" name="Text 7"/>
          <p:cNvSpPr txBox="1"/>
          <p:nvPr/>
        </p:nvSpPr>
        <p:spPr>
          <a:xfrm>
            <a:off x="896112" y="29260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Data &amp; analytics</a:t>
            </a:r>
            <a:endParaRPr lang="en-US" sz="1450" dirty="0"/>
          </a:p>
        </p:txBody>
      </p:sp>
      <p:sp>
        <p:nvSpPr>
          <p:cNvPr id="11" name="Text 8"/>
          <p:cNvSpPr txBox="1"/>
          <p:nvPr/>
        </p:nvSpPr>
        <p:spPr>
          <a:xfrm>
            <a:off x="8961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Cleaning spreadsheets, building reports, dashboards</a:t>
            </a:r>
            <a:endParaRPr lang="en-US" sz="1100" dirty="0"/>
          </a:p>
        </p:txBody>
      </p:sp>
      <p:sp>
        <p:nvSpPr>
          <p:cNvPr id="12" name="Shape 9"/>
          <p:cNvSpPr/>
          <p:nvPr/>
        </p:nvSpPr>
        <p:spPr>
          <a:xfrm>
            <a:off x="4297680" y="1965960"/>
            <a:ext cx="3429000" cy="1828800"/>
          </a:xfrm>
          <a:prstGeom prst="roundRect">
            <a:avLst>
              <a:gd name="adj" fmla="val 4500"/>
            </a:avLst>
          </a:prstGeom>
          <a:solidFill>
            <a:srgbClr val="F4F6F9"/>
          </a:solidFill>
          <a:ln/>
        </p:spPr>
      </p:sp>
      <p:sp>
        <p:nvSpPr>
          <p:cNvPr id="13" name="Shape 10"/>
          <p:cNvSpPr/>
          <p:nvPr/>
        </p:nvSpPr>
        <p:spPr>
          <a:xfrm>
            <a:off x="4553712" y="2221992"/>
            <a:ext cx="594360" cy="594360"/>
          </a:xfrm>
          <a:prstGeom prst="ellipse">
            <a:avLst/>
          </a:prstGeom>
          <a:solidFill>
            <a:srgbClr val="306998"/>
          </a:solidFill>
          <a:ln/>
        </p:spPr>
      </p:sp>
      <p:pic>
        <p:nvPicPr>
          <p:cNvPr id="14" name="Image 1" descr="/tmp/claude-0/-home-user-pythonSEM-intro/a422a649-6240-52ae-9445-beabcf08c9b3/scratchpad/pyintro/icons/robot.png">    </p:cNvPr>
          <p:cNvPicPr>
            <a:picLocks noChangeAspect="1"/>
          </p:cNvPicPr>
          <p:nvPr/>
        </p:nvPicPr>
        <p:blipFill>
          <a:blip r:embed="rId2"/>
          <a:stretch>
            <a:fillRect/>
          </a:stretch>
        </p:blipFill>
        <p:spPr>
          <a:xfrm>
            <a:off x="4630979" y="2299259"/>
            <a:ext cx="439826" cy="439826"/>
          </a:xfrm>
          <a:prstGeom prst="rect">
            <a:avLst/>
          </a:prstGeom>
        </p:spPr>
      </p:pic>
      <p:sp>
        <p:nvSpPr>
          <p:cNvPr id="15" name="Text 11"/>
          <p:cNvSpPr txBox="1"/>
          <p:nvPr/>
        </p:nvSpPr>
        <p:spPr>
          <a:xfrm>
            <a:off x="4553712" y="29260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AI &amp; machine learning</a:t>
            </a:r>
            <a:endParaRPr lang="en-US" sz="1450" dirty="0"/>
          </a:p>
        </p:txBody>
      </p:sp>
      <p:sp>
        <p:nvSpPr>
          <p:cNvPr id="16" name="Text 12"/>
          <p:cNvSpPr txBox="1"/>
          <p:nvPr/>
        </p:nvSpPr>
        <p:spPr>
          <a:xfrm>
            <a:off x="45537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The leading language for building and training models</a:t>
            </a:r>
            <a:endParaRPr lang="en-US" sz="1100" dirty="0"/>
          </a:p>
        </p:txBody>
      </p:sp>
      <p:sp>
        <p:nvSpPr>
          <p:cNvPr id="17" name="Shape 13"/>
          <p:cNvSpPr/>
          <p:nvPr/>
        </p:nvSpPr>
        <p:spPr>
          <a:xfrm>
            <a:off x="7955280" y="1965960"/>
            <a:ext cx="3429000" cy="1828800"/>
          </a:xfrm>
          <a:prstGeom prst="roundRect">
            <a:avLst>
              <a:gd name="adj" fmla="val 4500"/>
            </a:avLst>
          </a:prstGeom>
          <a:solidFill>
            <a:srgbClr val="F4F6F9"/>
          </a:solidFill>
          <a:ln/>
        </p:spPr>
      </p:sp>
      <p:sp>
        <p:nvSpPr>
          <p:cNvPr id="18" name="Shape 14"/>
          <p:cNvSpPr/>
          <p:nvPr/>
        </p:nvSpPr>
        <p:spPr>
          <a:xfrm>
            <a:off x="8211312" y="2221992"/>
            <a:ext cx="594360" cy="594360"/>
          </a:xfrm>
          <a:prstGeom prst="ellipse">
            <a:avLst/>
          </a:prstGeom>
          <a:solidFill>
            <a:srgbClr val="306998"/>
          </a:solidFill>
          <a:ln/>
        </p:spPr>
      </p:sp>
      <p:pic>
        <p:nvPicPr>
          <p:cNvPr id="19" name="Image 2" descr="/tmp/claude-0/-home-user-pythonSEM-intro/a422a649-6240-52ae-9445-beabcf08c9b3/scratchpad/pyintro/icons/web.png">    </p:cNvPr>
          <p:cNvPicPr>
            <a:picLocks noChangeAspect="1"/>
          </p:cNvPicPr>
          <p:nvPr/>
        </p:nvPicPr>
        <p:blipFill>
          <a:blip r:embed="rId3"/>
          <a:stretch>
            <a:fillRect/>
          </a:stretch>
        </p:blipFill>
        <p:spPr>
          <a:xfrm>
            <a:off x="8288579" y="2299259"/>
            <a:ext cx="439826" cy="439826"/>
          </a:xfrm>
          <a:prstGeom prst="rect">
            <a:avLst/>
          </a:prstGeom>
        </p:spPr>
      </p:pic>
      <p:sp>
        <p:nvSpPr>
          <p:cNvPr id="20" name="Text 15"/>
          <p:cNvSpPr txBox="1"/>
          <p:nvPr/>
        </p:nvSpPr>
        <p:spPr>
          <a:xfrm>
            <a:off x="8211312" y="29260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Web development</a:t>
            </a:r>
            <a:endParaRPr lang="en-US" sz="1450" dirty="0"/>
          </a:p>
        </p:txBody>
      </p:sp>
      <p:sp>
        <p:nvSpPr>
          <p:cNvPr id="21" name="Text 16"/>
          <p:cNvSpPr txBox="1"/>
          <p:nvPr/>
        </p:nvSpPr>
        <p:spPr>
          <a:xfrm>
            <a:off x="82113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Backends for sites like Instagram and Pinterest</a:t>
            </a:r>
            <a:endParaRPr lang="en-US" sz="1100" dirty="0"/>
          </a:p>
        </p:txBody>
      </p:sp>
      <p:sp>
        <p:nvSpPr>
          <p:cNvPr id="22" name="Shape 17"/>
          <p:cNvSpPr/>
          <p:nvPr/>
        </p:nvSpPr>
        <p:spPr>
          <a:xfrm>
            <a:off x="640080" y="4023360"/>
            <a:ext cx="3429000" cy="1828800"/>
          </a:xfrm>
          <a:prstGeom prst="roundRect">
            <a:avLst>
              <a:gd name="adj" fmla="val 4500"/>
            </a:avLst>
          </a:prstGeom>
          <a:solidFill>
            <a:srgbClr val="F4F6F9"/>
          </a:solidFill>
          <a:ln/>
        </p:spPr>
      </p:sp>
      <p:sp>
        <p:nvSpPr>
          <p:cNvPr id="23" name="Shape 18"/>
          <p:cNvSpPr/>
          <p:nvPr/>
        </p:nvSpPr>
        <p:spPr>
          <a:xfrm>
            <a:off x="896112" y="4279392"/>
            <a:ext cx="594360" cy="594360"/>
          </a:xfrm>
          <a:prstGeom prst="ellipse">
            <a:avLst/>
          </a:prstGeom>
          <a:solidFill>
            <a:srgbClr val="306998"/>
          </a:solidFill>
          <a:ln/>
        </p:spPr>
      </p:sp>
      <p:pic>
        <p:nvPicPr>
          <p:cNvPr id="24" name="Image 3" descr="/tmp/claude-0/-home-user-pythonSEM-intro/a422a649-6240-52ae-9445-beabcf08c9b3/scratchpad/pyintro/icons/gear.png">    </p:cNvPr>
          <p:cNvPicPr>
            <a:picLocks noChangeAspect="1"/>
          </p:cNvPicPr>
          <p:nvPr/>
        </p:nvPicPr>
        <p:blipFill>
          <a:blip r:embed="rId4"/>
          <a:stretch>
            <a:fillRect/>
          </a:stretch>
        </p:blipFill>
        <p:spPr>
          <a:xfrm>
            <a:off x="973379" y="4356659"/>
            <a:ext cx="439826" cy="439826"/>
          </a:xfrm>
          <a:prstGeom prst="rect">
            <a:avLst/>
          </a:prstGeom>
        </p:spPr>
      </p:pic>
      <p:sp>
        <p:nvSpPr>
          <p:cNvPr id="25" name="Text 19"/>
          <p:cNvSpPr txBox="1"/>
          <p:nvPr/>
        </p:nvSpPr>
        <p:spPr>
          <a:xfrm>
            <a:off x="896112" y="49834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Automation &amp; scripting</a:t>
            </a:r>
            <a:endParaRPr lang="en-US" sz="1450" dirty="0"/>
          </a:p>
        </p:txBody>
      </p:sp>
      <p:sp>
        <p:nvSpPr>
          <p:cNvPr id="26" name="Text 20"/>
          <p:cNvSpPr txBox="1"/>
          <p:nvPr/>
        </p:nvSpPr>
        <p:spPr>
          <a:xfrm>
            <a:off x="8961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Renaming files, scraping data, scheduled tasks</a:t>
            </a:r>
            <a:endParaRPr lang="en-US" sz="1100" dirty="0"/>
          </a:p>
        </p:txBody>
      </p:sp>
      <p:sp>
        <p:nvSpPr>
          <p:cNvPr id="27" name="Shape 21"/>
          <p:cNvSpPr/>
          <p:nvPr/>
        </p:nvSpPr>
        <p:spPr>
          <a:xfrm>
            <a:off x="4297680" y="4023360"/>
            <a:ext cx="3429000" cy="1828800"/>
          </a:xfrm>
          <a:prstGeom prst="roundRect">
            <a:avLst>
              <a:gd name="adj" fmla="val 4500"/>
            </a:avLst>
          </a:prstGeom>
          <a:solidFill>
            <a:srgbClr val="F4F6F9"/>
          </a:solidFill>
          <a:ln/>
        </p:spPr>
      </p:sp>
      <p:sp>
        <p:nvSpPr>
          <p:cNvPr id="28" name="Shape 22"/>
          <p:cNvSpPr/>
          <p:nvPr/>
        </p:nvSpPr>
        <p:spPr>
          <a:xfrm>
            <a:off x="4553712" y="4279392"/>
            <a:ext cx="594360" cy="594360"/>
          </a:xfrm>
          <a:prstGeom prst="ellipse">
            <a:avLst/>
          </a:prstGeom>
          <a:solidFill>
            <a:srgbClr val="306998"/>
          </a:solidFill>
          <a:ln/>
        </p:spPr>
      </p:sp>
      <p:pic>
        <p:nvPicPr>
          <p:cNvPr id="29" name="Image 4" descr="/tmp/claude-0/-home-user-pythonSEM-intro/a422a649-6240-52ae-9445-beabcf08c9b3/scratchpad/pyintro/icons/flask.png">    </p:cNvPr>
          <p:cNvPicPr>
            <a:picLocks noChangeAspect="1"/>
          </p:cNvPicPr>
          <p:nvPr/>
        </p:nvPicPr>
        <p:blipFill>
          <a:blip r:embed="rId5"/>
          <a:stretch>
            <a:fillRect/>
          </a:stretch>
        </p:blipFill>
        <p:spPr>
          <a:xfrm>
            <a:off x="4630979" y="4356659"/>
            <a:ext cx="439826" cy="439826"/>
          </a:xfrm>
          <a:prstGeom prst="rect">
            <a:avLst/>
          </a:prstGeom>
        </p:spPr>
      </p:pic>
      <p:sp>
        <p:nvSpPr>
          <p:cNvPr id="30" name="Text 23"/>
          <p:cNvSpPr txBox="1"/>
          <p:nvPr/>
        </p:nvSpPr>
        <p:spPr>
          <a:xfrm>
            <a:off x="4553712" y="49834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Scientific computing</a:t>
            </a:r>
            <a:endParaRPr lang="en-US" sz="1450" dirty="0"/>
          </a:p>
        </p:txBody>
      </p:sp>
      <p:sp>
        <p:nvSpPr>
          <p:cNvPr id="31" name="Text 24"/>
          <p:cNvSpPr txBox="1"/>
          <p:nvPr/>
        </p:nvSpPr>
        <p:spPr>
          <a:xfrm>
            <a:off x="45537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Research, simulations, engineering calculations</a:t>
            </a:r>
            <a:endParaRPr lang="en-US" sz="1100" dirty="0"/>
          </a:p>
        </p:txBody>
      </p:sp>
      <p:sp>
        <p:nvSpPr>
          <p:cNvPr id="32" name="Shape 25"/>
          <p:cNvSpPr/>
          <p:nvPr/>
        </p:nvSpPr>
        <p:spPr>
          <a:xfrm>
            <a:off x="7955280" y="4023360"/>
            <a:ext cx="3429000" cy="1828800"/>
          </a:xfrm>
          <a:prstGeom prst="roundRect">
            <a:avLst>
              <a:gd name="adj" fmla="val 4500"/>
            </a:avLst>
          </a:prstGeom>
          <a:solidFill>
            <a:srgbClr val="F4F6F9"/>
          </a:solidFill>
          <a:ln/>
        </p:spPr>
      </p:sp>
      <p:sp>
        <p:nvSpPr>
          <p:cNvPr id="33" name="Shape 26"/>
          <p:cNvSpPr/>
          <p:nvPr/>
        </p:nvSpPr>
        <p:spPr>
          <a:xfrm>
            <a:off x="8211312" y="4279392"/>
            <a:ext cx="594360" cy="594360"/>
          </a:xfrm>
          <a:prstGeom prst="ellipse">
            <a:avLst/>
          </a:prstGeom>
          <a:solidFill>
            <a:srgbClr val="306998"/>
          </a:solidFill>
          <a:ln/>
        </p:spPr>
      </p:sp>
      <p:pic>
        <p:nvPicPr>
          <p:cNvPr id="34" name="Image 5" descr="/tmp/claude-0/-home-user-pythonSEM-intro/a422a649-6240-52ae-9445-beabcf08c9b3/scratchpad/pyintro/icons/database.png">    </p:cNvPr>
          <p:cNvPicPr>
            <a:picLocks noChangeAspect="1"/>
          </p:cNvPicPr>
          <p:nvPr/>
        </p:nvPicPr>
        <p:blipFill>
          <a:blip r:embed="rId6"/>
          <a:stretch>
            <a:fillRect/>
          </a:stretch>
        </p:blipFill>
        <p:spPr>
          <a:xfrm>
            <a:off x="8288579" y="4356659"/>
            <a:ext cx="439826" cy="439826"/>
          </a:xfrm>
          <a:prstGeom prst="rect">
            <a:avLst/>
          </a:prstGeom>
        </p:spPr>
      </p:pic>
      <p:sp>
        <p:nvSpPr>
          <p:cNvPr id="35" name="Text 27"/>
          <p:cNvSpPr txBox="1"/>
          <p:nvPr/>
        </p:nvSpPr>
        <p:spPr>
          <a:xfrm>
            <a:off x="8211312" y="4983480"/>
            <a:ext cx="2916936" cy="365760"/>
          </a:xfrm>
          <a:prstGeom prst="rect">
            <a:avLst/>
          </a:prstGeom>
          <a:noFill/>
          <a:ln/>
        </p:spPr>
        <p:txBody>
          <a:bodyPr wrap="square" lIns="0" tIns="0" rIns="0" bIns="0" rtlCol="0" anchor="ctr"/>
          <a:lstStyle/>
          <a:p>
            <a:pPr indent="0" marL="0">
              <a:buNone/>
            </a:pPr>
            <a:r>
              <a:rPr lang="en-US" sz="1450" b="1" dirty="0">
                <a:solidFill>
                  <a:srgbClr val="1F2937"/>
                </a:solidFill>
                <a:latin typeface="Arial" pitchFamily="34" charset="0"/>
                <a:ea typeface="Arial" pitchFamily="34" charset="-122"/>
                <a:cs typeface="Arial" pitchFamily="34" charset="-120"/>
              </a:rPr>
              <a:t>Everyday tooling</a:t>
            </a:r>
            <a:endParaRPr lang="en-US" sz="1450" dirty="0"/>
          </a:p>
        </p:txBody>
      </p:sp>
      <p:sp>
        <p:nvSpPr>
          <p:cNvPr id="36" name="Text 28"/>
          <p:cNvSpPr txBox="1"/>
          <p:nvPr/>
        </p:nvSpPr>
        <p:spPr>
          <a:xfrm>
            <a:off x="82113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Internal tools, quick prototypes, glue between systems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pyintro/icons/clipboard.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QUICK QUIZ</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Which of these use Python?</a:t>
            </a:r>
            <a:endParaRPr lang="en-US" sz="2600" dirty="0"/>
          </a:p>
        </p:txBody>
      </p:sp>
      <p:sp>
        <p:nvSpPr>
          <p:cNvPr id="6" name="Shape 3"/>
          <p:cNvSpPr/>
          <p:nvPr/>
        </p:nvSpPr>
        <p:spPr>
          <a:xfrm>
            <a:off x="822960" y="1874520"/>
            <a:ext cx="5120640" cy="1051560"/>
          </a:xfrm>
          <a:prstGeom prst="roundRect">
            <a:avLst>
              <a:gd name="adj" fmla="val 8696"/>
            </a:avLst>
          </a:prstGeom>
          <a:solidFill>
            <a:srgbClr val="1B2A4A"/>
          </a:solidFill>
          <a:ln w="12700">
            <a:solidFill>
              <a:srgbClr val="1F4B70"/>
            </a:solidFill>
            <a:prstDash val="solid"/>
          </a:ln>
        </p:spPr>
      </p:sp>
      <p:sp>
        <p:nvSpPr>
          <p:cNvPr id="7" name="Text 4"/>
          <p:cNvSpPr txBox="1"/>
          <p:nvPr/>
        </p:nvSpPr>
        <p:spPr>
          <a:xfrm>
            <a:off x="822960" y="187452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Instagram</a:t>
            </a:r>
            <a:endParaRPr lang="en-US" sz="1900" dirty="0"/>
          </a:p>
        </p:txBody>
      </p:sp>
      <p:sp>
        <p:nvSpPr>
          <p:cNvPr id="8" name="Shape 5"/>
          <p:cNvSpPr/>
          <p:nvPr/>
        </p:nvSpPr>
        <p:spPr>
          <a:xfrm>
            <a:off x="6217920" y="1874520"/>
            <a:ext cx="5120640" cy="1051560"/>
          </a:xfrm>
          <a:prstGeom prst="roundRect">
            <a:avLst>
              <a:gd name="adj" fmla="val 8696"/>
            </a:avLst>
          </a:prstGeom>
          <a:solidFill>
            <a:srgbClr val="1B2A4A"/>
          </a:solidFill>
          <a:ln w="12700">
            <a:solidFill>
              <a:srgbClr val="1F4B70"/>
            </a:solidFill>
            <a:prstDash val="solid"/>
          </a:ln>
        </p:spPr>
      </p:sp>
      <p:sp>
        <p:nvSpPr>
          <p:cNvPr id="9" name="Text 6"/>
          <p:cNvSpPr txBox="1"/>
          <p:nvPr/>
        </p:nvSpPr>
        <p:spPr>
          <a:xfrm>
            <a:off x="6217920" y="187452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Netflix</a:t>
            </a:r>
            <a:endParaRPr lang="en-US" sz="1900" dirty="0"/>
          </a:p>
        </p:txBody>
      </p:sp>
      <p:sp>
        <p:nvSpPr>
          <p:cNvPr id="10" name="Shape 7"/>
          <p:cNvSpPr/>
          <p:nvPr/>
        </p:nvSpPr>
        <p:spPr>
          <a:xfrm>
            <a:off x="822960" y="3200400"/>
            <a:ext cx="5120640" cy="1051560"/>
          </a:xfrm>
          <a:prstGeom prst="roundRect">
            <a:avLst>
              <a:gd name="adj" fmla="val 8696"/>
            </a:avLst>
          </a:prstGeom>
          <a:solidFill>
            <a:srgbClr val="1B2A4A"/>
          </a:solidFill>
          <a:ln w="12700">
            <a:solidFill>
              <a:srgbClr val="1F4B70"/>
            </a:solidFill>
            <a:prstDash val="solid"/>
          </a:ln>
        </p:spPr>
      </p:sp>
      <p:sp>
        <p:nvSpPr>
          <p:cNvPr id="11" name="Text 8"/>
          <p:cNvSpPr txBox="1"/>
          <p:nvPr/>
        </p:nvSpPr>
        <p:spPr>
          <a:xfrm>
            <a:off x="822960" y="320040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Spotify</a:t>
            </a:r>
            <a:endParaRPr lang="en-US" sz="1900" dirty="0"/>
          </a:p>
        </p:txBody>
      </p:sp>
      <p:sp>
        <p:nvSpPr>
          <p:cNvPr id="12" name="Shape 9"/>
          <p:cNvSpPr/>
          <p:nvPr/>
        </p:nvSpPr>
        <p:spPr>
          <a:xfrm>
            <a:off x="6217920" y="3200400"/>
            <a:ext cx="5120640" cy="1051560"/>
          </a:xfrm>
          <a:prstGeom prst="roundRect">
            <a:avLst>
              <a:gd name="adj" fmla="val 8696"/>
            </a:avLst>
          </a:prstGeom>
          <a:solidFill>
            <a:srgbClr val="1B2A4A"/>
          </a:solidFill>
          <a:ln w="12700">
            <a:solidFill>
              <a:srgbClr val="1F4B70"/>
            </a:solidFill>
            <a:prstDash val="solid"/>
          </a:ln>
        </p:spPr>
      </p:sp>
      <p:sp>
        <p:nvSpPr>
          <p:cNvPr id="13" name="Text 10"/>
          <p:cNvSpPr txBox="1"/>
          <p:nvPr/>
        </p:nvSpPr>
        <p:spPr>
          <a:xfrm>
            <a:off x="6217920" y="320040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NASA</a:t>
            </a:r>
            <a:endParaRPr lang="en-US" sz="1900" dirty="0"/>
          </a:p>
        </p:txBody>
      </p:sp>
      <p:sp>
        <p:nvSpPr>
          <p:cNvPr id="14" name="Shape 11"/>
          <p:cNvSpPr/>
          <p:nvPr/>
        </p:nvSpPr>
        <p:spPr>
          <a:xfrm>
            <a:off x="822960" y="4434840"/>
            <a:ext cx="10058400" cy="822960"/>
          </a:xfrm>
          <a:prstGeom prst="roundRect">
            <a:avLst>
              <a:gd name="adj" fmla="val 11111"/>
            </a:avLst>
          </a:prstGeom>
          <a:solidFill>
            <a:srgbClr val="1F4B70"/>
          </a:solidFill>
          <a:ln/>
        </p:spPr>
      </p:sp>
      <p:sp>
        <p:nvSpPr>
          <p:cNvPr id="15" name="Text 12"/>
          <p:cNvSpPr txBox="1"/>
          <p:nvPr/>
        </p:nvSpPr>
        <p:spPr>
          <a:xfrm>
            <a:off x="822960" y="4434840"/>
            <a:ext cx="10058400" cy="822960"/>
          </a:xfrm>
          <a:prstGeom prst="rect">
            <a:avLst/>
          </a:prstGeom>
          <a:noFill/>
          <a:ln/>
        </p:spPr>
        <p:txBody>
          <a:bodyPr wrap="square" lIns="0" tIns="0" rIns="0" bIns="0" rtlCol="0" anchor="ctr"/>
          <a:lstStyle/>
          <a:p>
            <a:pPr algn="ctr" indent="0" marL="0">
              <a:buNone/>
            </a:pPr>
            <a:r>
              <a:rPr lang="en-US" sz="1500" b="1" dirty="0">
                <a:solidFill>
                  <a:srgbClr val="FFD43B"/>
                </a:solidFill>
                <a:latin typeface="Calibri" pitchFamily="34" charset="0"/>
                <a:ea typeface="Calibri" pitchFamily="34" charset="-122"/>
                <a:cs typeface="Calibri" pitchFamily="34" charset="-120"/>
              </a:rPr>
              <a:t>Answer: all four! Python shows up almost everywhere large-scale software is built.</a:t>
            </a:r>
            <a:endParaRPr lang="en-US" sz="1500" dirty="0"/>
          </a:p>
        </p:txBody>
      </p:sp>
      <p:sp>
        <p:nvSpPr>
          <p:cNvPr id="16" name="Text 13"/>
          <p:cNvSpPr txBox="1"/>
          <p:nvPr/>
        </p:nvSpPr>
        <p:spPr>
          <a:xfrm>
            <a:off x="822960" y="5532120"/>
            <a:ext cx="10058400" cy="365760"/>
          </a:xfrm>
          <a:prstGeom prst="rect">
            <a:avLst/>
          </a:prstGeom>
          <a:noFill/>
          <a:ln/>
        </p:spPr>
        <p:txBody>
          <a:bodyPr wrap="square" lIns="0" tIns="0" rIns="0" bIns="0" rtlCol="0" anchor="ctr"/>
          <a:lstStyle/>
          <a:p>
            <a:pPr algn="ctr" indent="0" marL="0">
              <a:buNone/>
            </a:pPr>
            <a:r>
              <a:rPr lang="en-US" sz="1250" i="1" dirty="0">
                <a:solidFill>
                  <a:srgbClr val="AEB9CC"/>
                </a:solidFill>
                <a:latin typeface="Calibri" pitchFamily="34" charset="0"/>
                <a:ea typeface="Calibri" pitchFamily="34" charset="-122"/>
                <a:cs typeface="Calibri" pitchFamily="34" charset="-120"/>
              </a:rPr>
              <a:t>Shout out any other companies or apps you think use Python.</a:t>
            </a:r>
            <a:endParaRPr lang="en-US" sz="1250" dirty="0"/>
          </a:p>
        </p:txBody>
      </p:sp>
      <p:sp>
        <p:nvSpPr>
          <p:cNvPr id="17"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2 · What is Python?</a:t>
            </a:r>
            <a:endParaRPr lang="en-US" sz="1000" dirty="0"/>
          </a:p>
        </p:txBody>
      </p:sp>
      <p:sp>
        <p:nvSpPr>
          <p:cNvPr id="18" name="Text 1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3</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Your First Program</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Time to write real Python. We will keep it short and build confidence fast.</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code.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3</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Your First Program</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17</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Hello, World!</a:t>
            </a:r>
            <a:endParaRPr lang="en-US" sz="3200" dirty="0"/>
          </a:p>
        </p:txBody>
      </p:sp>
      <p:sp>
        <p:nvSpPr>
          <p:cNvPr id="6" name="Text 4"/>
          <p:cNvSpPr txBox="1"/>
          <p:nvPr/>
        </p:nvSpPr>
        <p:spPr>
          <a:xfrm>
            <a:off x="640080" y="1417320"/>
            <a:ext cx="6035040" cy="822960"/>
          </a:xfrm>
          <a:prstGeom prst="rect">
            <a:avLst/>
          </a:prstGeom>
          <a:noFill/>
          <a:ln/>
        </p:spPr>
        <p:txBody>
          <a:bodyPr wrap="square" lIns="0" tIns="0" rIns="0" bIns="0" rtlCol="0" anchor="ctr"/>
          <a:lstStyle/>
          <a:p>
            <a:pPr indent="0" marL="0">
              <a:buNone/>
            </a:pPr>
            <a:r>
              <a:rPr lang="en-US" sz="1450" dirty="0">
                <a:solidFill>
                  <a:srgbClr val="5B6472"/>
                </a:solidFill>
                <a:latin typeface="Calibri" pitchFamily="34" charset="0"/>
                <a:ea typeface="Calibri" pitchFamily="34" charset="-122"/>
                <a:cs typeface="Calibri" pitchFamily="34" charset="-120"/>
              </a:rPr>
              <a:t>Every programmer's first program prints a greeting. Here is the entire program in Python, one line:</a:t>
            </a:r>
            <a:endParaRPr lang="en-US" sz="1450" dirty="0"/>
          </a:p>
        </p:txBody>
      </p:sp>
      <p:sp>
        <p:nvSpPr>
          <p:cNvPr id="7" name="Shape 5"/>
          <p:cNvSpPr/>
          <p:nvPr/>
        </p:nvSpPr>
        <p:spPr>
          <a:xfrm>
            <a:off x="640080" y="2286000"/>
            <a:ext cx="6035040" cy="914400"/>
          </a:xfrm>
          <a:prstGeom prst="roundRect">
            <a:avLst>
              <a:gd name="adj" fmla="val 8000"/>
            </a:avLst>
          </a:prstGeom>
          <a:solidFill>
            <a:srgbClr val="132038"/>
          </a:solidFill>
          <a:ln/>
        </p:spPr>
      </p:sp>
      <p:sp>
        <p:nvSpPr>
          <p:cNvPr id="8" name="Text 6"/>
          <p:cNvSpPr txBox="1"/>
          <p:nvPr/>
        </p:nvSpPr>
        <p:spPr>
          <a:xfrm>
            <a:off x="914400" y="2286000"/>
            <a:ext cx="5486400" cy="914400"/>
          </a:xfrm>
          <a:prstGeom prst="rect">
            <a:avLst/>
          </a:prstGeom>
          <a:noFill/>
          <a:ln/>
        </p:spPr>
        <p:txBody>
          <a:bodyPr wrap="square" lIns="0" tIns="0" rIns="0" bIns="0" rtlCol="0" anchor="ctr"/>
          <a:lstStyle/>
          <a:p>
            <a:pPr indent="0" marL="0">
              <a:buNone/>
            </a:pPr>
            <a:r>
              <a:rPr lang="en-US" sz="2000" dirty="0">
                <a:solidFill>
                  <a:srgbClr val="6EC6FF"/>
                </a:solidFill>
                <a:latin typeface="Courier New" pitchFamily="34" charset="0"/>
                <a:ea typeface="Courier New" pitchFamily="34" charset="-122"/>
                <a:cs typeface="Courier New" pitchFamily="34" charset="-120"/>
              </a:rPr>
              <a:t>print</a:t>
            </a:r>
            <a:pPr indent="0" marL="0">
              <a:buNone/>
            </a:pPr>
            <a:r>
              <a:rPr lang="en-US" sz="2000" dirty="0">
                <a:solidFill>
                  <a:srgbClr val="FFFFFF"/>
                </a:solidFill>
                <a:latin typeface="Courier New" pitchFamily="34" charset="0"/>
                <a:ea typeface="Courier New" pitchFamily="34" charset="-122"/>
                <a:cs typeface="Courier New" pitchFamily="34" charset="-120"/>
              </a:rPr>
              <a:t>(</a:t>
            </a:r>
            <a:pPr indent="0" marL="0">
              <a:buNone/>
            </a:pPr>
            <a:r>
              <a:rPr lang="en-US" sz="2000" dirty="0">
                <a:solidFill>
                  <a:srgbClr val="FFD43B"/>
                </a:solidFill>
                <a:latin typeface="Courier New" pitchFamily="34" charset="0"/>
                <a:ea typeface="Courier New" pitchFamily="34" charset="-122"/>
                <a:cs typeface="Courier New" pitchFamily="34" charset="-120"/>
              </a:rPr>
              <a:t>"Hello, World!"</a:t>
            </a:r>
            <a:pPr indent="0" marL="0">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9" name="Text 7"/>
          <p:cNvSpPr txBox="1"/>
          <p:nvPr/>
        </p:nvSpPr>
        <p:spPr>
          <a:xfrm>
            <a:off x="640080" y="3429000"/>
            <a:ext cx="6035040" cy="777240"/>
          </a:xfrm>
          <a:prstGeom prst="rect">
            <a:avLst/>
          </a:prstGeom>
          <a:noFill/>
          <a:ln/>
        </p:spPr>
        <p:txBody>
          <a:bodyPr wrap="square" lIns="0" tIns="0" rIns="0" bIns="0" rtlCol="0" anchor="ctr"/>
          <a:lstStyle/>
          <a:p>
            <a:pPr indent="0" marL="0">
              <a:buNone/>
            </a:pPr>
            <a:r>
              <a:rPr lang="en-US" sz="1450" dirty="0">
                <a:solidFill>
                  <a:srgbClr val="5B6472"/>
                </a:solidFill>
                <a:latin typeface="Calibri" pitchFamily="34" charset="0"/>
                <a:ea typeface="Calibri" pitchFamily="34" charset="-122"/>
                <a:cs typeface="Calibri" pitchFamily="34" charset="-120"/>
              </a:rPr>
              <a:t>That is it, no semicolons, no setup boilerplate, no "main function" required. Save this as hello.py, then run it:</a:t>
            </a:r>
            <a:endParaRPr lang="en-US" sz="1450" dirty="0"/>
          </a:p>
        </p:txBody>
      </p:sp>
      <p:sp>
        <p:nvSpPr>
          <p:cNvPr id="10" name="Shape 8"/>
          <p:cNvSpPr/>
          <p:nvPr/>
        </p:nvSpPr>
        <p:spPr>
          <a:xfrm>
            <a:off x="640080" y="4206240"/>
            <a:ext cx="6035040" cy="594360"/>
          </a:xfrm>
          <a:prstGeom prst="roundRect">
            <a:avLst>
              <a:gd name="adj" fmla="val 9231"/>
            </a:avLst>
          </a:prstGeom>
          <a:solidFill>
            <a:srgbClr val="F4F6F9"/>
          </a:solidFill>
          <a:ln/>
        </p:spPr>
      </p:sp>
      <p:sp>
        <p:nvSpPr>
          <p:cNvPr id="11" name="Text 9"/>
          <p:cNvSpPr txBox="1"/>
          <p:nvPr/>
        </p:nvSpPr>
        <p:spPr>
          <a:xfrm>
            <a:off x="868680" y="4206240"/>
            <a:ext cx="5577840" cy="594360"/>
          </a:xfrm>
          <a:prstGeom prst="rect">
            <a:avLst/>
          </a:prstGeom>
          <a:noFill/>
          <a:ln/>
        </p:spPr>
        <p:txBody>
          <a:bodyPr wrap="square" lIns="0" tIns="0" rIns="0" bIns="0" rtlCol="0" anchor="ctr"/>
          <a:lstStyle/>
          <a:p>
            <a:pPr indent="0" marL="0">
              <a:buNone/>
            </a:pPr>
            <a:r>
              <a:rPr lang="en-US" sz="1500" dirty="0">
                <a:solidFill>
                  <a:srgbClr val="1F4B70"/>
                </a:solidFill>
                <a:latin typeface="Courier New" pitchFamily="34" charset="0"/>
                <a:ea typeface="Courier New" pitchFamily="34" charset="-122"/>
                <a:cs typeface="Courier New" pitchFamily="34" charset="-120"/>
              </a:rPr>
              <a:t>python hello.py</a:t>
            </a:r>
            <a:endParaRPr lang="en-US" sz="1500" dirty="0"/>
          </a:p>
        </p:txBody>
      </p:sp>
      <p:sp>
        <p:nvSpPr>
          <p:cNvPr id="12" name="Shape 10"/>
          <p:cNvSpPr/>
          <p:nvPr/>
        </p:nvSpPr>
        <p:spPr>
          <a:xfrm>
            <a:off x="7040880" y="1417320"/>
            <a:ext cx="4480560" cy="3383280"/>
          </a:xfrm>
          <a:prstGeom prst="roundRect">
            <a:avLst>
              <a:gd name="adj" fmla="val 2432"/>
            </a:avLst>
          </a:prstGeom>
          <a:solidFill>
            <a:srgbClr val="F4F6F9"/>
          </a:solidFill>
          <a:ln/>
        </p:spPr>
      </p:sp>
      <p:sp>
        <p:nvSpPr>
          <p:cNvPr id="13" name="Shape 11"/>
          <p:cNvSpPr/>
          <p:nvPr/>
        </p:nvSpPr>
        <p:spPr>
          <a:xfrm>
            <a:off x="7269480" y="1645920"/>
            <a:ext cx="548640" cy="548640"/>
          </a:xfrm>
          <a:prstGeom prst="ellipse">
            <a:avLst/>
          </a:prstGeom>
          <a:solidFill>
            <a:srgbClr val="FFD43B"/>
          </a:solidFill>
          <a:ln/>
        </p:spPr>
      </p:sp>
      <p:pic>
        <p:nvPicPr>
          <p:cNvPr id="14" name="Image 0" descr="/tmp/claude-0/-home-user-pythonSEM-intro/a422a649-6240-52ae-9445-beabcf08c9b3/scratchpad/pyintro/icons/lightbulb.png">    </p:cNvPr>
          <p:cNvPicPr>
            <a:picLocks noChangeAspect="1"/>
          </p:cNvPicPr>
          <p:nvPr/>
        </p:nvPicPr>
        <p:blipFill>
          <a:blip r:embed="rId1"/>
          <a:stretch>
            <a:fillRect/>
          </a:stretch>
        </p:blipFill>
        <p:spPr>
          <a:xfrm>
            <a:off x="7340803" y="1717243"/>
            <a:ext cx="405994" cy="405994"/>
          </a:xfrm>
          <a:prstGeom prst="rect">
            <a:avLst/>
          </a:prstGeom>
        </p:spPr>
      </p:pic>
      <p:sp>
        <p:nvSpPr>
          <p:cNvPr id="15" name="Text 12"/>
          <p:cNvSpPr txBox="1"/>
          <p:nvPr/>
        </p:nvSpPr>
        <p:spPr>
          <a:xfrm>
            <a:off x="7269480" y="2286000"/>
            <a:ext cx="4023360" cy="365760"/>
          </a:xfrm>
          <a:prstGeom prst="rect">
            <a:avLst/>
          </a:prstGeom>
          <a:noFill/>
          <a:ln/>
        </p:spPr>
        <p:txBody>
          <a:bodyPr wrap="square" lIns="0" tIns="0" rIns="0" bIns="0" rtlCol="0" anchor="ctr"/>
          <a:lstStyle/>
          <a:p>
            <a:pPr indent="0" marL="0">
              <a:buNone/>
            </a:pPr>
            <a:r>
              <a:rPr lang="en-US" sz="1500" b="1" dirty="0">
                <a:solidFill>
                  <a:srgbClr val="1F2937"/>
                </a:solidFill>
                <a:latin typeface="Arial" pitchFamily="34" charset="0"/>
                <a:ea typeface="Arial" pitchFamily="34" charset="-122"/>
                <a:cs typeface="Arial" pitchFamily="34" charset="-120"/>
              </a:rPr>
              <a:t>Notice what's missing</a:t>
            </a:r>
            <a:endParaRPr lang="en-US" sz="1500" dirty="0"/>
          </a:p>
        </p:txBody>
      </p:sp>
      <p:sp>
        <p:nvSpPr>
          <p:cNvPr id="16" name="Text 13"/>
          <p:cNvSpPr txBox="1"/>
          <p:nvPr/>
        </p:nvSpPr>
        <p:spPr>
          <a:xfrm>
            <a:off x="7269480" y="2743200"/>
            <a:ext cx="3977640" cy="18288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No curly braces, no class wrapper, no import for basic printing, and no semicolon at the end of the line. Python trims away ceremony so you can focus on logic.</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Your First Program</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18</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Variables and data types</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A variable is a name that holds a value. Python figures out the type automatically:</a:t>
            </a:r>
            <a:endParaRPr lang="en-US" sz="1400" dirty="0"/>
          </a:p>
        </p:txBody>
      </p:sp>
      <p:sp>
        <p:nvSpPr>
          <p:cNvPr id="7" name="Text 5"/>
          <p:cNvSpPr txBox="1"/>
          <p:nvPr/>
        </p:nvSpPr>
        <p:spPr>
          <a:xfrm>
            <a:off x="640080" y="1965960"/>
            <a:ext cx="3657600" cy="27432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CODE</a:t>
            </a:r>
            <a:endParaRPr lang="en-US" sz="1100" dirty="0"/>
          </a:p>
        </p:txBody>
      </p:sp>
      <p:sp>
        <p:nvSpPr>
          <p:cNvPr id="8" name="Text 6"/>
          <p:cNvSpPr txBox="1"/>
          <p:nvPr/>
        </p:nvSpPr>
        <p:spPr>
          <a:xfrm>
            <a:off x="4480560" y="1965960"/>
            <a:ext cx="2560320" cy="27432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TYPE</a:t>
            </a:r>
            <a:endParaRPr lang="en-US" sz="1100" dirty="0"/>
          </a:p>
        </p:txBody>
      </p:sp>
      <p:sp>
        <p:nvSpPr>
          <p:cNvPr id="9" name="Text 7"/>
          <p:cNvSpPr txBox="1"/>
          <p:nvPr/>
        </p:nvSpPr>
        <p:spPr>
          <a:xfrm>
            <a:off x="7223760" y="1965960"/>
            <a:ext cx="4206240" cy="27432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WHAT IT MEANS</a:t>
            </a:r>
            <a:endParaRPr lang="en-US" sz="1100" dirty="0"/>
          </a:p>
        </p:txBody>
      </p:sp>
      <p:sp>
        <p:nvSpPr>
          <p:cNvPr id="10" name="Shape 8"/>
          <p:cNvSpPr/>
          <p:nvPr/>
        </p:nvSpPr>
        <p:spPr>
          <a:xfrm>
            <a:off x="640080" y="2377440"/>
            <a:ext cx="10881360" cy="777240"/>
          </a:xfrm>
          <a:prstGeom prst="rect">
            <a:avLst/>
          </a:prstGeom>
          <a:solidFill>
            <a:srgbClr val="F4F6F9"/>
          </a:solidFill>
          <a:ln/>
        </p:spPr>
      </p:sp>
      <p:sp>
        <p:nvSpPr>
          <p:cNvPr id="11" name="Shape 9"/>
          <p:cNvSpPr/>
          <p:nvPr/>
        </p:nvSpPr>
        <p:spPr>
          <a:xfrm>
            <a:off x="822960" y="2496312"/>
            <a:ext cx="3291840" cy="548640"/>
          </a:xfrm>
          <a:prstGeom prst="roundRect">
            <a:avLst>
              <a:gd name="adj" fmla="val 10000"/>
            </a:avLst>
          </a:prstGeom>
          <a:solidFill>
            <a:srgbClr val="132038"/>
          </a:solidFill>
          <a:ln/>
        </p:spPr>
      </p:sp>
      <p:sp>
        <p:nvSpPr>
          <p:cNvPr id="12" name="Text 10"/>
          <p:cNvSpPr txBox="1"/>
          <p:nvPr/>
        </p:nvSpPr>
        <p:spPr>
          <a:xfrm>
            <a:off x="960120" y="2496312"/>
            <a:ext cx="301752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name = "Amara"</a:t>
            </a:r>
            <a:endParaRPr lang="en-US" sz="1250" dirty="0"/>
          </a:p>
        </p:txBody>
      </p:sp>
      <p:sp>
        <p:nvSpPr>
          <p:cNvPr id="13" name="Text 11"/>
          <p:cNvSpPr txBox="1"/>
          <p:nvPr/>
        </p:nvSpPr>
        <p:spPr>
          <a:xfrm>
            <a:off x="4480560" y="2377440"/>
            <a:ext cx="2560320" cy="777240"/>
          </a:xfrm>
          <a:prstGeom prst="rect">
            <a:avLst/>
          </a:prstGeom>
          <a:noFill/>
          <a:ln/>
        </p:spPr>
        <p:txBody>
          <a:bodyPr wrap="square" lIns="0" tIns="0" rIns="0" bIns="0" rtlCol="0" anchor="ctr"/>
          <a:lstStyle/>
          <a:p>
            <a:pPr indent="0" marL="0">
              <a:buNone/>
            </a:pPr>
            <a:r>
              <a:rPr lang="en-US" sz="1300" b="1" dirty="0">
                <a:solidFill>
                  <a:srgbClr val="306998"/>
                </a:solidFill>
                <a:latin typeface="Arial" pitchFamily="34" charset="0"/>
                <a:ea typeface="Arial" pitchFamily="34" charset="-122"/>
                <a:cs typeface="Arial" pitchFamily="34" charset="-120"/>
              </a:rPr>
              <a:t>str (text)</a:t>
            </a:r>
            <a:endParaRPr lang="en-US" sz="1300" dirty="0"/>
          </a:p>
        </p:txBody>
      </p:sp>
      <p:sp>
        <p:nvSpPr>
          <p:cNvPr id="14" name="Text 12"/>
          <p:cNvSpPr txBox="1"/>
          <p:nvPr/>
        </p:nvSpPr>
        <p:spPr>
          <a:xfrm>
            <a:off x="7223760" y="2377440"/>
            <a:ext cx="42062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Letters and words, wrapped in quotes</a:t>
            </a:r>
            <a:endParaRPr lang="en-US" sz="1250" dirty="0"/>
          </a:p>
        </p:txBody>
      </p:sp>
      <p:sp>
        <p:nvSpPr>
          <p:cNvPr id="15" name="Shape 13"/>
          <p:cNvSpPr/>
          <p:nvPr/>
        </p:nvSpPr>
        <p:spPr>
          <a:xfrm>
            <a:off x="822960" y="3273552"/>
            <a:ext cx="3291840" cy="548640"/>
          </a:xfrm>
          <a:prstGeom prst="roundRect">
            <a:avLst>
              <a:gd name="adj" fmla="val 10000"/>
            </a:avLst>
          </a:prstGeom>
          <a:solidFill>
            <a:srgbClr val="132038"/>
          </a:solidFill>
          <a:ln/>
        </p:spPr>
      </p:sp>
      <p:sp>
        <p:nvSpPr>
          <p:cNvPr id="16" name="Text 14"/>
          <p:cNvSpPr txBox="1"/>
          <p:nvPr/>
        </p:nvSpPr>
        <p:spPr>
          <a:xfrm>
            <a:off x="960120" y="3273552"/>
            <a:ext cx="301752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age = 29</a:t>
            </a:r>
            <a:endParaRPr lang="en-US" sz="1250" dirty="0"/>
          </a:p>
        </p:txBody>
      </p:sp>
      <p:sp>
        <p:nvSpPr>
          <p:cNvPr id="17" name="Text 15"/>
          <p:cNvSpPr txBox="1"/>
          <p:nvPr/>
        </p:nvSpPr>
        <p:spPr>
          <a:xfrm>
            <a:off x="4480560" y="3154680"/>
            <a:ext cx="2560320" cy="777240"/>
          </a:xfrm>
          <a:prstGeom prst="rect">
            <a:avLst/>
          </a:prstGeom>
          <a:noFill/>
          <a:ln/>
        </p:spPr>
        <p:txBody>
          <a:bodyPr wrap="square" lIns="0" tIns="0" rIns="0" bIns="0" rtlCol="0" anchor="ctr"/>
          <a:lstStyle/>
          <a:p>
            <a:pPr indent="0" marL="0">
              <a:buNone/>
            </a:pPr>
            <a:r>
              <a:rPr lang="en-US" sz="1300" b="1" dirty="0">
                <a:solidFill>
                  <a:srgbClr val="306998"/>
                </a:solidFill>
                <a:latin typeface="Arial" pitchFamily="34" charset="0"/>
                <a:ea typeface="Arial" pitchFamily="34" charset="-122"/>
                <a:cs typeface="Arial" pitchFamily="34" charset="-120"/>
              </a:rPr>
              <a:t>int (whole number)</a:t>
            </a:r>
            <a:endParaRPr lang="en-US" sz="1300" dirty="0"/>
          </a:p>
        </p:txBody>
      </p:sp>
      <p:sp>
        <p:nvSpPr>
          <p:cNvPr id="18" name="Text 16"/>
          <p:cNvSpPr txBox="1"/>
          <p:nvPr/>
        </p:nvSpPr>
        <p:spPr>
          <a:xfrm>
            <a:off x="7223760" y="3154680"/>
            <a:ext cx="42062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number with no decimal point</a:t>
            </a:r>
            <a:endParaRPr lang="en-US" sz="1250" dirty="0"/>
          </a:p>
        </p:txBody>
      </p:sp>
      <p:sp>
        <p:nvSpPr>
          <p:cNvPr id="19" name="Shape 17"/>
          <p:cNvSpPr/>
          <p:nvPr/>
        </p:nvSpPr>
        <p:spPr>
          <a:xfrm>
            <a:off x="640080" y="3931920"/>
            <a:ext cx="10881360" cy="777240"/>
          </a:xfrm>
          <a:prstGeom prst="rect">
            <a:avLst/>
          </a:prstGeom>
          <a:solidFill>
            <a:srgbClr val="F4F6F9"/>
          </a:solidFill>
          <a:ln/>
        </p:spPr>
      </p:sp>
      <p:sp>
        <p:nvSpPr>
          <p:cNvPr id="20" name="Shape 18"/>
          <p:cNvSpPr/>
          <p:nvPr/>
        </p:nvSpPr>
        <p:spPr>
          <a:xfrm>
            <a:off x="822960" y="4050792"/>
            <a:ext cx="3291840" cy="548640"/>
          </a:xfrm>
          <a:prstGeom prst="roundRect">
            <a:avLst>
              <a:gd name="adj" fmla="val 10000"/>
            </a:avLst>
          </a:prstGeom>
          <a:solidFill>
            <a:srgbClr val="132038"/>
          </a:solidFill>
          <a:ln/>
        </p:spPr>
      </p:sp>
      <p:sp>
        <p:nvSpPr>
          <p:cNvPr id="21" name="Text 19"/>
          <p:cNvSpPr txBox="1"/>
          <p:nvPr/>
        </p:nvSpPr>
        <p:spPr>
          <a:xfrm>
            <a:off x="960120" y="4050792"/>
            <a:ext cx="301752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price = 19.99</a:t>
            </a:r>
            <a:endParaRPr lang="en-US" sz="1250" dirty="0"/>
          </a:p>
        </p:txBody>
      </p:sp>
      <p:sp>
        <p:nvSpPr>
          <p:cNvPr id="22" name="Text 20"/>
          <p:cNvSpPr txBox="1"/>
          <p:nvPr/>
        </p:nvSpPr>
        <p:spPr>
          <a:xfrm>
            <a:off x="4480560" y="3931920"/>
            <a:ext cx="2560320" cy="777240"/>
          </a:xfrm>
          <a:prstGeom prst="rect">
            <a:avLst/>
          </a:prstGeom>
          <a:noFill/>
          <a:ln/>
        </p:spPr>
        <p:txBody>
          <a:bodyPr wrap="square" lIns="0" tIns="0" rIns="0" bIns="0" rtlCol="0" anchor="ctr"/>
          <a:lstStyle/>
          <a:p>
            <a:pPr indent="0" marL="0">
              <a:buNone/>
            </a:pPr>
            <a:r>
              <a:rPr lang="en-US" sz="1300" b="1" dirty="0">
                <a:solidFill>
                  <a:srgbClr val="306998"/>
                </a:solidFill>
                <a:latin typeface="Arial" pitchFamily="34" charset="0"/>
                <a:ea typeface="Arial" pitchFamily="34" charset="-122"/>
                <a:cs typeface="Arial" pitchFamily="34" charset="-120"/>
              </a:rPr>
              <a:t>float (decimal)</a:t>
            </a:r>
            <a:endParaRPr lang="en-US" sz="1300" dirty="0"/>
          </a:p>
        </p:txBody>
      </p:sp>
      <p:sp>
        <p:nvSpPr>
          <p:cNvPr id="23" name="Text 21"/>
          <p:cNvSpPr txBox="1"/>
          <p:nvPr/>
        </p:nvSpPr>
        <p:spPr>
          <a:xfrm>
            <a:off x="7223760" y="3931920"/>
            <a:ext cx="42062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number with a decimal point</a:t>
            </a:r>
            <a:endParaRPr lang="en-US" sz="1250" dirty="0"/>
          </a:p>
        </p:txBody>
      </p:sp>
      <p:sp>
        <p:nvSpPr>
          <p:cNvPr id="24" name="Shape 22"/>
          <p:cNvSpPr/>
          <p:nvPr/>
        </p:nvSpPr>
        <p:spPr>
          <a:xfrm>
            <a:off x="822960" y="4828032"/>
            <a:ext cx="3291840" cy="548640"/>
          </a:xfrm>
          <a:prstGeom prst="roundRect">
            <a:avLst>
              <a:gd name="adj" fmla="val 10000"/>
            </a:avLst>
          </a:prstGeom>
          <a:solidFill>
            <a:srgbClr val="132038"/>
          </a:solidFill>
          <a:ln/>
        </p:spPr>
      </p:sp>
      <p:sp>
        <p:nvSpPr>
          <p:cNvPr id="25" name="Text 23"/>
          <p:cNvSpPr txBox="1"/>
          <p:nvPr/>
        </p:nvSpPr>
        <p:spPr>
          <a:xfrm>
            <a:off x="960120" y="4828032"/>
            <a:ext cx="301752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is_member = True</a:t>
            </a:r>
            <a:endParaRPr lang="en-US" sz="1250" dirty="0"/>
          </a:p>
        </p:txBody>
      </p:sp>
      <p:sp>
        <p:nvSpPr>
          <p:cNvPr id="26" name="Text 24"/>
          <p:cNvSpPr txBox="1"/>
          <p:nvPr/>
        </p:nvSpPr>
        <p:spPr>
          <a:xfrm>
            <a:off x="4480560" y="4709160"/>
            <a:ext cx="2560320" cy="777240"/>
          </a:xfrm>
          <a:prstGeom prst="rect">
            <a:avLst/>
          </a:prstGeom>
          <a:noFill/>
          <a:ln/>
        </p:spPr>
        <p:txBody>
          <a:bodyPr wrap="square" lIns="0" tIns="0" rIns="0" bIns="0" rtlCol="0" anchor="ctr"/>
          <a:lstStyle/>
          <a:p>
            <a:pPr indent="0" marL="0">
              <a:buNone/>
            </a:pPr>
            <a:r>
              <a:rPr lang="en-US" sz="1300" b="1" dirty="0">
                <a:solidFill>
                  <a:srgbClr val="306998"/>
                </a:solidFill>
                <a:latin typeface="Arial" pitchFamily="34" charset="0"/>
                <a:ea typeface="Arial" pitchFamily="34" charset="-122"/>
                <a:cs typeface="Arial" pitchFamily="34" charset="-120"/>
              </a:rPr>
              <a:t>bool (true/false)</a:t>
            </a:r>
            <a:endParaRPr lang="en-US" sz="1300" dirty="0"/>
          </a:p>
        </p:txBody>
      </p:sp>
      <p:sp>
        <p:nvSpPr>
          <p:cNvPr id="27" name="Text 25"/>
          <p:cNvSpPr txBox="1"/>
          <p:nvPr/>
        </p:nvSpPr>
        <p:spPr>
          <a:xfrm>
            <a:off x="7223760" y="4709160"/>
            <a:ext cx="42062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Only ever True or False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Your First Program</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Indentation is not optional</a:t>
            </a:r>
            <a:endParaRPr lang="en-US" sz="3200" dirty="0"/>
          </a:p>
        </p:txBody>
      </p:sp>
      <p:sp>
        <p:nvSpPr>
          <p:cNvPr id="6" name="Text 4"/>
          <p:cNvSpPr txBox="1"/>
          <p:nvPr/>
        </p:nvSpPr>
        <p:spPr>
          <a:xfrm>
            <a:off x="640080" y="1417320"/>
            <a:ext cx="10515600" cy="54864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Most languages use curly braces { } to group code. Python uses indentation (spaces) instead, so spacing is part of the syntax, not just style.</a:t>
            </a:r>
            <a:endParaRPr lang="en-US" sz="1400" dirty="0"/>
          </a:p>
        </p:txBody>
      </p:sp>
      <p:sp>
        <p:nvSpPr>
          <p:cNvPr id="7" name="Shape 5"/>
          <p:cNvSpPr/>
          <p:nvPr/>
        </p:nvSpPr>
        <p:spPr>
          <a:xfrm>
            <a:off x="640080" y="2148840"/>
            <a:ext cx="5212080" cy="3200400"/>
          </a:xfrm>
          <a:prstGeom prst="roundRect">
            <a:avLst>
              <a:gd name="adj" fmla="val 2571"/>
            </a:avLst>
          </a:prstGeom>
          <a:solidFill>
            <a:srgbClr val="F4F6F9"/>
          </a:solidFill>
          <a:ln/>
        </p:spPr>
      </p:sp>
      <p:sp>
        <p:nvSpPr>
          <p:cNvPr id="8" name="Shape 6"/>
          <p:cNvSpPr/>
          <p:nvPr/>
        </p:nvSpPr>
        <p:spPr>
          <a:xfrm>
            <a:off x="868680" y="2331720"/>
            <a:ext cx="502920" cy="502920"/>
          </a:xfrm>
          <a:prstGeom prst="ellipse">
            <a:avLst/>
          </a:prstGeom>
          <a:solidFill>
            <a:srgbClr val="2C5F2D"/>
          </a:solidFill>
          <a:ln/>
        </p:spPr>
      </p:sp>
      <p:pic>
        <p:nvPicPr>
          <p:cNvPr id="9" name="Image 0" descr="/tmp/claude-0/-home-user-pythonSEM-intro/a422a649-6240-52ae-9445-beabcf08c9b3/scratchpad/pyintro/icons/check.png">    </p:cNvPr>
          <p:cNvPicPr>
            <a:picLocks noChangeAspect="1"/>
          </p:cNvPicPr>
          <p:nvPr/>
        </p:nvPicPr>
        <p:blipFill>
          <a:blip r:embed="rId1"/>
          <a:stretch>
            <a:fillRect/>
          </a:stretch>
        </p:blipFill>
        <p:spPr>
          <a:xfrm>
            <a:off x="934060" y="2397100"/>
            <a:ext cx="372161" cy="372161"/>
          </a:xfrm>
          <a:prstGeom prst="rect">
            <a:avLst/>
          </a:prstGeom>
        </p:spPr>
      </p:pic>
      <p:sp>
        <p:nvSpPr>
          <p:cNvPr id="10" name="Text 7"/>
          <p:cNvSpPr txBox="1"/>
          <p:nvPr/>
        </p:nvSpPr>
        <p:spPr>
          <a:xfrm>
            <a:off x="1508760" y="2404872"/>
            <a:ext cx="4114800" cy="365760"/>
          </a:xfrm>
          <a:prstGeom prst="rect">
            <a:avLst/>
          </a:prstGeom>
          <a:noFill/>
          <a:ln/>
        </p:spPr>
        <p:txBody>
          <a:bodyPr wrap="square" lIns="0" tIns="0" rIns="0" bIns="0" rtlCol="0" anchor="ctr"/>
          <a:lstStyle/>
          <a:p>
            <a:pPr indent="0" marL="0">
              <a:buNone/>
            </a:pPr>
            <a:r>
              <a:rPr lang="en-US" sz="1500" b="1" dirty="0">
                <a:solidFill>
                  <a:srgbClr val="2C5F2D"/>
                </a:solidFill>
                <a:latin typeface="Arial" pitchFamily="34" charset="0"/>
                <a:ea typeface="Arial" pitchFamily="34" charset="-122"/>
                <a:cs typeface="Arial" pitchFamily="34" charset="-120"/>
              </a:rPr>
              <a:t>This works</a:t>
            </a:r>
            <a:endParaRPr lang="en-US" sz="1500" dirty="0"/>
          </a:p>
        </p:txBody>
      </p:sp>
      <p:sp>
        <p:nvSpPr>
          <p:cNvPr id="11" name="Shape 8"/>
          <p:cNvSpPr/>
          <p:nvPr/>
        </p:nvSpPr>
        <p:spPr>
          <a:xfrm>
            <a:off x="868680" y="2971800"/>
            <a:ext cx="4754880" cy="2194560"/>
          </a:xfrm>
          <a:prstGeom prst="roundRect">
            <a:avLst>
              <a:gd name="adj" fmla="val 3333"/>
            </a:avLst>
          </a:prstGeom>
          <a:solidFill>
            <a:srgbClr val="132038"/>
          </a:solidFill>
          <a:ln/>
        </p:spPr>
      </p:sp>
      <p:sp>
        <p:nvSpPr>
          <p:cNvPr id="12" name="Text 9"/>
          <p:cNvSpPr txBox="1"/>
          <p:nvPr/>
        </p:nvSpPr>
        <p:spPr>
          <a:xfrm>
            <a:off x="1188720" y="3172968"/>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age = 20</a:t>
            </a:r>
            <a:endParaRPr lang="en-US" sz="1500" dirty="0"/>
          </a:p>
        </p:txBody>
      </p:sp>
      <p:sp>
        <p:nvSpPr>
          <p:cNvPr id="13" name="Text 10"/>
          <p:cNvSpPr txBox="1"/>
          <p:nvPr/>
        </p:nvSpPr>
        <p:spPr>
          <a:xfrm>
            <a:off x="1188720" y="3557016"/>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if age &gt;= 18:</a:t>
            </a:r>
            <a:endParaRPr lang="en-US" sz="1500" dirty="0"/>
          </a:p>
        </p:txBody>
      </p:sp>
      <p:sp>
        <p:nvSpPr>
          <p:cNvPr id="14" name="Text 11"/>
          <p:cNvSpPr txBox="1"/>
          <p:nvPr/>
        </p:nvSpPr>
        <p:spPr>
          <a:xfrm>
            <a:off x="1188720" y="3941064"/>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print("You can vote")</a:t>
            </a:r>
            <a:endParaRPr lang="en-US" sz="1500" dirty="0"/>
          </a:p>
        </p:txBody>
      </p:sp>
      <p:sp>
        <p:nvSpPr>
          <p:cNvPr id="15" name="Text 12"/>
          <p:cNvSpPr txBox="1"/>
          <p:nvPr/>
        </p:nvSpPr>
        <p:spPr>
          <a:xfrm>
            <a:off x="1188720" y="4325112"/>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print("Welcome!")</a:t>
            </a:r>
            <a:endParaRPr lang="en-US" sz="1500" dirty="0"/>
          </a:p>
        </p:txBody>
      </p:sp>
      <p:sp>
        <p:nvSpPr>
          <p:cNvPr id="16" name="Shape 13"/>
          <p:cNvSpPr/>
          <p:nvPr/>
        </p:nvSpPr>
        <p:spPr>
          <a:xfrm>
            <a:off x="6126480" y="2148840"/>
            <a:ext cx="5422392" cy="3200400"/>
          </a:xfrm>
          <a:prstGeom prst="roundRect">
            <a:avLst>
              <a:gd name="adj" fmla="val 2571"/>
            </a:avLst>
          </a:prstGeom>
          <a:solidFill>
            <a:srgbClr val="F4F6F9"/>
          </a:solidFill>
          <a:ln/>
        </p:spPr>
      </p:sp>
      <p:sp>
        <p:nvSpPr>
          <p:cNvPr id="17" name="Shape 14"/>
          <p:cNvSpPr/>
          <p:nvPr/>
        </p:nvSpPr>
        <p:spPr>
          <a:xfrm>
            <a:off x="6355080" y="2331720"/>
            <a:ext cx="502920" cy="502920"/>
          </a:xfrm>
          <a:prstGeom prst="ellipse">
            <a:avLst/>
          </a:prstGeom>
          <a:solidFill>
            <a:srgbClr val="B03A2E"/>
          </a:solidFill>
          <a:ln/>
        </p:spPr>
      </p:sp>
      <p:pic>
        <p:nvPicPr>
          <p:cNvPr id="18" name="Image 1" descr="/tmp/claude-0/-home-user-pythonSEM-intro/a422a649-6240-52ae-9445-beabcf08c9b3/scratchpad/pyintro/icons/warning.png">    </p:cNvPr>
          <p:cNvPicPr>
            <a:picLocks noChangeAspect="1"/>
          </p:cNvPicPr>
          <p:nvPr/>
        </p:nvPicPr>
        <p:blipFill>
          <a:blip r:embed="rId2"/>
          <a:stretch>
            <a:fillRect/>
          </a:stretch>
        </p:blipFill>
        <p:spPr>
          <a:xfrm>
            <a:off x="6420460" y="2397100"/>
            <a:ext cx="372161" cy="372161"/>
          </a:xfrm>
          <a:prstGeom prst="rect">
            <a:avLst/>
          </a:prstGeom>
        </p:spPr>
      </p:pic>
      <p:sp>
        <p:nvSpPr>
          <p:cNvPr id="19" name="Text 15"/>
          <p:cNvSpPr txBox="1"/>
          <p:nvPr/>
        </p:nvSpPr>
        <p:spPr>
          <a:xfrm>
            <a:off x="6995160" y="2404872"/>
            <a:ext cx="4114800" cy="365760"/>
          </a:xfrm>
          <a:prstGeom prst="rect">
            <a:avLst/>
          </a:prstGeom>
          <a:noFill/>
          <a:ln/>
        </p:spPr>
        <p:txBody>
          <a:bodyPr wrap="square" lIns="0" tIns="0" rIns="0" bIns="0" rtlCol="0" anchor="ctr"/>
          <a:lstStyle/>
          <a:p>
            <a:pPr indent="0" marL="0">
              <a:buNone/>
            </a:pPr>
            <a:r>
              <a:rPr lang="en-US" sz="1500" b="1" dirty="0">
                <a:solidFill>
                  <a:srgbClr val="B03A2E"/>
                </a:solidFill>
                <a:latin typeface="Arial" pitchFamily="34" charset="0"/>
                <a:ea typeface="Arial" pitchFamily="34" charset="-122"/>
                <a:cs typeface="Arial" pitchFamily="34" charset="-120"/>
              </a:rPr>
              <a:t>This breaks</a:t>
            </a:r>
            <a:endParaRPr lang="en-US" sz="1500" dirty="0"/>
          </a:p>
        </p:txBody>
      </p:sp>
      <p:sp>
        <p:nvSpPr>
          <p:cNvPr id="20" name="Shape 16"/>
          <p:cNvSpPr/>
          <p:nvPr/>
        </p:nvSpPr>
        <p:spPr>
          <a:xfrm>
            <a:off x="6355080" y="2971800"/>
            <a:ext cx="4937760" cy="2194560"/>
          </a:xfrm>
          <a:prstGeom prst="roundRect">
            <a:avLst>
              <a:gd name="adj" fmla="val 3333"/>
            </a:avLst>
          </a:prstGeom>
          <a:solidFill>
            <a:srgbClr val="132038"/>
          </a:solidFill>
          <a:ln/>
        </p:spPr>
      </p:sp>
      <p:sp>
        <p:nvSpPr>
          <p:cNvPr id="21" name="Text 17"/>
          <p:cNvSpPr txBox="1"/>
          <p:nvPr/>
        </p:nvSpPr>
        <p:spPr>
          <a:xfrm>
            <a:off x="6675120" y="3172968"/>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age = 20</a:t>
            </a:r>
            <a:endParaRPr lang="en-US" sz="1500" dirty="0"/>
          </a:p>
        </p:txBody>
      </p:sp>
      <p:sp>
        <p:nvSpPr>
          <p:cNvPr id="22" name="Text 18"/>
          <p:cNvSpPr txBox="1"/>
          <p:nvPr/>
        </p:nvSpPr>
        <p:spPr>
          <a:xfrm>
            <a:off x="6675120" y="3557016"/>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if age &gt;= 18:</a:t>
            </a:r>
            <a:endParaRPr lang="en-US" sz="1500" dirty="0"/>
          </a:p>
        </p:txBody>
      </p:sp>
      <p:sp>
        <p:nvSpPr>
          <p:cNvPr id="23" name="Text 19"/>
          <p:cNvSpPr txBox="1"/>
          <p:nvPr/>
        </p:nvSpPr>
        <p:spPr>
          <a:xfrm>
            <a:off x="6675120" y="3941064"/>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print("You can vote")</a:t>
            </a:r>
            <a:endParaRPr lang="en-US" sz="1500" dirty="0"/>
          </a:p>
        </p:txBody>
      </p:sp>
      <p:sp>
        <p:nvSpPr>
          <p:cNvPr id="24" name="Text 20"/>
          <p:cNvSpPr txBox="1"/>
          <p:nvPr/>
        </p:nvSpPr>
        <p:spPr>
          <a:xfrm>
            <a:off x="6675120" y="4325112"/>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print("Welcome!")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pyintro/icons/rocket.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TRY IT YOURSELF</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Make it personal</a:t>
            </a:r>
            <a:endParaRPr lang="en-US" sz="2600" dirty="0"/>
          </a:p>
        </p:txBody>
      </p:sp>
      <p:sp>
        <p:nvSpPr>
          <p:cNvPr id="6" name="Shape 3"/>
          <p:cNvSpPr/>
          <p:nvPr/>
        </p:nvSpPr>
        <p:spPr>
          <a:xfrm>
            <a:off x="822960" y="1920240"/>
            <a:ext cx="10515600" cy="1280160"/>
          </a:xfrm>
          <a:prstGeom prst="roundRect">
            <a:avLst>
              <a:gd name="adj" fmla="val 5714"/>
            </a:avLst>
          </a:prstGeom>
          <a:solidFill>
            <a:srgbClr val="1B2A4A"/>
          </a:solidFill>
          <a:ln/>
        </p:spPr>
      </p:sp>
      <p:sp>
        <p:nvSpPr>
          <p:cNvPr id="7" name="Text 4"/>
          <p:cNvSpPr txBox="1"/>
          <p:nvPr/>
        </p:nvSpPr>
        <p:spPr>
          <a:xfrm>
            <a:off x="1097280" y="2103120"/>
            <a:ext cx="9966960" cy="914400"/>
          </a:xfrm>
          <a:prstGeom prst="rect">
            <a:avLst/>
          </a:prstGeom>
          <a:noFill/>
          <a:ln/>
        </p:spPr>
        <p:txBody>
          <a:bodyPr wrap="square" lIns="0" tIns="0" rIns="0" bIns="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name = </a:t>
            </a:r>
            <a:pPr indent="0" marL="0">
              <a:buNone/>
            </a:pPr>
            <a:r>
              <a:rPr lang="en-US" sz="1600" dirty="0">
                <a:solidFill>
                  <a:srgbClr val="FFD43B"/>
                </a:solidFill>
                <a:latin typeface="Courier New" pitchFamily="34" charset="0"/>
                <a:ea typeface="Courier New" pitchFamily="34" charset="-122"/>
                <a:cs typeface="Courier New" pitchFamily="34" charset="-120"/>
              </a:rPr>
              <a:t>"Your Name"</a:t>
            </a:r>
            <a:endParaRPr lang="en-US" sz="1600" dirty="0"/>
          </a:p>
          <a:p>
            <a:pPr indent="0" marL="0">
              <a:buNone/>
            </a:pPr>
            <a:r>
              <a:rPr lang="en-US" sz="1600" dirty="0">
                <a:solidFill>
                  <a:srgbClr val="6EC6FF"/>
                </a:solidFill>
                <a:latin typeface="Courier New" pitchFamily="34" charset="0"/>
                <a:ea typeface="Courier New" pitchFamily="34" charset="-122"/>
                <a:cs typeface="Courier New" pitchFamily="34" charset="-120"/>
              </a:rPr>
              <a:t>print</a:t>
            </a:r>
            <a:pPr indent="0" marL="0">
              <a:buNone/>
            </a:pPr>
            <a:r>
              <a:rPr lang="en-US" sz="1600" dirty="0">
                <a:solidFill>
                  <a:srgbClr val="FFFFFF"/>
                </a:solidFill>
                <a:latin typeface="Courier New" pitchFamily="34" charset="0"/>
                <a:ea typeface="Courier New" pitchFamily="34" charset="-122"/>
                <a:cs typeface="Courier New" pitchFamily="34" charset="-120"/>
              </a:rPr>
              <a:t>(</a:t>
            </a:r>
            <a:pPr indent="0" marL="0">
              <a:buNone/>
            </a:pPr>
            <a:r>
              <a:rPr lang="en-US" sz="1600" dirty="0">
                <a:solidFill>
                  <a:srgbClr val="FFD43B"/>
                </a:solidFill>
                <a:latin typeface="Courier New" pitchFamily="34" charset="0"/>
                <a:ea typeface="Courier New" pitchFamily="34" charset="-122"/>
                <a:cs typeface="Courier New" pitchFamily="34" charset="-120"/>
              </a:rPr>
              <a:t>"Hi, I am learning Python, " </a:t>
            </a:r>
            <a:pPr indent="0" marL="0">
              <a:buNone/>
            </a:pPr>
            <a:r>
              <a:rPr lang="en-US" sz="1600" dirty="0">
                <a:solidFill>
                  <a:srgbClr val="FFFFFF"/>
                </a:solidFill>
                <a:latin typeface="Courier New" pitchFamily="34" charset="0"/>
                <a:ea typeface="Courier New" pitchFamily="34" charset="-122"/>
                <a:cs typeface="Courier New" pitchFamily="34" charset="-120"/>
              </a:rPr>
              <a:t>+ name)</a:t>
            </a:r>
            <a:endParaRPr lang="en-US" sz="1600" dirty="0"/>
          </a:p>
        </p:txBody>
      </p:sp>
      <p:sp>
        <p:nvSpPr>
          <p:cNvPr id="8" name="Shape 5"/>
          <p:cNvSpPr/>
          <p:nvPr/>
        </p:nvSpPr>
        <p:spPr>
          <a:xfrm>
            <a:off x="822960" y="3520440"/>
            <a:ext cx="411480" cy="411480"/>
          </a:xfrm>
          <a:prstGeom prst="ellipse">
            <a:avLst/>
          </a:prstGeom>
          <a:solidFill>
            <a:srgbClr val="306998"/>
          </a:solidFill>
          <a:ln/>
        </p:spPr>
      </p:sp>
      <p:sp>
        <p:nvSpPr>
          <p:cNvPr id="9" name="Text 6"/>
          <p:cNvSpPr txBox="1"/>
          <p:nvPr/>
        </p:nvSpPr>
        <p:spPr>
          <a:xfrm>
            <a:off x="822960" y="3520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1371600" y="3493008"/>
            <a:ext cx="9875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Open your editor and create a new file called intro.py</a:t>
            </a:r>
            <a:endParaRPr lang="en-US" sz="1400" dirty="0"/>
          </a:p>
        </p:txBody>
      </p:sp>
      <p:sp>
        <p:nvSpPr>
          <p:cNvPr id="11" name="Shape 8"/>
          <p:cNvSpPr/>
          <p:nvPr/>
        </p:nvSpPr>
        <p:spPr>
          <a:xfrm>
            <a:off x="822960" y="4087368"/>
            <a:ext cx="411480" cy="411480"/>
          </a:xfrm>
          <a:prstGeom prst="ellipse">
            <a:avLst/>
          </a:prstGeom>
          <a:solidFill>
            <a:srgbClr val="306998"/>
          </a:solidFill>
          <a:ln/>
        </p:spPr>
      </p:sp>
      <p:sp>
        <p:nvSpPr>
          <p:cNvPr id="12" name="Text 9"/>
          <p:cNvSpPr txBox="1"/>
          <p:nvPr/>
        </p:nvSpPr>
        <p:spPr>
          <a:xfrm>
            <a:off x="822960" y="40873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1371600" y="4059936"/>
            <a:ext cx="9875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Type the two lines above, swapping in your own name</a:t>
            </a:r>
            <a:endParaRPr lang="en-US" sz="1400" dirty="0"/>
          </a:p>
        </p:txBody>
      </p:sp>
      <p:sp>
        <p:nvSpPr>
          <p:cNvPr id="14" name="Shape 11"/>
          <p:cNvSpPr/>
          <p:nvPr/>
        </p:nvSpPr>
        <p:spPr>
          <a:xfrm>
            <a:off x="822960" y="4654296"/>
            <a:ext cx="411480" cy="411480"/>
          </a:xfrm>
          <a:prstGeom prst="ellipse">
            <a:avLst/>
          </a:prstGeom>
          <a:solidFill>
            <a:srgbClr val="306998"/>
          </a:solidFill>
          <a:ln/>
        </p:spPr>
      </p:sp>
      <p:sp>
        <p:nvSpPr>
          <p:cNvPr id="15" name="Text 12"/>
          <p:cNvSpPr txBox="1"/>
          <p:nvPr/>
        </p:nvSpPr>
        <p:spPr>
          <a:xfrm>
            <a:off x="82296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3"/>
          <p:cNvSpPr txBox="1"/>
          <p:nvPr/>
        </p:nvSpPr>
        <p:spPr>
          <a:xfrm>
            <a:off x="1371600" y="4626864"/>
            <a:ext cx="9875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Run it: python intro.py, and check the message prints correctly</a:t>
            </a:r>
            <a:endParaRPr lang="en-US" sz="1400" dirty="0"/>
          </a:p>
        </p:txBody>
      </p:sp>
      <p:sp>
        <p:nvSpPr>
          <p:cNvPr id="17" name="Text 14"/>
          <p:cNvSpPr txBox="1"/>
          <p:nvPr/>
        </p:nvSpPr>
        <p:spPr>
          <a:xfrm>
            <a:off x="822960" y="557784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Bonus: can you print a second line that shows your favorite number?</a:t>
            </a:r>
            <a:endParaRPr lang="en-US" sz="1250" dirty="0"/>
          </a:p>
        </p:txBody>
      </p:sp>
      <p:sp>
        <p:nvSpPr>
          <p:cNvPr id="18" name="Text 1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3 · Your First Program</a:t>
            </a:r>
            <a:endParaRPr lang="en-US" sz="1000" dirty="0"/>
          </a:p>
        </p:txBody>
      </p:sp>
      <p:sp>
        <p:nvSpPr>
          <p:cNvPr id="19" name="Text 1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4</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Libraries and Modules</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The real reason Python moves fast: you rarely start from a blank page.</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book.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4</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Libraries and Modules</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22</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is a library?</a:t>
            </a:r>
            <a:endParaRPr lang="en-US" sz="3200" dirty="0"/>
          </a:p>
        </p:txBody>
      </p:sp>
      <p:sp>
        <p:nvSpPr>
          <p:cNvPr id="6" name="Text 4"/>
          <p:cNvSpPr txBox="1"/>
          <p:nvPr/>
        </p:nvSpPr>
        <p:spPr>
          <a:xfrm>
            <a:off x="640080" y="1417320"/>
            <a:ext cx="6035040" cy="8229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library (or module) is a collection of pre-written code that solves a common problem, so you don't have to write it yourself.</a:t>
            </a:r>
            <a:endParaRPr lang="en-US" sz="1500" dirty="0"/>
          </a:p>
        </p:txBody>
      </p:sp>
      <p:sp>
        <p:nvSpPr>
          <p:cNvPr id="7" name="Text 5"/>
          <p:cNvSpPr txBox="1"/>
          <p:nvPr/>
        </p:nvSpPr>
        <p:spPr>
          <a:xfrm>
            <a:off x="640080" y="2331720"/>
            <a:ext cx="6035040" cy="164592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Think of it like a toolbox. If you need to hammer a nail, you don't forge your own hammer first, you reach for one that already exists. Libraries are the same idea for code: someone already solved the problem, tested it, and packaged it up for anyone to use.</a:t>
            </a:r>
            <a:endParaRPr lang="en-US" sz="1350" dirty="0"/>
          </a:p>
        </p:txBody>
      </p:sp>
      <p:sp>
        <p:nvSpPr>
          <p:cNvPr id="8" name="Shape 6"/>
          <p:cNvSpPr/>
          <p:nvPr/>
        </p:nvSpPr>
        <p:spPr>
          <a:xfrm>
            <a:off x="640080" y="4160520"/>
            <a:ext cx="6035040" cy="868680"/>
          </a:xfrm>
          <a:prstGeom prst="roundRect">
            <a:avLst>
              <a:gd name="adj" fmla="val 8421"/>
            </a:avLst>
          </a:prstGeom>
          <a:solidFill>
            <a:srgbClr val="F4F6F9"/>
          </a:solidFill>
          <a:ln/>
        </p:spPr>
      </p:sp>
      <p:sp>
        <p:nvSpPr>
          <p:cNvPr id="9" name="Shape 7"/>
          <p:cNvSpPr/>
          <p:nvPr/>
        </p:nvSpPr>
        <p:spPr>
          <a:xfrm>
            <a:off x="822960" y="4315968"/>
            <a:ext cx="548640" cy="548640"/>
          </a:xfrm>
          <a:prstGeom prst="ellipse">
            <a:avLst/>
          </a:prstGeom>
          <a:solidFill>
            <a:srgbClr val="FFD43B"/>
          </a:solidFill>
          <a:ln/>
        </p:spPr>
      </p:sp>
      <p:pic>
        <p:nvPicPr>
          <p:cNvPr id="10" name="Image 0" descr="/tmp/claude-0/-home-user-pythonSEM-intro/a422a649-6240-52ae-9445-beabcf08c9b3/scratchpad/pyintro/icons/lightbulb.png">    </p:cNvPr>
          <p:cNvPicPr>
            <a:picLocks noChangeAspect="1"/>
          </p:cNvPicPr>
          <p:nvPr/>
        </p:nvPicPr>
        <p:blipFill>
          <a:blip r:embed="rId1"/>
          <a:stretch>
            <a:fillRect/>
          </a:stretch>
        </p:blipFill>
        <p:spPr>
          <a:xfrm>
            <a:off x="894283" y="4387291"/>
            <a:ext cx="405994" cy="405994"/>
          </a:xfrm>
          <a:prstGeom prst="rect">
            <a:avLst/>
          </a:prstGeom>
        </p:spPr>
      </p:pic>
      <p:sp>
        <p:nvSpPr>
          <p:cNvPr id="11" name="Text 8"/>
          <p:cNvSpPr txBox="1"/>
          <p:nvPr/>
        </p:nvSpPr>
        <p:spPr>
          <a:xfrm>
            <a:off x="1508760" y="4160520"/>
            <a:ext cx="5029200" cy="86868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You import a library once at the top of your file, then use everything inside it.</a:t>
            </a:r>
            <a:endParaRPr lang="en-US" sz="1250" dirty="0"/>
          </a:p>
        </p:txBody>
      </p:sp>
      <p:sp>
        <p:nvSpPr>
          <p:cNvPr id="12" name="Shape 9"/>
          <p:cNvSpPr/>
          <p:nvPr/>
        </p:nvSpPr>
        <p:spPr>
          <a:xfrm>
            <a:off x="7040880" y="1417320"/>
            <a:ext cx="4480560" cy="3611880"/>
          </a:xfrm>
          <a:prstGeom prst="roundRect">
            <a:avLst>
              <a:gd name="adj" fmla="val 2278"/>
            </a:avLst>
          </a:prstGeom>
          <a:solidFill>
            <a:srgbClr val="132038"/>
          </a:solidFill>
          <a:ln/>
        </p:spPr>
      </p:sp>
      <p:sp>
        <p:nvSpPr>
          <p:cNvPr id="13" name="Text 10"/>
          <p:cNvSpPr txBox="1"/>
          <p:nvPr/>
        </p:nvSpPr>
        <p:spPr>
          <a:xfrm>
            <a:off x="7315200" y="1645920"/>
            <a:ext cx="3931920" cy="320040"/>
          </a:xfrm>
          <a:prstGeom prst="rect">
            <a:avLst/>
          </a:prstGeom>
          <a:noFill/>
          <a:ln/>
        </p:spPr>
        <p:txBody>
          <a:bodyPr wrap="square" lIns="0" tIns="0" rIns="0" bIns="0" rtlCol="0" anchor="ctr"/>
          <a:lstStyle/>
          <a:p>
            <a:pPr indent="0" marL="0">
              <a:buNone/>
            </a:pPr>
            <a:r>
              <a:rPr lang="en-US" sz="1300" b="1" dirty="0">
                <a:solidFill>
                  <a:srgbClr val="AEB9CC"/>
                </a:solidFill>
                <a:latin typeface="Arial" pitchFamily="34" charset="0"/>
                <a:ea typeface="Arial" pitchFamily="34" charset="-122"/>
                <a:cs typeface="Arial" pitchFamily="34" charset="-120"/>
              </a:rPr>
              <a:t>Without a library</a:t>
            </a:r>
            <a:endParaRPr lang="en-US" sz="1300" dirty="0"/>
          </a:p>
        </p:txBody>
      </p:sp>
      <p:sp>
        <p:nvSpPr>
          <p:cNvPr id="14" name="Text 11"/>
          <p:cNvSpPr txBox="1"/>
          <p:nvPr/>
        </p:nvSpPr>
        <p:spPr>
          <a:xfrm>
            <a:off x="7315200" y="2029968"/>
            <a:ext cx="3931920" cy="914400"/>
          </a:xfrm>
          <a:prstGeom prst="rect">
            <a:avLst/>
          </a:prstGeom>
          <a:noFill/>
          <a:ln/>
        </p:spPr>
        <p:txBody>
          <a:bodyPr wrap="square" lIns="0" tIns="0" rIns="0" bIns="0" rtlCol="0" anchor="ctr"/>
          <a:lstStyle/>
          <a:p>
            <a:pPr indent="0" marL="0">
              <a:buNone/>
            </a:pPr>
            <a:r>
              <a:rPr lang="en-US" sz="1250" i="1" dirty="0">
                <a:solidFill>
                  <a:srgbClr val="C9D3E0"/>
                </a:solidFill>
                <a:latin typeface="Calibri" pitchFamily="34" charset="0"/>
                <a:ea typeface="Calibri" pitchFamily="34" charset="-122"/>
                <a:cs typeface="Calibri" pitchFamily="34" charset="-120"/>
              </a:rPr>
              <a:t>Writing this from scratch takes dozens of lines of math you would need to test yourself.</a:t>
            </a:r>
            <a:endParaRPr lang="en-US" sz="1250" dirty="0"/>
          </a:p>
        </p:txBody>
      </p:sp>
      <p:sp>
        <p:nvSpPr>
          <p:cNvPr id="15" name="Text 12"/>
          <p:cNvSpPr txBox="1"/>
          <p:nvPr/>
        </p:nvSpPr>
        <p:spPr>
          <a:xfrm>
            <a:off x="7315200" y="3017520"/>
            <a:ext cx="3931920" cy="320040"/>
          </a:xfrm>
          <a:prstGeom prst="rect">
            <a:avLst/>
          </a:prstGeom>
          <a:noFill/>
          <a:ln/>
        </p:spPr>
        <p:txBody>
          <a:bodyPr wrap="square" lIns="0" tIns="0" rIns="0" bIns="0" rtlCol="0" anchor="ctr"/>
          <a:lstStyle/>
          <a:p>
            <a:pPr indent="0" marL="0">
              <a:buNone/>
            </a:pPr>
            <a:r>
              <a:rPr lang="en-US" sz="1300" b="1" dirty="0">
                <a:solidFill>
                  <a:srgbClr val="FFD43B"/>
                </a:solidFill>
                <a:latin typeface="Arial" pitchFamily="34" charset="0"/>
                <a:ea typeface="Arial" pitchFamily="34" charset="-122"/>
                <a:cs typeface="Arial" pitchFamily="34" charset="-120"/>
              </a:rPr>
              <a:t>With a library</a:t>
            </a:r>
            <a:endParaRPr lang="en-US" sz="1300" dirty="0"/>
          </a:p>
        </p:txBody>
      </p:sp>
      <p:sp>
        <p:nvSpPr>
          <p:cNvPr id="16" name="Shape 13"/>
          <p:cNvSpPr/>
          <p:nvPr/>
        </p:nvSpPr>
        <p:spPr>
          <a:xfrm>
            <a:off x="7315200" y="3383280"/>
            <a:ext cx="3931920" cy="1554480"/>
          </a:xfrm>
          <a:prstGeom prst="roundRect">
            <a:avLst>
              <a:gd name="adj" fmla="val 4706"/>
            </a:avLst>
          </a:prstGeom>
          <a:solidFill>
            <a:srgbClr val="132038"/>
          </a:solidFill>
          <a:ln/>
        </p:spPr>
      </p:sp>
      <p:sp>
        <p:nvSpPr>
          <p:cNvPr id="17" name="Text 14"/>
          <p:cNvSpPr txBox="1"/>
          <p:nvPr/>
        </p:nvSpPr>
        <p:spPr>
          <a:xfrm>
            <a:off x="7635240" y="3584448"/>
            <a:ext cx="33832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import math</a:t>
            </a:r>
            <a:endParaRPr lang="en-US" sz="1500" dirty="0"/>
          </a:p>
        </p:txBody>
      </p:sp>
      <p:sp>
        <p:nvSpPr>
          <p:cNvPr id="18" name="Text 15"/>
          <p:cNvSpPr txBox="1"/>
          <p:nvPr/>
        </p:nvSpPr>
        <p:spPr>
          <a:xfrm>
            <a:off x="7635240" y="3968496"/>
            <a:ext cx="33832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math.sqrt(64)</a:t>
            </a:r>
            <a:endParaRPr lang="en-US" sz="1500" dirty="0"/>
          </a:p>
        </p:txBody>
      </p:sp>
      <p:sp>
        <p:nvSpPr>
          <p:cNvPr id="19" name="Text 16"/>
          <p:cNvSpPr txBox="1"/>
          <p:nvPr/>
        </p:nvSpPr>
        <p:spPr>
          <a:xfrm>
            <a:off x="7635240" y="4352544"/>
            <a:ext cx="33832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8.0, done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Libraries and Modules</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23</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Built-in vs. installed libraries</a:t>
            </a:r>
            <a:endParaRPr lang="en-US" sz="3200" dirty="0"/>
          </a:p>
        </p:txBody>
      </p:sp>
      <p:sp>
        <p:nvSpPr>
          <p:cNvPr id="6" name="Shape 4"/>
          <p:cNvSpPr/>
          <p:nvPr/>
        </p:nvSpPr>
        <p:spPr>
          <a:xfrm>
            <a:off x="640080" y="1554480"/>
            <a:ext cx="5120640" cy="3931920"/>
          </a:xfrm>
          <a:prstGeom prst="roundRect">
            <a:avLst>
              <a:gd name="adj" fmla="val 2093"/>
            </a:avLst>
          </a:prstGeom>
          <a:solidFill>
            <a:srgbClr val="F4F6F9"/>
          </a:solidFill>
          <a:ln/>
        </p:spPr>
      </p:sp>
      <p:sp>
        <p:nvSpPr>
          <p:cNvPr id="7" name="Shape 5"/>
          <p:cNvSpPr/>
          <p:nvPr/>
        </p:nvSpPr>
        <p:spPr>
          <a:xfrm>
            <a:off x="914400" y="1828800"/>
            <a:ext cx="640080" cy="640080"/>
          </a:xfrm>
          <a:prstGeom prst="ellipse">
            <a:avLst/>
          </a:prstGeom>
          <a:solidFill>
            <a:srgbClr val="2C5F2D"/>
          </a:solidFill>
          <a:ln/>
        </p:spPr>
      </p:sp>
      <p:pic>
        <p:nvPicPr>
          <p:cNvPr id="8" name="Image 0" descr="/tmp/claude-0/-home-user-pythonSEM-intro/a422a649-6240-52ae-9445-beabcf08c9b3/scratchpad/pyintro/icons/check.png">    </p:cNvPr>
          <p:cNvPicPr>
            <a:picLocks noChangeAspect="1"/>
          </p:cNvPicPr>
          <p:nvPr/>
        </p:nvPicPr>
        <p:blipFill>
          <a:blip r:embed="rId1"/>
          <a:stretch>
            <a:fillRect/>
          </a:stretch>
        </p:blipFill>
        <p:spPr>
          <a:xfrm>
            <a:off x="997610" y="1912010"/>
            <a:ext cx="473659" cy="473659"/>
          </a:xfrm>
          <a:prstGeom prst="rect">
            <a:avLst/>
          </a:prstGeom>
        </p:spPr>
      </p:pic>
      <p:sp>
        <p:nvSpPr>
          <p:cNvPr id="9" name="Text 6"/>
          <p:cNvSpPr txBox="1"/>
          <p:nvPr/>
        </p:nvSpPr>
        <p:spPr>
          <a:xfrm>
            <a:off x="1691640" y="1920240"/>
            <a:ext cx="3840480"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Standard library</a:t>
            </a:r>
            <a:endParaRPr lang="en-US" sz="1700" dirty="0"/>
          </a:p>
        </p:txBody>
      </p:sp>
      <p:sp>
        <p:nvSpPr>
          <p:cNvPr id="10" name="Text 7"/>
          <p:cNvSpPr txBox="1"/>
          <p:nvPr/>
        </p:nvSpPr>
        <p:spPr>
          <a:xfrm>
            <a:off x="914400" y="2651760"/>
            <a:ext cx="4572000" cy="5029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Comes bundled with Python. No installation needed, just import it.</a:t>
            </a:r>
            <a:endParaRPr lang="en-US" sz="1250" dirty="0"/>
          </a:p>
        </p:txBody>
      </p:sp>
      <p:sp>
        <p:nvSpPr>
          <p:cNvPr id="11" name="Shape 8"/>
          <p:cNvSpPr/>
          <p:nvPr/>
        </p:nvSpPr>
        <p:spPr>
          <a:xfrm>
            <a:off x="914400" y="3246120"/>
            <a:ext cx="4572000" cy="1371600"/>
          </a:xfrm>
          <a:prstGeom prst="roundRect">
            <a:avLst>
              <a:gd name="adj" fmla="val 5333"/>
            </a:avLst>
          </a:prstGeom>
          <a:solidFill>
            <a:srgbClr val="132038"/>
          </a:solidFill>
          <a:ln/>
        </p:spPr>
      </p:sp>
      <p:sp>
        <p:nvSpPr>
          <p:cNvPr id="12" name="Text 9"/>
          <p:cNvSpPr txBox="1"/>
          <p:nvPr/>
        </p:nvSpPr>
        <p:spPr>
          <a:xfrm>
            <a:off x="1234440" y="3447288"/>
            <a:ext cx="402336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import math</a:t>
            </a:r>
            <a:endParaRPr lang="en-US" sz="1500" dirty="0"/>
          </a:p>
        </p:txBody>
      </p:sp>
      <p:sp>
        <p:nvSpPr>
          <p:cNvPr id="13" name="Text 10"/>
          <p:cNvSpPr txBox="1"/>
          <p:nvPr/>
        </p:nvSpPr>
        <p:spPr>
          <a:xfrm>
            <a:off x="1234440" y="3831336"/>
            <a:ext cx="402336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import random</a:t>
            </a:r>
            <a:endParaRPr lang="en-US" sz="1500" dirty="0"/>
          </a:p>
        </p:txBody>
      </p:sp>
      <p:sp>
        <p:nvSpPr>
          <p:cNvPr id="14" name="Text 11"/>
          <p:cNvSpPr txBox="1"/>
          <p:nvPr/>
        </p:nvSpPr>
        <p:spPr>
          <a:xfrm>
            <a:off x="1234440" y="4215384"/>
            <a:ext cx="402336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import datetime</a:t>
            </a:r>
            <a:endParaRPr lang="en-US" sz="1500" dirty="0"/>
          </a:p>
        </p:txBody>
      </p:sp>
      <p:sp>
        <p:nvSpPr>
          <p:cNvPr id="15" name="Text 12"/>
          <p:cNvSpPr txBox="1"/>
          <p:nvPr/>
        </p:nvSpPr>
        <p:spPr>
          <a:xfrm>
            <a:off x="914400" y="4754880"/>
            <a:ext cx="4572000" cy="6400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Examples: math for calculations, random for randomness, datetime for dates and times.</a:t>
            </a:r>
            <a:endParaRPr lang="en-US" sz="1150" dirty="0"/>
          </a:p>
        </p:txBody>
      </p:sp>
      <p:sp>
        <p:nvSpPr>
          <p:cNvPr id="16" name="Shape 13"/>
          <p:cNvSpPr/>
          <p:nvPr/>
        </p:nvSpPr>
        <p:spPr>
          <a:xfrm>
            <a:off x="6035040" y="1554480"/>
            <a:ext cx="5513832" cy="3931920"/>
          </a:xfrm>
          <a:prstGeom prst="roundRect">
            <a:avLst>
              <a:gd name="adj" fmla="val 2093"/>
            </a:avLst>
          </a:prstGeom>
          <a:solidFill>
            <a:srgbClr val="F4F6F9"/>
          </a:solidFill>
          <a:ln/>
        </p:spPr>
      </p:sp>
      <p:sp>
        <p:nvSpPr>
          <p:cNvPr id="17" name="Shape 14"/>
          <p:cNvSpPr/>
          <p:nvPr/>
        </p:nvSpPr>
        <p:spPr>
          <a:xfrm>
            <a:off x="6309360" y="1828800"/>
            <a:ext cx="640080" cy="640080"/>
          </a:xfrm>
          <a:prstGeom prst="ellipse">
            <a:avLst/>
          </a:prstGeom>
          <a:solidFill>
            <a:srgbClr val="306998"/>
          </a:solidFill>
          <a:ln/>
        </p:spPr>
      </p:sp>
      <p:pic>
        <p:nvPicPr>
          <p:cNvPr id="18" name="Image 1" descr="/tmp/claude-0/-home-user-pythonSEM-intro/a422a649-6240-52ae-9445-beabcf08c9b3/scratchpad/pyintro/icons/download.png">    </p:cNvPr>
          <p:cNvPicPr>
            <a:picLocks noChangeAspect="1"/>
          </p:cNvPicPr>
          <p:nvPr/>
        </p:nvPicPr>
        <p:blipFill>
          <a:blip r:embed="rId2"/>
          <a:stretch>
            <a:fillRect/>
          </a:stretch>
        </p:blipFill>
        <p:spPr>
          <a:xfrm>
            <a:off x="6392570" y="1912010"/>
            <a:ext cx="473659" cy="473659"/>
          </a:xfrm>
          <a:prstGeom prst="rect">
            <a:avLst/>
          </a:prstGeom>
        </p:spPr>
      </p:pic>
      <p:sp>
        <p:nvSpPr>
          <p:cNvPr id="19" name="Text 15"/>
          <p:cNvSpPr txBox="1"/>
          <p:nvPr/>
        </p:nvSpPr>
        <p:spPr>
          <a:xfrm>
            <a:off x="7086600" y="1920240"/>
            <a:ext cx="4233672"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Third-party libraries</a:t>
            </a:r>
            <a:endParaRPr lang="en-US" sz="1700" dirty="0"/>
          </a:p>
        </p:txBody>
      </p:sp>
      <p:sp>
        <p:nvSpPr>
          <p:cNvPr id="20" name="Text 16"/>
          <p:cNvSpPr txBox="1"/>
          <p:nvPr/>
        </p:nvSpPr>
        <p:spPr>
          <a:xfrm>
            <a:off x="6309360" y="2651760"/>
            <a:ext cx="4965192" cy="5029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Written by the community. Install once with pip, Python's built-in package manager:</a:t>
            </a:r>
            <a:endParaRPr lang="en-US" sz="1250" dirty="0"/>
          </a:p>
        </p:txBody>
      </p:sp>
      <p:sp>
        <p:nvSpPr>
          <p:cNvPr id="21" name="Shape 17"/>
          <p:cNvSpPr/>
          <p:nvPr/>
        </p:nvSpPr>
        <p:spPr>
          <a:xfrm>
            <a:off x="6309360" y="3246120"/>
            <a:ext cx="4965192" cy="594360"/>
          </a:xfrm>
          <a:prstGeom prst="roundRect">
            <a:avLst>
              <a:gd name="adj" fmla="val 12308"/>
            </a:avLst>
          </a:prstGeom>
          <a:solidFill>
            <a:srgbClr val="132038"/>
          </a:solidFill>
          <a:ln/>
        </p:spPr>
      </p:sp>
      <p:sp>
        <p:nvSpPr>
          <p:cNvPr id="22" name="Text 18"/>
          <p:cNvSpPr txBox="1"/>
          <p:nvPr/>
        </p:nvSpPr>
        <p:spPr>
          <a:xfrm>
            <a:off x="6629400" y="3447288"/>
            <a:ext cx="4416552"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pip install requests</a:t>
            </a:r>
            <a:endParaRPr lang="en-US" sz="1500" dirty="0"/>
          </a:p>
        </p:txBody>
      </p:sp>
      <p:sp>
        <p:nvSpPr>
          <p:cNvPr id="23" name="Text 19"/>
          <p:cNvSpPr txBox="1"/>
          <p:nvPr/>
        </p:nvSpPr>
        <p:spPr>
          <a:xfrm>
            <a:off x="6309360" y="3977640"/>
            <a:ext cx="4965192"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Then use it in any script:</a:t>
            </a:r>
            <a:endParaRPr lang="en-US" sz="1250" dirty="0"/>
          </a:p>
        </p:txBody>
      </p:sp>
      <p:sp>
        <p:nvSpPr>
          <p:cNvPr id="24" name="Shape 20"/>
          <p:cNvSpPr/>
          <p:nvPr/>
        </p:nvSpPr>
        <p:spPr>
          <a:xfrm>
            <a:off x="6309360" y="4297680"/>
            <a:ext cx="4965192" cy="594360"/>
          </a:xfrm>
          <a:prstGeom prst="roundRect">
            <a:avLst>
              <a:gd name="adj" fmla="val 12308"/>
            </a:avLst>
          </a:prstGeom>
          <a:solidFill>
            <a:srgbClr val="132038"/>
          </a:solidFill>
          <a:ln/>
        </p:spPr>
      </p:sp>
      <p:sp>
        <p:nvSpPr>
          <p:cNvPr id="25" name="Text 21"/>
          <p:cNvSpPr txBox="1"/>
          <p:nvPr/>
        </p:nvSpPr>
        <p:spPr>
          <a:xfrm>
            <a:off x="6629400" y="4498848"/>
            <a:ext cx="4416552"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import requests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Libraries and Modules</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24</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A few libraries you will hear about</a:t>
            </a:r>
            <a:endParaRPr lang="en-US" sz="3200" dirty="0"/>
          </a:p>
        </p:txBody>
      </p:sp>
      <p:sp>
        <p:nvSpPr>
          <p:cNvPr id="6" name="Shape 4"/>
          <p:cNvSpPr/>
          <p:nvPr/>
        </p:nvSpPr>
        <p:spPr>
          <a:xfrm>
            <a:off x="640080" y="1600200"/>
            <a:ext cx="3429000" cy="1828800"/>
          </a:xfrm>
          <a:prstGeom prst="roundRect">
            <a:avLst>
              <a:gd name="adj" fmla="val 4500"/>
            </a:avLst>
          </a:prstGeom>
          <a:solidFill>
            <a:srgbClr val="F4F6F9"/>
          </a:solidFill>
          <a:ln/>
        </p:spPr>
      </p:sp>
      <p:sp>
        <p:nvSpPr>
          <p:cNvPr id="7" name="Shape 5"/>
          <p:cNvSpPr/>
          <p:nvPr/>
        </p:nvSpPr>
        <p:spPr>
          <a:xfrm>
            <a:off x="896112" y="1856232"/>
            <a:ext cx="594360" cy="594360"/>
          </a:xfrm>
          <a:prstGeom prst="ellipse">
            <a:avLst/>
          </a:prstGeom>
          <a:solidFill>
            <a:srgbClr val="306998"/>
          </a:solidFill>
          <a:ln/>
        </p:spPr>
      </p:sp>
      <p:pic>
        <p:nvPicPr>
          <p:cNvPr id="8" name="Image 0" descr="/tmp/claude-0/-home-user-pythonSEM-intro/a422a649-6240-52ae-9445-beabcf08c9b3/scratchpad/pyintro/icons/chart.png">    </p:cNvPr>
          <p:cNvPicPr>
            <a:picLocks noChangeAspect="1"/>
          </p:cNvPicPr>
          <p:nvPr/>
        </p:nvPicPr>
        <p:blipFill>
          <a:blip r:embed="rId1"/>
          <a:stretch>
            <a:fillRect/>
          </a:stretch>
        </p:blipFill>
        <p:spPr>
          <a:xfrm>
            <a:off x="973379" y="1933499"/>
            <a:ext cx="439826" cy="439826"/>
          </a:xfrm>
          <a:prstGeom prst="rect">
            <a:avLst/>
          </a:prstGeom>
        </p:spPr>
      </p:pic>
      <p:sp>
        <p:nvSpPr>
          <p:cNvPr id="9" name="Text 6"/>
          <p:cNvSpPr txBox="1"/>
          <p:nvPr/>
        </p:nvSpPr>
        <p:spPr>
          <a:xfrm>
            <a:off x="896112" y="25603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NumPy &amp; Pandas</a:t>
            </a:r>
            <a:endParaRPr lang="en-US" sz="1400" dirty="0"/>
          </a:p>
        </p:txBody>
      </p:sp>
      <p:sp>
        <p:nvSpPr>
          <p:cNvPr id="10" name="Text 7"/>
          <p:cNvSpPr txBox="1"/>
          <p:nvPr/>
        </p:nvSpPr>
        <p:spPr>
          <a:xfrm>
            <a:off x="896112" y="28986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Work with numbers and spreadsheet-style data</a:t>
            </a:r>
            <a:endParaRPr lang="en-US" sz="1100" dirty="0"/>
          </a:p>
        </p:txBody>
      </p:sp>
      <p:sp>
        <p:nvSpPr>
          <p:cNvPr id="11" name="Shape 8"/>
          <p:cNvSpPr/>
          <p:nvPr/>
        </p:nvSpPr>
        <p:spPr>
          <a:xfrm>
            <a:off x="4297680" y="1600200"/>
            <a:ext cx="3429000" cy="1828800"/>
          </a:xfrm>
          <a:prstGeom prst="roundRect">
            <a:avLst>
              <a:gd name="adj" fmla="val 4500"/>
            </a:avLst>
          </a:prstGeom>
          <a:solidFill>
            <a:srgbClr val="F4F6F9"/>
          </a:solidFill>
          <a:ln/>
        </p:spPr>
      </p:sp>
      <p:sp>
        <p:nvSpPr>
          <p:cNvPr id="12" name="Shape 9"/>
          <p:cNvSpPr/>
          <p:nvPr/>
        </p:nvSpPr>
        <p:spPr>
          <a:xfrm>
            <a:off x="4553712" y="1856232"/>
            <a:ext cx="594360" cy="594360"/>
          </a:xfrm>
          <a:prstGeom prst="ellipse">
            <a:avLst/>
          </a:prstGeom>
          <a:solidFill>
            <a:srgbClr val="306998"/>
          </a:solidFill>
          <a:ln/>
        </p:spPr>
      </p:sp>
      <p:pic>
        <p:nvPicPr>
          <p:cNvPr id="13" name="Image 1" descr="/tmp/claude-0/-home-user-pythonSEM-intro/a422a649-6240-52ae-9445-beabcf08c9b3/scratchpad/pyintro/icons/chart.png">    </p:cNvPr>
          <p:cNvPicPr>
            <a:picLocks noChangeAspect="1"/>
          </p:cNvPicPr>
          <p:nvPr/>
        </p:nvPicPr>
        <p:blipFill>
          <a:blip r:embed="rId2"/>
          <a:stretch>
            <a:fillRect/>
          </a:stretch>
        </p:blipFill>
        <p:spPr>
          <a:xfrm>
            <a:off x="4630979" y="1933499"/>
            <a:ext cx="439826" cy="439826"/>
          </a:xfrm>
          <a:prstGeom prst="rect">
            <a:avLst/>
          </a:prstGeom>
        </p:spPr>
      </p:pic>
      <p:sp>
        <p:nvSpPr>
          <p:cNvPr id="14" name="Text 10"/>
          <p:cNvSpPr txBox="1"/>
          <p:nvPr/>
        </p:nvSpPr>
        <p:spPr>
          <a:xfrm>
            <a:off x="4553712" y="25603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Matplotlib</a:t>
            </a:r>
            <a:endParaRPr lang="en-US" sz="1400" dirty="0"/>
          </a:p>
        </p:txBody>
      </p:sp>
      <p:sp>
        <p:nvSpPr>
          <p:cNvPr id="15" name="Text 11"/>
          <p:cNvSpPr txBox="1"/>
          <p:nvPr/>
        </p:nvSpPr>
        <p:spPr>
          <a:xfrm>
            <a:off x="4553712" y="28986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Turn data into charts and graphs</a:t>
            </a:r>
            <a:endParaRPr lang="en-US" sz="1100" dirty="0"/>
          </a:p>
        </p:txBody>
      </p:sp>
      <p:sp>
        <p:nvSpPr>
          <p:cNvPr id="16" name="Shape 12"/>
          <p:cNvSpPr/>
          <p:nvPr/>
        </p:nvSpPr>
        <p:spPr>
          <a:xfrm>
            <a:off x="7955280" y="1600200"/>
            <a:ext cx="3429000" cy="1828800"/>
          </a:xfrm>
          <a:prstGeom prst="roundRect">
            <a:avLst>
              <a:gd name="adj" fmla="val 4500"/>
            </a:avLst>
          </a:prstGeom>
          <a:solidFill>
            <a:srgbClr val="F4F6F9"/>
          </a:solidFill>
          <a:ln/>
        </p:spPr>
      </p:sp>
      <p:sp>
        <p:nvSpPr>
          <p:cNvPr id="17" name="Shape 13"/>
          <p:cNvSpPr/>
          <p:nvPr/>
        </p:nvSpPr>
        <p:spPr>
          <a:xfrm>
            <a:off x="8211312" y="1856232"/>
            <a:ext cx="594360" cy="594360"/>
          </a:xfrm>
          <a:prstGeom prst="ellipse">
            <a:avLst/>
          </a:prstGeom>
          <a:solidFill>
            <a:srgbClr val="306998"/>
          </a:solidFill>
          <a:ln/>
        </p:spPr>
      </p:sp>
      <p:pic>
        <p:nvPicPr>
          <p:cNvPr id="18" name="Image 2" descr="/tmp/claude-0/-home-user-pythonSEM-intro/a422a649-6240-52ae-9445-beabcf08c9b3/scratchpad/pyintro/icons/web.png">    </p:cNvPr>
          <p:cNvPicPr>
            <a:picLocks noChangeAspect="1"/>
          </p:cNvPicPr>
          <p:nvPr/>
        </p:nvPicPr>
        <p:blipFill>
          <a:blip r:embed="rId3"/>
          <a:stretch>
            <a:fillRect/>
          </a:stretch>
        </p:blipFill>
        <p:spPr>
          <a:xfrm>
            <a:off x="8288579" y="1933499"/>
            <a:ext cx="439826" cy="439826"/>
          </a:xfrm>
          <a:prstGeom prst="rect">
            <a:avLst/>
          </a:prstGeom>
        </p:spPr>
      </p:pic>
      <p:sp>
        <p:nvSpPr>
          <p:cNvPr id="19" name="Text 14"/>
          <p:cNvSpPr txBox="1"/>
          <p:nvPr/>
        </p:nvSpPr>
        <p:spPr>
          <a:xfrm>
            <a:off x="8211312" y="25603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Requests</a:t>
            </a:r>
            <a:endParaRPr lang="en-US" sz="1400" dirty="0"/>
          </a:p>
        </p:txBody>
      </p:sp>
      <p:sp>
        <p:nvSpPr>
          <p:cNvPr id="20" name="Text 15"/>
          <p:cNvSpPr txBox="1"/>
          <p:nvPr/>
        </p:nvSpPr>
        <p:spPr>
          <a:xfrm>
            <a:off x="8211312" y="28986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Talk to websites and web services</a:t>
            </a:r>
            <a:endParaRPr lang="en-US" sz="1100" dirty="0"/>
          </a:p>
        </p:txBody>
      </p:sp>
      <p:sp>
        <p:nvSpPr>
          <p:cNvPr id="21" name="Shape 16"/>
          <p:cNvSpPr/>
          <p:nvPr/>
        </p:nvSpPr>
        <p:spPr>
          <a:xfrm>
            <a:off x="640080" y="3657600"/>
            <a:ext cx="3429000" cy="1828800"/>
          </a:xfrm>
          <a:prstGeom prst="roundRect">
            <a:avLst>
              <a:gd name="adj" fmla="val 4500"/>
            </a:avLst>
          </a:prstGeom>
          <a:solidFill>
            <a:srgbClr val="F4F6F9"/>
          </a:solidFill>
          <a:ln/>
        </p:spPr>
      </p:sp>
      <p:sp>
        <p:nvSpPr>
          <p:cNvPr id="22" name="Shape 17"/>
          <p:cNvSpPr/>
          <p:nvPr/>
        </p:nvSpPr>
        <p:spPr>
          <a:xfrm>
            <a:off x="896112" y="3913632"/>
            <a:ext cx="594360" cy="594360"/>
          </a:xfrm>
          <a:prstGeom prst="ellipse">
            <a:avLst/>
          </a:prstGeom>
          <a:solidFill>
            <a:srgbClr val="306998"/>
          </a:solidFill>
          <a:ln/>
        </p:spPr>
      </p:sp>
      <p:pic>
        <p:nvPicPr>
          <p:cNvPr id="23" name="Image 3" descr="/tmp/claude-0/-home-user-pythonSEM-intro/a422a649-6240-52ae-9445-beabcf08c9b3/scratchpad/pyintro/icons/web.png">    </p:cNvPr>
          <p:cNvPicPr>
            <a:picLocks noChangeAspect="1"/>
          </p:cNvPicPr>
          <p:nvPr/>
        </p:nvPicPr>
        <p:blipFill>
          <a:blip r:embed="rId4"/>
          <a:stretch>
            <a:fillRect/>
          </a:stretch>
        </p:blipFill>
        <p:spPr>
          <a:xfrm>
            <a:off x="973379" y="3990899"/>
            <a:ext cx="439826" cy="439826"/>
          </a:xfrm>
          <a:prstGeom prst="rect">
            <a:avLst/>
          </a:prstGeom>
        </p:spPr>
      </p:pic>
      <p:sp>
        <p:nvSpPr>
          <p:cNvPr id="24" name="Text 18"/>
          <p:cNvSpPr txBox="1"/>
          <p:nvPr/>
        </p:nvSpPr>
        <p:spPr>
          <a:xfrm>
            <a:off x="896112" y="46177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Flask &amp; Django</a:t>
            </a:r>
            <a:endParaRPr lang="en-US" sz="1400" dirty="0"/>
          </a:p>
        </p:txBody>
      </p:sp>
      <p:sp>
        <p:nvSpPr>
          <p:cNvPr id="25" name="Text 19"/>
          <p:cNvSpPr txBox="1"/>
          <p:nvPr/>
        </p:nvSpPr>
        <p:spPr>
          <a:xfrm>
            <a:off x="896112" y="49560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Build websites and web applications</a:t>
            </a:r>
            <a:endParaRPr lang="en-US" sz="1100" dirty="0"/>
          </a:p>
        </p:txBody>
      </p:sp>
      <p:sp>
        <p:nvSpPr>
          <p:cNvPr id="26" name="Shape 20"/>
          <p:cNvSpPr/>
          <p:nvPr/>
        </p:nvSpPr>
        <p:spPr>
          <a:xfrm>
            <a:off x="4297680" y="3657600"/>
            <a:ext cx="3429000" cy="1828800"/>
          </a:xfrm>
          <a:prstGeom prst="roundRect">
            <a:avLst>
              <a:gd name="adj" fmla="val 4500"/>
            </a:avLst>
          </a:prstGeom>
          <a:solidFill>
            <a:srgbClr val="F4F6F9"/>
          </a:solidFill>
          <a:ln/>
        </p:spPr>
      </p:sp>
      <p:sp>
        <p:nvSpPr>
          <p:cNvPr id="27" name="Shape 21"/>
          <p:cNvSpPr/>
          <p:nvPr/>
        </p:nvSpPr>
        <p:spPr>
          <a:xfrm>
            <a:off x="4553712" y="3913632"/>
            <a:ext cx="594360" cy="594360"/>
          </a:xfrm>
          <a:prstGeom prst="ellipse">
            <a:avLst/>
          </a:prstGeom>
          <a:solidFill>
            <a:srgbClr val="306998"/>
          </a:solidFill>
          <a:ln/>
        </p:spPr>
      </p:sp>
      <p:pic>
        <p:nvPicPr>
          <p:cNvPr id="28" name="Image 4" descr="/tmp/claude-0/-home-user-pythonSEM-intro/a422a649-6240-52ae-9445-beabcf08c9b3/scratchpad/pyintro/icons/robot.png">    </p:cNvPr>
          <p:cNvPicPr>
            <a:picLocks noChangeAspect="1"/>
          </p:cNvPicPr>
          <p:nvPr/>
        </p:nvPicPr>
        <p:blipFill>
          <a:blip r:embed="rId5"/>
          <a:stretch>
            <a:fillRect/>
          </a:stretch>
        </p:blipFill>
        <p:spPr>
          <a:xfrm>
            <a:off x="4630979" y="3990899"/>
            <a:ext cx="439826" cy="439826"/>
          </a:xfrm>
          <a:prstGeom prst="rect">
            <a:avLst/>
          </a:prstGeom>
        </p:spPr>
      </p:pic>
      <p:sp>
        <p:nvSpPr>
          <p:cNvPr id="29" name="Text 22"/>
          <p:cNvSpPr txBox="1"/>
          <p:nvPr/>
        </p:nvSpPr>
        <p:spPr>
          <a:xfrm>
            <a:off x="4553712" y="46177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TensorFlow &amp; PyTorch</a:t>
            </a:r>
            <a:endParaRPr lang="en-US" sz="1400" dirty="0"/>
          </a:p>
        </p:txBody>
      </p:sp>
      <p:sp>
        <p:nvSpPr>
          <p:cNvPr id="30" name="Text 23"/>
          <p:cNvSpPr txBox="1"/>
          <p:nvPr/>
        </p:nvSpPr>
        <p:spPr>
          <a:xfrm>
            <a:off x="4553712" y="49560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Build and train AI models</a:t>
            </a:r>
            <a:endParaRPr lang="en-US" sz="1100" dirty="0"/>
          </a:p>
        </p:txBody>
      </p:sp>
      <p:sp>
        <p:nvSpPr>
          <p:cNvPr id="31" name="Shape 24"/>
          <p:cNvSpPr/>
          <p:nvPr/>
        </p:nvSpPr>
        <p:spPr>
          <a:xfrm>
            <a:off x="7955280" y="3657600"/>
            <a:ext cx="3429000" cy="1828800"/>
          </a:xfrm>
          <a:prstGeom prst="roundRect">
            <a:avLst>
              <a:gd name="adj" fmla="val 4500"/>
            </a:avLst>
          </a:prstGeom>
          <a:solidFill>
            <a:srgbClr val="F4F6F9"/>
          </a:solidFill>
          <a:ln/>
        </p:spPr>
      </p:sp>
      <p:sp>
        <p:nvSpPr>
          <p:cNvPr id="32" name="Shape 25"/>
          <p:cNvSpPr/>
          <p:nvPr/>
        </p:nvSpPr>
        <p:spPr>
          <a:xfrm>
            <a:off x="8211312" y="3913632"/>
            <a:ext cx="594360" cy="594360"/>
          </a:xfrm>
          <a:prstGeom prst="ellipse">
            <a:avLst/>
          </a:prstGeom>
          <a:solidFill>
            <a:srgbClr val="306998"/>
          </a:solidFill>
          <a:ln/>
        </p:spPr>
      </p:sp>
      <p:pic>
        <p:nvPicPr>
          <p:cNvPr id="33" name="Image 5" descr="/tmp/claude-0/-home-user-pythonSEM-intro/a422a649-6240-52ae-9445-beabcf08c9b3/scratchpad/pyintro/icons/gear.png">    </p:cNvPr>
          <p:cNvPicPr>
            <a:picLocks noChangeAspect="1"/>
          </p:cNvPicPr>
          <p:nvPr/>
        </p:nvPicPr>
        <p:blipFill>
          <a:blip r:embed="rId6"/>
          <a:stretch>
            <a:fillRect/>
          </a:stretch>
        </p:blipFill>
        <p:spPr>
          <a:xfrm>
            <a:off x="8288579" y="3990899"/>
            <a:ext cx="439826" cy="439826"/>
          </a:xfrm>
          <a:prstGeom prst="rect">
            <a:avLst/>
          </a:prstGeom>
        </p:spPr>
      </p:pic>
      <p:sp>
        <p:nvSpPr>
          <p:cNvPr id="34" name="Text 26"/>
          <p:cNvSpPr txBox="1"/>
          <p:nvPr/>
        </p:nvSpPr>
        <p:spPr>
          <a:xfrm>
            <a:off x="8211312" y="461772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openpyxl</a:t>
            </a:r>
            <a:endParaRPr lang="en-US" sz="1400" dirty="0"/>
          </a:p>
        </p:txBody>
      </p:sp>
      <p:sp>
        <p:nvSpPr>
          <p:cNvPr id="35" name="Text 27"/>
          <p:cNvSpPr txBox="1"/>
          <p:nvPr/>
        </p:nvSpPr>
        <p:spPr>
          <a:xfrm>
            <a:off x="8211312" y="495604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Read and write Excel files automatically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FFD43B"/>
          </a:solidFill>
          <a:ln/>
        </p:spPr>
      </p:sp>
      <p:pic>
        <p:nvPicPr>
          <p:cNvPr id="3" name="Image 0" descr="/tmp/claude-0/-home-user-pythonSEM-intro/a422a649-6240-52ae-9445-beabcf08c9b3/scratchpad/pyintro/icons/puzzle.png">    </p:cNvPr>
          <p:cNvPicPr>
            <a:picLocks noChangeAspect="1"/>
          </p:cNvPicPr>
          <p:nvPr/>
        </p:nvPicPr>
        <p:blipFill>
          <a:blip r:embed="rId1"/>
          <a:stretch>
            <a:fillRect/>
          </a:stretch>
        </p:blipFill>
        <p:spPr>
          <a:xfrm>
            <a:off x="747065" y="609905"/>
            <a:ext cx="608990" cy="608990"/>
          </a:xfrm>
          <a:prstGeom prst="rect">
            <a:avLst/>
          </a:prstGeom>
        </p:spPr>
      </p:pic>
      <p:sp>
        <p:nvSpPr>
          <p:cNvPr id="4" name="Text 1"/>
          <p:cNvSpPr txBox="1"/>
          <p:nvPr/>
        </p:nvSpPr>
        <p:spPr>
          <a:xfrm>
            <a:off x="1691640" y="59436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GROUP ACTIVITY</a:t>
            </a:r>
            <a:endParaRPr lang="en-US" sz="1300" dirty="0"/>
          </a:p>
        </p:txBody>
      </p:sp>
      <p:sp>
        <p:nvSpPr>
          <p:cNvPr id="5" name="Text 2"/>
          <p:cNvSpPr txBox="1"/>
          <p:nvPr/>
        </p:nvSpPr>
        <p:spPr>
          <a:xfrm>
            <a:off x="1691640" y="88696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Match the library to its job</a:t>
            </a:r>
            <a:endParaRPr lang="en-US" sz="2600" dirty="0"/>
          </a:p>
        </p:txBody>
      </p:sp>
      <p:sp>
        <p:nvSpPr>
          <p:cNvPr id="6" name="Shape 3"/>
          <p:cNvSpPr/>
          <p:nvPr/>
        </p:nvSpPr>
        <p:spPr>
          <a:xfrm>
            <a:off x="822960" y="1874520"/>
            <a:ext cx="4023360" cy="777240"/>
          </a:xfrm>
          <a:prstGeom prst="roundRect">
            <a:avLst>
              <a:gd name="adj" fmla="val 10588"/>
            </a:avLst>
          </a:prstGeom>
          <a:solidFill>
            <a:srgbClr val="1B2A4A"/>
          </a:solidFill>
          <a:ln w="12700">
            <a:solidFill>
              <a:srgbClr val="1F4B70"/>
            </a:solidFill>
            <a:prstDash val="solid"/>
          </a:ln>
        </p:spPr>
      </p:sp>
      <p:sp>
        <p:nvSpPr>
          <p:cNvPr id="7" name="Text 4"/>
          <p:cNvSpPr txBox="1"/>
          <p:nvPr/>
        </p:nvSpPr>
        <p:spPr>
          <a:xfrm>
            <a:off x="822960" y="1874520"/>
            <a:ext cx="4023360" cy="777240"/>
          </a:xfrm>
          <a:prstGeom prst="rect">
            <a:avLst/>
          </a:prstGeom>
          <a:noFill/>
          <a:ln/>
        </p:spPr>
        <p:txBody>
          <a:bodyPr wrap="square" lIns="0" tIns="0" rIns="0" bIns="0" rtlCol="0" anchor="ctr"/>
          <a:lstStyle/>
          <a:p>
            <a:pPr algn="ctr" indent="0" marL="0">
              <a:buNone/>
            </a:pPr>
            <a:r>
              <a:rPr lang="en-US" sz="1550" b="1" dirty="0">
                <a:solidFill>
                  <a:srgbClr val="FFD43B"/>
                </a:solidFill>
                <a:latin typeface="Arial" pitchFamily="34" charset="0"/>
                <a:ea typeface="Arial" pitchFamily="34" charset="-122"/>
                <a:cs typeface="Arial" pitchFamily="34" charset="-120"/>
              </a:rPr>
              <a:t>Pandas</a:t>
            </a:r>
            <a:endParaRPr lang="en-US" sz="1550" dirty="0"/>
          </a:p>
        </p:txBody>
      </p:sp>
      <p:sp>
        <p:nvSpPr>
          <p:cNvPr id="8" name="Shape 5"/>
          <p:cNvSpPr/>
          <p:nvPr/>
        </p:nvSpPr>
        <p:spPr>
          <a:xfrm>
            <a:off x="822960" y="2834640"/>
            <a:ext cx="4023360" cy="777240"/>
          </a:xfrm>
          <a:prstGeom prst="roundRect">
            <a:avLst>
              <a:gd name="adj" fmla="val 10588"/>
            </a:avLst>
          </a:prstGeom>
          <a:solidFill>
            <a:srgbClr val="1B2A4A"/>
          </a:solidFill>
          <a:ln w="12700">
            <a:solidFill>
              <a:srgbClr val="1F4B70"/>
            </a:solidFill>
            <a:prstDash val="solid"/>
          </a:ln>
        </p:spPr>
      </p:sp>
      <p:sp>
        <p:nvSpPr>
          <p:cNvPr id="9" name="Text 6"/>
          <p:cNvSpPr txBox="1"/>
          <p:nvPr/>
        </p:nvSpPr>
        <p:spPr>
          <a:xfrm>
            <a:off x="822960" y="2834640"/>
            <a:ext cx="4023360" cy="777240"/>
          </a:xfrm>
          <a:prstGeom prst="rect">
            <a:avLst/>
          </a:prstGeom>
          <a:noFill/>
          <a:ln/>
        </p:spPr>
        <p:txBody>
          <a:bodyPr wrap="square" lIns="0" tIns="0" rIns="0" bIns="0" rtlCol="0" anchor="ctr"/>
          <a:lstStyle/>
          <a:p>
            <a:pPr algn="ctr" indent="0" marL="0">
              <a:buNone/>
            </a:pPr>
            <a:r>
              <a:rPr lang="en-US" sz="1550" b="1" dirty="0">
                <a:solidFill>
                  <a:srgbClr val="FFD43B"/>
                </a:solidFill>
                <a:latin typeface="Arial" pitchFamily="34" charset="0"/>
                <a:ea typeface="Arial" pitchFamily="34" charset="-122"/>
                <a:cs typeface="Arial" pitchFamily="34" charset="-120"/>
              </a:rPr>
              <a:t>Requests</a:t>
            </a:r>
            <a:endParaRPr lang="en-US" sz="1550" dirty="0"/>
          </a:p>
        </p:txBody>
      </p:sp>
      <p:sp>
        <p:nvSpPr>
          <p:cNvPr id="10" name="Shape 7"/>
          <p:cNvSpPr/>
          <p:nvPr/>
        </p:nvSpPr>
        <p:spPr>
          <a:xfrm>
            <a:off x="822960" y="3794760"/>
            <a:ext cx="4023360" cy="777240"/>
          </a:xfrm>
          <a:prstGeom prst="roundRect">
            <a:avLst>
              <a:gd name="adj" fmla="val 10588"/>
            </a:avLst>
          </a:prstGeom>
          <a:solidFill>
            <a:srgbClr val="1B2A4A"/>
          </a:solidFill>
          <a:ln w="12700">
            <a:solidFill>
              <a:srgbClr val="1F4B70"/>
            </a:solidFill>
            <a:prstDash val="solid"/>
          </a:ln>
        </p:spPr>
      </p:sp>
      <p:sp>
        <p:nvSpPr>
          <p:cNvPr id="11" name="Text 8"/>
          <p:cNvSpPr txBox="1"/>
          <p:nvPr/>
        </p:nvSpPr>
        <p:spPr>
          <a:xfrm>
            <a:off x="822960" y="3794760"/>
            <a:ext cx="4023360" cy="777240"/>
          </a:xfrm>
          <a:prstGeom prst="rect">
            <a:avLst/>
          </a:prstGeom>
          <a:noFill/>
          <a:ln/>
        </p:spPr>
        <p:txBody>
          <a:bodyPr wrap="square" lIns="0" tIns="0" rIns="0" bIns="0" rtlCol="0" anchor="ctr"/>
          <a:lstStyle/>
          <a:p>
            <a:pPr algn="ctr" indent="0" marL="0">
              <a:buNone/>
            </a:pPr>
            <a:r>
              <a:rPr lang="en-US" sz="1550" b="1" dirty="0">
                <a:solidFill>
                  <a:srgbClr val="FFD43B"/>
                </a:solidFill>
                <a:latin typeface="Arial" pitchFamily="34" charset="0"/>
                <a:ea typeface="Arial" pitchFamily="34" charset="-122"/>
                <a:cs typeface="Arial" pitchFamily="34" charset="-120"/>
              </a:rPr>
              <a:t>Matplotlib</a:t>
            </a:r>
            <a:endParaRPr lang="en-US" sz="1550" dirty="0"/>
          </a:p>
        </p:txBody>
      </p:sp>
      <p:sp>
        <p:nvSpPr>
          <p:cNvPr id="12" name="Shape 9"/>
          <p:cNvSpPr/>
          <p:nvPr/>
        </p:nvSpPr>
        <p:spPr>
          <a:xfrm>
            <a:off x="822960" y="4754880"/>
            <a:ext cx="4023360" cy="777240"/>
          </a:xfrm>
          <a:prstGeom prst="roundRect">
            <a:avLst>
              <a:gd name="adj" fmla="val 10588"/>
            </a:avLst>
          </a:prstGeom>
          <a:solidFill>
            <a:srgbClr val="1B2A4A"/>
          </a:solidFill>
          <a:ln w="12700">
            <a:solidFill>
              <a:srgbClr val="1F4B70"/>
            </a:solidFill>
            <a:prstDash val="solid"/>
          </a:ln>
        </p:spPr>
      </p:sp>
      <p:sp>
        <p:nvSpPr>
          <p:cNvPr id="13" name="Text 10"/>
          <p:cNvSpPr txBox="1"/>
          <p:nvPr/>
        </p:nvSpPr>
        <p:spPr>
          <a:xfrm>
            <a:off x="822960" y="4754880"/>
            <a:ext cx="4023360" cy="777240"/>
          </a:xfrm>
          <a:prstGeom prst="rect">
            <a:avLst/>
          </a:prstGeom>
          <a:noFill/>
          <a:ln/>
        </p:spPr>
        <p:txBody>
          <a:bodyPr wrap="square" lIns="0" tIns="0" rIns="0" bIns="0" rtlCol="0" anchor="ctr"/>
          <a:lstStyle/>
          <a:p>
            <a:pPr algn="ctr" indent="0" marL="0">
              <a:buNone/>
            </a:pPr>
            <a:r>
              <a:rPr lang="en-US" sz="1550" b="1" dirty="0">
                <a:solidFill>
                  <a:srgbClr val="FFD43B"/>
                </a:solidFill>
                <a:latin typeface="Arial" pitchFamily="34" charset="0"/>
                <a:ea typeface="Arial" pitchFamily="34" charset="-122"/>
                <a:cs typeface="Arial" pitchFamily="34" charset="-120"/>
              </a:rPr>
              <a:t>Django</a:t>
            </a:r>
            <a:endParaRPr lang="en-US" sz="1550" dirty="0"/>
          </a:p>
        </p:txBody>
      </p:sp>
      <p:sp>
        <p:nvSpPr>
          <p:cNvPr id="14" name="Shape 11"/>
          <p:cNvSpPr/>
          <p:nvPr/>
        </p:nvSpPr>
        <p:spPr>
          <a:xfrm>
            <a:off x="6309360" y="1874520"/>
            <a:ext cx="5029200" cy="777240"/>
          </a:xfrm>
          <a:prstGeom prst="roundRect">
            <a:avLst>
              <a:gd name="adj" fmla="val 10588"/>
            </a:avLst>
          </a:prstGeom>
          <a:solidFill>
            <a:srgbClr val="1B2A4A"/>
          </a:solidFill>
          <a:ln w="12700">
            <a:solidFill>
              <a:srgbClr val="1F4B70"/>
            </a:solidFill>
            <a:prstDash val="solid"/>
          </a:ln>
        </p:spPr>
      </p:sp>
      <p:sp>
        <p:nvSpPr>
          <p:cNvPr id="15" name="Text 12"/>
          <p:cNvSpPr txBox="1"/>
          <p:nvPr/>
        </p:nvSpPr>
        <p:spPr>
          <a:xfrm>
            <a:off x="6309360" y="1874520"/>
            <a:ext cx="5029200" cy="777240"/>
          </a:xfrm>
          <a:prstGeom prst="rect">
            <a:avLst/>
          </a:prstGeom>
          <a:noFill/>
          <a:ln/>
        </p:spPr>
        <p:txBody>
          <a:bodyPr wrap="square" lIns="0" tIns="0" rIns="0" bIns="0" rtlCol="0" anchor="ctr"/>
          <a:lstStyle/>
          <a:p>
            <a:pPr algn="ctr" indent="0" marL="0">
              <a:buNone/>
            </a:pPr>
            <a:r>
              <a:rPr lang="en-US" sz="1450" dirty="0">
                <a:solidFill>
                  <a:srgbClr val="FFFFFF"/>
                </a:solidFill>
                <a:latin typeface="Calibri" pitchFamily="34" charset="0"/>
                <a:ea typeface="Calibri" pitchFamily="34" charset="-122"/>
                <a:cs typeface="Calibri" pitchFamily="34" charset="-120"/>
              </a:rPr>
              <a:t>Build a website</a:t>
            </a:r>
            <a:endParaRPr lang="en-US" sz="1450" dirty="0"/>
          </a:p>
        </p:txBody>
      </p:sp>
      <p:sp>
        <p:nvSpPr>
          <p:cNvPr id="16" name="Shape 13"/>
          <p:cNvSpPr/>
          <p:nvPr/>
        </p:nvSpPr>
        <p:spPr>
          <a:xfrm>
            <a:off x="6309360" y="2834640"/>
            <a:ext cx="5029200" cy="777240"/>
          </a:xfrm>
          <a:prstGeom prst="roundRect">
            <a:avLst>
              <a:gd name="adj" fmla="val 10588"/>
            </a:avLst>
          </a:prstGeom>
          <a:solidFill>
            <a:srgbClr val="1B2A4A"/>
          </a:solidFill>
          <a:ln w="12700">
            <a:solidFill>
              <a:srgbClr val="1F4B70"/>
            </a:solidFill>
            <a:prstDash val="solid"/>
          </a:ln>
        </p:spPr>
      </p:sp>
      <p:sp>
        <p:nvSpPr>
          <p:cNvPr id="17" name="Text 14"/>
          <p:cNvSpPr txBox="1"/>
          <p:nvPr/>
        </p:nvSpPr>
        <p:spPr>
          <a:xfrm>
            <a:off x="6309360" y="2834640"/>
            <a:ext cx="5029200" cy="777240"/>
          </a:xfrm>
          <a:prstGeom prst="rect">
            <a:avLst/>
          </a:prstGeom>
          <a:noFill/>
          <a:ln/>
        </p:spPr>
        <p:txBody>
          <a:bodyPr wrap="square" lIns="0" tIns="0" rIns="0" bIns="0" rtlCol="0" anchor="ctr"/>
          <a:lstStyle/>
          <a:p>
            <a:pPr algn="ctr" indent="0" marL="0">
              <a:buNone/>
            </a:pPr>
            <a:r>
              <a:rPr lang="en-US" sz="1450" dirty="0">
                <a:solidFill>
                  <a:srgbClr val="FFFFFF"/>
                </a:solidFill>
                <a:latin typeface="Calibri" pitchFamily="34" charset="0"/>
                <a:ea typeface="Calibri" pitchFamily="34" charset="-122"/>
                <a:cs typeface="Calibri" pitchFamily="34" charset="-120"/>
              </a:rPr>
              <a:t>Draw a chart</a:t>
            </a:r>
            <a:endParaRPr lang="en-US" sz="1450" dirty="0"/>
          </a:p>
        </p:txBody>
      </p:sp>
      <p:sp>
        <p:nvSpPr>
          <p:cNvPr id="18" name="Shape 15"/>
          <p:cNvSpPr/>
          <p:nvPr/>
        </p:nvSpPr>
        <p:spPr>
          <a:xfrm>
            <a:off x="6309360" y="3794760"/>
            <a:ext cx="5029200" cy="777240"/>
          </a:xfrm>
          <a:prstGeom prst="roundRect">
            <a:avLst>
              <a:gd name="adj" fmla="val 10588"/>
            </a:avLst>
          </a:prstGeom>
          <a:solidFill>
            <a:srgbClr val="1B2A4A"/>
          </a:solidFill>
          <a:ln w="12700">
            <a:solidFill>
              <a:srgbClr val="1F4B70"/>
            </a:solidFill>
            <a:prstDash val="solid"/>
          </a:ln>
        </p:spPr>
      </p:sp>
      <p:sp>
        <p:nvSpPr>
          <p:cNvPr id="19" name="Text 16"/>
          <p:cNvSpPr txBox="1"/>
          <p:nvPr/>
        </p:nvSpPr>
        <p:spPr>
          <a:xfrm>
            <a:off x="6309360" y="3794760"/>
            <a:ext cx="5029200" cy="777240"/>
          </a:xfrm>
          <a:prstGeom prst="rect">
            <a:avLst/>
          </a:prstGeom>
          <a:noFill/>
          <a:ln/>
        </p:spPr>
        <p:txBody>
          <a:bodyPr wrap="square" lIns="0" tIns="0" rIns="0" bIns="0" rtlCol="0" anchor="ctr"/>
          <a:lstStyle/>
          <a:p>
            <a:pPr algn="ctr" indent="0" marL="0">
              <a:buNone/>
            </a:pPr>
            <a:r>
              <a:rPr lang="en-US" sz="1450" dirty="0">
                <a:solidFill>
                  <a:srgbClr val="FFFFFF"/>
                </a:solidFill>
                <a:latin typeface="Calibri" pitchFamily="34" charset="0"/>
                <a:ea typeface="Calibri" pitchFamily="34" charset="-122"/>
                <a:cs typeface="Calibri" pitchFamily="34" charset="-120"/>
              </a:rPr>
              <a:t>Fetch data from a URL</a:t>
            </a:r>
            <a:endParaRPr lang="en-US" sz="1450" dirty="0"/>
          </a:p>
        </p:txBody>
      </p:sp>
      <p:sp>
        <p:nvSpPr>
          <p:cNvPr id="20" name="Shape 17"/>
          <p:cNvSpPr/>
          <p:nvPr/>
        </p:nvSpPr>
        <p:spPr>
          <a:xfrm>
            <a:off x="6309360" y="4754880"/>
            <a:ext cx="5029200" cy="777240"/>
          </a:xfrm>
          <a:prstGeom prst="roundRect">
            <a:avLst>
              <a:gd name="adj" fmla="val 10588"/>
            </a:avLst>
          </a:prstGeom>
          <a:solidFill>
            <a:srgbClr val="1B2A4A"/>
          </a:solidFill>
          <a:ln w="12700">
            <a:solidFill>
              <a:srgbClr val="1F4B70"/>
            </a:solidFill>
            <a:prstDash val="solid"/>
          </a:ln>
        </p:spPr>
      </p:sp>
      <p:sp>
        <p:nvSpPr>
          <p:cNvPr id="21" name="Text 18"/>
          <p:cNvSpPr txBox="1"/>
          <p:nvPr/>
        </p:nvSpPr>
        <p:spPr>
          <a:xfrm>
            <a:off x="6309360" y="4754880"/>
            <a:ext cx="5029200" cy="777240"/>
          </a:xfrm>
          <a:prstGeom prst="rect">
            <a:avLst/>
          </a:prstGeom>
          <a:noFill/>
          <a:ln/>
        </p:spPr>
        <p:txBody>
          <a:bodyPr wrap="square" lIns="0" tIns="0" rIns="0" bIns="0" rtlCol="0" anchor="ctr"/>
          <a:lstStyle/>
          <a:p>
            <a:pPr algn="ctr" indent="0" marL="0">
              <a:buNone/>
            </a:pPr>
            <a:r>
              <a:rPr lang="en-US" sz="1450" dirty="0">
                <a:solidFill>
                  <a:srgbClr val="FFFFFF"/>
                </a:solidFill>
                <a:latin typeface="Calibri" pitchFamily="34" charset="0"/>
                <a:ea typeface="Calibri" pitchFamily="34" charset="-122"/>
                <a:cs typeface="Calibri" pitchFamily="34" charset="-120"/>
              </a:rPr>
              <a:t>Analyze spreadsheet data</a:t>
            </a:r>
            <a:endParaRPr lang="en-US" sz="1450" dirty="0"/>
          </a:p>
        </p:txBody>
      </p:sp>
      <p:sp>
        <p:nvSpPr>
          <p:cNvPr id="22" name="Text 19"/>
          <p:cNvSpPr txBox="1"/>
          <p:nvPr/>
        </p:nvSpPr>
        <p:spPr>
          <a:xfrm>
            <a:off x="822960" y="5806440"/>
            <a:ext cx="10515600" cy="457200"/>
          </a:xfrm>
          <a:prstGeom prst="rect">
            <a:avLst/>
          </a:prstGeom>
          <a:noFill/>
          <a:ln/>
        </p:spPr>
        <p:txBody>
          <a:bodyPr wrap="square" lIns="0" tIns="0" rIns="0" bIns="0" rtlCol="0" anchor="ctr"/>
          <a:lstStyle/>
          <a:p>
            <a:pPr indent="0" marL="0">
              <a:buNone/>
            </a:pPr>
            <a:r>
              <a:rPr lang="en-US" sz="1200" i="1" dirty="0">
                <a:solidFill>
                  <a:srgbClr val="AEB9CC"/>
                </a:solidFill>
                <a:latin typeface="Calibri" pitchFamily="34" charset="0"/>
                <a:ea typeface="Calibri" pitchFamily="34" charset="-122"/>
                <a:cs typeface="Calibri" pitchFamily="34" charset="-120"/>
              </a:rPr>
              <a:t>Call it out loud: which pair goes together? (Answers, in order: Analyze data, Fetch from a URL, Draw a chart, Build a website)</a:t>
            </a:r>
            <a:endParaRPr lang="en-US" sz="1200" dirty="0"/>
          </a:p>
        </p:txBody>
      </p:sp>
      <p:sp>
        <p:nvSpPr>
          <p:cNvPr id="23"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4 · Libraries and Modules</a:t>
            </a:r>
            <a:endParaRPr lang="en-US" sz="1000" dirty="0"/>
          </a:p>
        </p:txBody>
      </p:sp>
      <p:sp>
        <p:nvSpPr>
          <p:cNvPr id="24"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5</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Why Python?</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A fair, honest look at what makes Python a great default choice, and when it is not.</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compare.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5</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27</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Same task, very different amounts of code</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Here is "Hello, World!" in three languages. Same result, very different effort.</a:t>
            </a:r>
            <a:endParaRPr lang="en-US" sz="1400" dirty="0"/>
          </a:p>
        </p:txBody>
      </p:sp>
      <p:sp>
        <p:nvSpPr>
          <p:cNvPr id="7" name="Shape 5"/>
          <p:cNvSpPr/>
          <p:nvPr/>
        </p:nvSpPr>
        <p:spPr>
          <a:xfrm>
            <a:off x="640080" y="1965960"/>
            <a:ext cx="3502152" cy="3566160"/>
          </a:xfrm>
          <a:prstGeom prst="roundRect">
            <a:avLst>
              <a:gd name="adj" fmla="val 2350"/>
            </a:avLst>
          </a:prstGeom>
          <a:solidFill>
            <a:srgbClr val="132038"/>
          </a:solidFill>
          <a:ln/>
        </p:spPr>
      </p:sp>
      <p:sp>
        <p:nvSpPr>
          <p:cNvPr id="8" name="Text 6"/>
          <p:cNvSpPr txBox="1"/>
          <p:nvPr/>
        </p:nvSpPr>
        <p:spPr>
          <a:xfrm>
            <a:off x="868680" y="2130552"/>
            <a:ext cx="3044952" cy="365760"/>
          </a:xfrm>
          <a:prstGeom prst="rect">
            <a:avLst/>
          </a:prstGeom>
          <a:noFill/>
          <a:ln/>
        </p:spPr>
        <p:txBody>
          <a:bodyPr wrap="square" lIns="0" tIns="0" rIns="0" bIns="0" rtlCol="0" anchor="ctr"/>
          <a:lstStyle/>
          <a:p>
            <a:pPr indent="0" marL="0">
              <a:buNone/>
            </a:pPr>
            <a:r>
              <a:rPr lang="en-US" sz="1500" b="1" dirty="0">
                <a:solidFill>
                  <a:srgbClr val="AEB9CC"/>
                </a:solidFill>
                <a:latin typeface="Arial" pitchFamily="34" charset="0"/>
                <a:ea typeface="Arial" pitchFamily="34" charset="-122"/>
                <a:cs typeface="Arial" pitchFamily="34" charset="-120"/>
              </a:rPr>
              <a:t>Java</a:t>
            </a:r>
            <a:endParaRPr lang="en-US" sz="1500" dirty="0"/>
          </a:p>
        </p:txBody>
      </p:sp>
      <p:sp>
        <p:nvSpPr>
          <p:cNvPr id="9" name="Text 7"/>
          <p:cNvSpPr txBox="1"/>
          <p:nvPr/>
        </p:nvSpPr>
        <p:spPr>
          <a:xfrm>
            <a:off x="868680" y="2651760"/>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public class Main {</a:t>
            </a:r>
            <a:endParaRPr lang="en-US" sz="1150" dirty="0"/>
          </a:p>
        </p:txBody>
      </p:sp>
      <p:sp>
        <p:nvSpPr>
          <p:cNvPr id="10" name="Text 8"/>
          <p:cNvSpPr txBox="1"/>
          <p:nvPr/>
        </p:nvSpPr>
        <p:spPr>
          <a:xfrm>
            <a:off x="868680" y="2980944"/>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public static void</a:t>
            </a:r>
            <a:endParaRPr lang="en-US" sz="1150" dirty="0"/>
          </a:p>
        </p:txBody>
      </p:sp>
      <p:sp>
        <p:nvSpPr>
          <p:cNvPr id="11" name="Text 9"/>
          <p:cNvSpPr txBox="1"/>
          <p:nvPr/>
        </p:nvSpPr>
        <p:spPr>
          <a:xfrm>
            <a:off x="868680" y="3310128"/>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main(String[] args) {</a:t>
            </a:r>
            <a:endParaRPr lang="en-US" sz="1150" dirty="0"/>
          </a:p>
        </p:txBody>
      </p:sp>
      <p:sp>
        <p:nvSpPr>
          <p:cNvPr id="12" name="Text 10"/>
          <p:cNvSpPr txBox="1"/>
          <p:nvPr/>
        </p:nvSpPr>
        <p:spPr>
          <a:xfrm>
            <a:off x="868680" y="3639312"/>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System.out.println(</a:t>
            </a:r>
            <a:endParaRPr lang="en-US" sz="1150" dirty="0"/>
          </a:p>
        </p:txBody>
      </p:sp>
      <p:sp>
        <p:nvSpPr>
          <p:cNvPr id="13" name="Text 11"/>
          <p:cNvSpPr txBox="1"/>
          <p:nvPr/>
        </p:nvSpPr>
        <p:spPr>
          <a:xfrm>
            <a:off x="868680" y="3968496"/>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"Hello, World!");</a:t>
            </a:r>
            <a:endParaRPr lang="en-US" sz="1150" dirty="0"/>
          </a:p>
        </p:txBody>
      </p:sp>
      <p:sp>
        <p:nvSpPr>
          <p:cNvPr id="14" name="Text 12"/>
          <p:cNvSpPr txBox="1"/>
          <p:nvPr/>
        </p:nvSpPr>
        <p:spPr>
          <a:xfrm>
            <a:off x="868680" y="4297680"/>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a:t>
            </a:r>
            <a:endParaRPr lang="en-US" sz="1150" dirty="0"/>
          </a:p>
        </p:txBody>
      </p:sp>
      <p:sp>
        <p:nvSpPr>
          <p:cNvPr id="15" name="Text 13"/>
          <p:cNvSpPr txBox="1"/>
          <p:nvPr/>
        </p:nvSpPr>
        <p:spPr>
          <a:xfrm>
            <a:off x="868680" y="4626864"/>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a:t>
            </a:r>
            <a:endParaRPr lang="en-US" sz="1150" dirty="0"/>
          </a:p>
        </p:txBody>
      </p:sp>
      <p:sp>
        <p:nvSpPr>
          <p:cNvPr id="16" name="Text 14"/>
          <p:cNvSpPr txBox="1"/>
          <p:nvPr/>
        </p:nvSpPr>
        <p:spPr>
          <a:xfrm>
            <a:off x="868680" y="5074920"/>
            <a:ext cx="3044952" cy="320040"/>
          </a:xfrm>
          <a:prstGeom prst="rect">
            <a:avLst/>
          </a:prstGeom>
          <a:noFill/>
          <a:ln/>
        </p:spPr>
        <p:txBody>
          <a:bodyPr wrap="square" lIns="0" tIns="0" rIns="0" bIns="0" rtlCol="0" anchor="ctr"/>
          <a:lstStyle/>
          <a:p>
            <a:pPr indent="0" marL="0">
              <a:buNone/>
            </a:pPr>
            <a:r>
              <a:rPr lang="en-US" sz="1150" i="1" dirty="0">
                <a:solidFill>
                  <a:srgbClr val="AEB9CC"/>
                </a:solidFill>
                <a:latin typeface="Calibri" pitchFamily="34" charset="0"/>
                <a:ea typeface="Calibri" pitchFamily="34" charset="-122"/>
                <a:cs typeface="Calibri" pitchFamily="34" charset="-120"/>
              </a:rPr>
              <a:t>7 lines</a:t>
            </a:r>
            <a:endParaRPr lang="en-US" sz="1150" dirty="0"/>
          </a:p>
        </p:txBody>
      </p:sp>
      <p:sp>
        <p:nvSpPr>
          <p:cNvPr id="17" name="Shape 15"/>
          <p:cNvSpPr/>
          <p:nvPr/>
        </p:nvSpPr>
        <p:spPr>
          <a:xfrm>
            <a:off x="4325112" y="1965960"/>
            <a:ext cx="3502152" cy="3566160"/>
          </a:xfrm>
          <a:prstGeom prst="roundRect">
            <a:avLst>
              <a:gd name="adj" fmla="val 2350"/>
            </a:avLst>
          </a:prstGeom>
          <a:solidFill>
            <a:srgbClr val="132038"/>
          </a:solidFill>
          <a:ln/>
        </p:spPr>
      </p:sp>
      <p:sp>
        <p:nvSpPr>
          <p:cNvPr id="18" name="Text 16"/>
          <p:cNvSpPr txBox="1"/>
          <p:nvPr/>
        </p:nvSpPr>
        <p:spPr>
          <a:xfrm>
            <a:off x="4553712" y="2130552"/>
            <a:ext cx="3044952" cy="365760"/>
          </a:xfrm>
          <a:prstGeom prst="rect">
            <a:avLst/>
          </a:prstGeom>
          <a:noFill/>
          <a:ln/>
        </p:spPr>
        <p:txBody>
          <a:bodyPr wrap="square" lIns="0" tIns="0" rIns="0" bIns="0" rtlCol="0" anchor="ctr"/>
          <a:lstStyle/>
          <a:p>
            <a:pPr indent="0" marL="0">
              <a:buNone/>
            </a:pPr>
            <a:r>
              <a:rPr lang="en-US" sz="1500" b="1" dirty="0">
                <a:solidFill>
                  <a:srgbClr val="AEB9CC"/>
                </a:solidFill>
                <a:latin typeface="Arial" pitchFamily="34" charset="0"/>
                <a:ea typeface="Arial" pitchFamily="34" charset="-122"/>
                <a:cs typeface="Arial" pitchFamily="34" charset="-120"/>
              </a:rPr>
              <a:t>C++</a:t>
            </a:r>
            <a:endParaRPr lang="en-US" sz="1500" dirty="0"/>
          </a:p>
        </p:txBody>
      </p:sp>
      <p:sp>
        <p:nvSpPr>
          <p:cNvPr id="19" name="Text 17"/>
          <p:cNvSpPr txBox="1"/>
          <p:nvPr/>
        </p:nvSpPr>
        <p:spPr>
          <a:xfrm>
            <a:off x="4553712" y="2651760"/>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#include &lt;iostream&gt;</a:t>
            </a:r>
            <a:endParaRPr lang="en-US" sz="1150" dirty="0"/>
          </a:p>
        </p:txBody>
      </p:sp>
      <p:sp>
        <p:nvSpPr>
          <p:cNvPr id="20" name="Text 18"/>
          <p:cNvSpPr txBox="1"/>
          <p:nvPr/>
        </p:nvSpPr>
        <p:spPr>
          <a:xfrm>
            <a:off x="4553712" y="2980944"/>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int main() {</a:t>
            </a:r>
            <a:endParaRPr lang="en-US" sz="1150" dirty="0"/>
          </a:p>
        </p:txBody>
      </p:sp>
      <p:sp>
        <p:nvSpPr>
          <p:cNvPr id="21" name="Text 19"/>
          <p:cNvSpPr txBox="1"/>
          <p:nvPr/>
        </p:nvSpPr>
        <p:spPr>
          <a:xfrm>
            <a:off x="4553712" y="3310128"/>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std::cout &lt;&lt;</a:t>
            </a:r>
            <a:endParaRPr lang="en-US" sz="1150" dirty="0"/>
          </a:p>
        </p:txBody>
      </p:sp>
      <p:sp>
        <p:nvSpPr>
          <p:cNvPr id="22" name="Text 20"/>
          <p:cNvSpPr txBox="1"/>
          <p:nvPr/>
        </p:nvSpPr>
        <p:spPr>
          <a:xfrm>
            <a:off x="4553712" y="3639312"/>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"Hello, World!";</a:t>
            </a:r>
            <a:endParaRPr lang="en-US" sz="1150" dirty="0"/>
          </a:p>
        </p:txBody>
      </p:sp>
      <p:sp>
        <p:nvSpPr>
          <p:cNvPr id="23" name="Text 21"/>
          <p:cNvSpPr txBox="1"/>
          <p:nvPr/>
        </p:nvSpPr>
        <p:spPr>
          <a:xfrm>
            <a:off x="4553712" y="3968496"/>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  return 0;</a:t>
            </a:r>
            <a:endParaRPr lang="en-US" sz="1150" dirty="0"/>
          </a:p>
        </p:txBody>
      </p:sp>
      <p:sp>
        <p:nvSpPr>
          <p:cNvPr id="24" name="Text 22"/>
          <p:cNvSpPr txBox="1"/>
          <p:nvPr/>
        </p:nvSpPr>
        <p:spPr>
          <a:xfrm>
            <a:off x="4553712" y="4297680"/>
            <a:ext cx="3044952" cy="320040"/>
          </a:xfrm>
          <a:prstGeom prst="rect">
            <a:avLst/>
          </a:prstGeom>
          <a:noFill/>
          <a:ln/>
        </p:spPr>
        <p:txBody>
          <a:bodyPr wrap="square" lIns="0" tIns="0" rIns="0" bIns="0" rtlCol="0" anchor="ctr"/>
          <a:lstStyle/>
          <a:p>
            <a:pPr indent="0" marL="0">
              <a:buNone/>
            </a:pPr>
            <a:r>
              <a:rPr lang="en-US" sz="1150" dirty="0">
                <a:solidFill>
                  <a:srgbClr val="C9D3E0"/>
                </a:solidFill>
                <a:latin typeface="Courier New" pitchFamily="34" charset="0"/>
                <a:ea typeface="Courier New" pitchFamily="34" charset="-122"/>
                <a:cs typeface="Courier New" pitchFamily="34" charset="-120"/>
              </a:rPr>
              <a:t>}</a:t>
            </a:r>
            <a:endParaRPr lang="en-US" sz="1150" dirty="0"/>
          </a:p>
        </p:txBody>
      </p:sp>
      <p:sp>
        <p:nvSpPr>
          <p:cNvPr id="25" name="Text 23"/>
          <p:cNvSpPr txBox="1"/>
          <p:nvPr/>
        </p:nvSpPr>
        <p:spPr>
          <a:xfrm>
            <a:off x="4553712" y="5074920"/>
            <a:ext cx="3044952" cy="320040"/>
          </a:xfrm>
          <a:prstGeom prst="rect">
            <a:avLst/>
          </a:prstGeom>
          <a:noFill/>
          <a:ln/>
        </p:spPr>
        <p:txBody>
          <a:bodyPr wrap="square" lIns="0" tIns="0" rIns="0" bIns="0" rtlCol="0" anchor="ctr"/>
          <a:lstStyle/>
          <a:p>
            <a:pPr indent="0" marL="0">
              <a:buNone/>
            </a:pPr>
            <a:r>
              <a:rPr lang="en-US" sz="1150" i="1" dirty="0">
                <a:solidFill>
                  <a:srgbClr val="AEB9CC"/>
                </a:solidFill>
                <a:latin typeface="Calibri" pitchFamily="34" charset="0"/>
                <a:ea typeface="Calibri" pitchFamily="34" charset="-122"/>
                <a:cs typeface="Calibri" pitchFamily="34" charset="-120"/>
              </a:rPr>
              <a:t>6 lines</a:t>
            </a:r>
            <a:endParaRPr lang="en-US" sz="1150" dirty="0"/>
          </a:p>
        </p:txBody>
      </p:sp>
      <p:sp>
        <p:nvSpPr>
          <p:cNvPr id="26" name="Shape 24"/>
          <p:cNvSpPr/>
          <p:nvPr/>
        </p:nvSpPr>
        <p:spPr>
          <a:xfrm>
            <a:off x="8010144" y="1965960"/>
            <a:ext cx="3502152" cy="3566160"/>
          </a:xfrm>
          <a:prstGeom prst="roundRect">
            <a:avLst>
              <a:gd name="adj" fmla="val 2350"/>
            </a:avLst>
          </a:prstGeom>
          <a:solidFill>
            <a:srgbClr val="1F4B70"/>
          </a:solidFill>
          <a:ln/>
        </p:spPr>
      </p:sp>
      <p:sp>
        <p:nvSpPr>
          <p:cNvPr id="27" name="Text 25"/>
          <p:cNvSpPr txBox="1"/>
          <p:nvPr/>
        </p:nvSpPr>
        <p:spPr>
          <a:xfrm>
            <a:off x="8238744" y="2130552"/>
            <a:ext cx="3044952" cy="365760"/>
          </a:xfrm>
          <a:prstGeom prst="rect">
            <a:avLst/>
          </a:prstGeom>
          <a:noFill/>
          <a:ln/>
        </p:spPr>
        <p:txBody>
          <a:bodyPr wrap="square" lIns="0" tIns="0" rIns="0" bIns="0" rtlCol="0" anchor="ctr"/>
          <a:lstStyle/>
          <a:p>
            <a:pPr indent="0" marL="0">
              <a:buNone/>
            </a:pPr>
            <a:r>
              <a:rPr lang="en-US" sz="1500" b="1" dirty="0">
                <a:solidFill>
                  <a:srgbClr val="FFD43B"/>
                </a:solidFill>
                <a:latin typeface="Arial" pitchFamily="34" charset="0"/>
                <a:ea typeface="Arial" pitchFamily="34" charset="-122"/>
                <a:cs typeface="Arial" pitchFamily="34" charset="-120"/>
              </a:rPr>
              <a:t>Python</a:t>
            </a:r>
            <a:endParaRPr lang="en-US" sz="1500" dirty="0"/>
          </a:p>
        </p:txBody>
      </p:sp>
      <p:sp>
        <p:nvSpPr>
          <p:cNvPr id="28" name="Text 26"/>
          <p:cNvSpPr txBox="1"/>
          <p:nvPr/>
        </p:nvSpPr>
        <p:spPr>
          <a:xfrm>
            <a:off x="8238744" y="2651760"/>
            <a:ext cx="3044952" cy="32004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print("Hello, World!")</a:t>
            </a:r>
            <a:endParaRPr lang="en-US" sz="1150" dirty="0"/>
          </a:p>
        </p:txBody>
      </p:sp>
      <p:sp>
        <p:nvSpPr>
          <p:cNvPr id="29" name="Text 27"/>
          <p:cNvSpPr txBox="1"/>
          <p:nvPr/>
        </p:nvSpPr>
        <p:spPr>
          <a:xfrm>
            <a:off x="8238744" y="5074920"/>
            <a:ext cx="3044952" cy="320040"/>
          </a:xfrm>
          <a:prstGeom prst="rect">
            <a:avLst/>
          </a:prstGeom>
          <a:noFill/>
          <a:ln/>
        </p:spPr>
        <p:txBody>
          <a:bodyPr wrap="square" lIns="0" tIns="0" rIns="0" bIns="0" rtlCol="0" anchor="ctr"/>
          <a:lstStyle/>
          <a:p>
            <a:pPr indent="0" marL="0">
              <a:buNone/>
            </a:pPr>
            <a:r>
              <a:rPr lang="en-US" sz="1150" i="1" dirty="0">
                <a:solidFill>
                  <a:srgbClr val="FFD43B"/>
                </a:solidFill>
                <a:latin typeface="Calibri" pitchFamily="34" charset="0"/>
                <a:ea typeface="Calibri" pitchFamily="34" charset="-122"/>
                <a:cs typeface="Calibri" pitchFamily="34" charset="-120"/>
              </a:rPr>
              <a:t>1 line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28</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Why teams choose Python</a:t>
            </a:r>
            <a:endParaRPr lang="en-US" sz="3200" dirty="0"/>
          </a:p>
        </p:txBody>
      </p:sp>
      <p:sp>
        <p:nvSpPr>
          <p:cNvPr id="6" name="Text 4"/>
          <p:cNvSpPr/>
          <p:nvPr/>
        </p:nvSpPr>
        <p:spPr>
          <a:xfrm>
            <a:off x="640080" y="1600200"/>
            <a:ext cx="3291840" cy="320040"/>
          </a:xfrm>
          <a:prstGeom prst="rect">
            <a:avLst/>
          </a:prstGeom>
          <a:noFill/>
          <a:ln/>
        </p:spPr>
        <p:txBody>
          <a:bodyPr wrap="square" rtlCol="0" anchor="ctr"/>
          <a:lstStyle/>
          <a:p>
            <a:pPr indent="0" marL="0">
              <a:buNone/>
            </a:pPr>
            <a:endParaRPr lang="en-US" dirty="0"/>
          </a:p>
        </p:txBody>
      </p:sp>
      <p:sp>
        <p:nvSpPr>
          <p:cNvPr id="7" name="Text 5"/>
          <p:cNvSpPr txBox="1"/>
          <p:nvPr/>
        </p:nvSpPr>
        <p:spPr>
          <a:xfrm>
            <a:off x="640080" y="1600200"/>
            <a:ext cx="3108960" cy="32004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FACTOR</a:t>
            </a:r>
            <a:endParaRPr lang="en-US" sz="1100" dirty="0"/>
          </a:p>
        </p:txBody>
      </p:sp>
      <p:sp>
        <p:nvSpPr>
          <p:cNvPr id="8" name="Text 6"/>
          <p:cNvSpPr txBox="1"/>
          <p:nvPr/>
        </p:nvSpPr>
        <p:spPr>
          <a:xfrm>
            <a:off x="4206240" y="1600200"/>
            <a:ext cx="3749040" cy="320040"/>
          </a:xfrm>
          <a:prstGeom prst="rect">
            <a:avLst/>
          </a:prstGeom>
          <a:noFill/>
          <a:ln/>
        </p:spPr>
        <p:txBody>
          <a:bodyPr wrap="square" lIns="0" tIns="0" rIns="0" bIns="0" rtlCol="0" anchor="ctr"/>
          <a:lstStyle/>
          <a:p>
            <a:pPr indent="0" marL="0">
              <a:buNone/>
            </a:pPr>
            <a:r>
              <a:rPr lang="en-US" sz="1100" b="1" dirty="0">
                <a:solidFill>
                  <a:srgbClr val="306998"/>
                </a:solidFill>
                <a:latin typeface="Arial" pitchFamily="34" charset="0"/>
                <a:ea typeface="Arial" pitchFamily="34" charset="-122"/>
                <a:cs typeface="Arial" pitchFamily="34" charset="-120"/>
              </a:rPr>
              <a:t>PYTHON</a:t>
            </a:r>
            <a:endParaRPr lang="en-US" sz="1100" dirty="0"/>
          </a:p>
        </p:txBody>
      </p:sp>
      <p:sp>
        <p:nvSpPr>
          <p:cNvPr id="9" name="Text 7"/>
          <p:cNvSpPr txBox="1"/>
          <p:nvPr/>
        </p:nvSpPr>
        <p:spPr>
          <a:xfrm>
            <a:off x="8138160" y="1600200"/>
            <a:ext cx="3383280" cy="32004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MANY OTHER LANGUAGES</a:t>
            </a:r>
            <a:endParaRPr lang="en-US" sz="1100" dirty="0"/>
          </a:p>
        </p:txBody>
      </p:sp>
      <p:sp>
        <p:nvSpPr>
          <p:cNvPr id="10" name="Shape 8"/>
          <p:cNvSpPr/>
          <p:nvPr/>
        </p:nvSpPr>
        <p:spPr>
          <a:xfrm>
            <a:off x="640080" y="2057400"/>
            <a:ext cx="10881360" cy="868680"/>
          </a:xfrm>
          <a:prstGeom prst="rect">
            <a:avLst/>
          </a:prstGeom>
          <a:solidFill>
            <a:srgbClr val="F4F6F9"/>
          </a:solidFill>
          <a:ln/>
        </p:spPr>
      </p:sp>
      <p:sp>
        <p:nvSpPr>
          <p:cNvPr id="11" name="Text 9"/>
          <p:cNvSpPr txBox="1"/>
          <p:nvPr/>
        </p:nvSpPr>
        <p:spPr>
          <a:xfrm>
            <a:off x="640080" y="2057400"/>
            <a:ext cx="3108960" cy="8686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Readability</a:t>
            </a:r>
            <a:endParaRPr lang="en-US" sz="1350" dirty="0"/>
          </a:p>
        </p:txBody>
      </p:sp>
      <p:sp>
        <p:nvSpPr>
          <p:cNvPr id="12" name="Text 10"/>
          <p:cNvSpPr txBox="1"/>
          <p:nvPr/>
        </p:nvSpPr>
        <p:spPr>
          <a:xfrm>
            <a:off x="4206240" y="2057400"/>
            <a:ext cx="3749040" cy="8686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Reads close to plain English</a:t>
            </a:r>
            <a:endParaRPr lang="en-US" sz="1250" dirty="0"/>
          </a:p>
        </p:txBody>
      </p:sp>
      <p:sp>
        <p:nvSpPr>
          <p:cNvPr id="13" name="Text 11"/>
          <p:cNvSpPr txBox="1"/>
          <p:nvPr/>
        </p:nvSpPr>
        <p:spPr>
          <a:xfrm>
            <a:off x="8138160" y="2057400"/>
            <a:ext cx="3383280" cy="8686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More symbols and boilerplate</a:t>
            </a:r>
            <a:endParaRPr lang="en-US" sz="1250" dirty="0"/>
          </a:p>
        </p:txBody>
      </p:sp>
      <p:sp>
        <p:nvSpPr>
          <p:cNvPr id="14" name="Text 12"/>
          <p:cNvSpPr txBox="1"/>
          <p:nvPr/>
        </p:nvSpPr>
        <p:spPr>
          <a:xfrm>
            <a:off x="640080" y="2926080"/>
            <a:ext cx="3108960" cy="8686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Learning curve</a:t>
            </a:r>
            <a:endParaRPr lang="en-US" sz="1350" dirty="0"/>
          </a:p>
        </p:txBody>
      </p:sp>
      <p:sp>
        <p:nvSpPr>
          <p:cNvPr id="15" name="Text 13"/>
          <p:cNvSpPr txBox="1"/>
          <p:nvPr/>
        </p:nvSpPr>
        <p:spPr>
          <a:xfrm>
            <a:off x="4206240" y="2926080"/>
            <a:ext cx="3749040" cy="8686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Beginners write real code in days</a:t>
            </a:r>
            <a:endParaRPr lang="en-US" sz="1250" dirty="0"/>
          </a:p>
        </p:txBody>
      </p:sp>
      <p:sp>
        <p:nvSpPr>
          <p:cNvPr id="16" name="Text 14"/>
          <p:cNvSpPr txBox="1"/>
          <p:nvPr/>
        </p:nvSpPr>
        <p:spPr>
          <a:xfrm>
            <a:off x="8138160" y="2926080"/>
            <a:ext cx="3383280" cy="8686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Often takes weeks to get productive</a:t>
            </a:r>
            <a:endParaRPr lang="en-US" sz="1250" dirty="0"/>
          </a:p>
        </p:txBody>
      </p:sp>
      <p:sp>
        <p:nvSpPr>
          <p:cNvPr id="17" name="Shape 15"/>
          <p:cNvSpPr/>
          <p:nvPr/>
        </p:nvSpPr>
        <p:spPr>
          <a:xfrm>
            <a:off x="640080" y="3794760"/>
            <a:ext cx="10881360" cy="868680"/>
          </a:xfrm>
          <a:prstGeom prst="rect">
            <a:avLst/>
          </a:prstGeom>
          <a:solidFill>
            <a:srgbClr val="F4F6F9"/>
          </a:solidFill>
          <a:ln/>
        </p:spPr>
      </p:sp>
      <p:sp>
        <p:nvSpPr>
          <p:cNvPr id="18" name="Text 16"/>
          <p:cNvSpPr txBox="1"/>
          <p:nvPr/>
        </p:nvSpPr>
        <p:spPr>
          <a:xfrm>
            <a:off x="640080" y="3794760"/>
            <a:ext cx="3108960" cy="8686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Libraries</a:t>
            </a:r>
            <a:endParaRPr lang="en-US" sz="1350" dirty="0"/>
          </a:p>
        </p:txBody>
      </p:sp>
      <p:sp>
        <p:nvSpPr>
          <p:cNvPr id="19" name="Text 17"/>
          <p:cNvSpPr txBox="1"/>
          <p:nvPr/>
        </p:nvSpPr>
        <p:spPr>
          <a:xfrm>
            <a:off x="4206240" y="3794760"/>
            <a:ext cx="3749040" cy="8686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Huge ecosystem for almost any task</a:t>
            </a:r>
            <a:endParaRPr lang="en-US" sz="1250" dirty="0"/>
          </a:p>
        </p:txBody>
      </p:sp>
      <p:sp>
        <p:nvSpPr>
          <p:cNvPr id="20" name="Text 18"/>
          <p:cNvSpPr txBox="1"/>
          <p:nvPr/>
        </p:nvSpPr>
        <p:spPr>
          <a:xfrm>
            <a:off x="8138160" y="3794760"/>
            <a:ext cx="3383280" cy="8686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Varies widely by language</a:t>
            </a:r>
            <a:endParaRPr lang="en-US" sz="1250" dirty="0"/>
          </a:p>
        </p:txBody>
      </p:sp>
      <p:sp>
        <p:nvSpPr>
          <p:cNvPr id="21" name="Text 19"/>
          <p:cNvSpPr txBox="1"/>
          <p:nvPr/>
        </p:nvSpPr>
        <p:spPr>
          <a:xfrm>
            <a:off x="640080" y="4663440"/>
            <a:ext cx="3108960" cy="8686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Community</a:t>
            </a:r>
            <a:endParaRPr lang="en-US" sz="1350" dirty="0"/>
          </a:p>
        </p:txBody>
      </p:sp>
      <p:sp>
        <p:nvSpPr>
          <p:cNvPr id="22" name="Text 20"/>
          <p:cNvSpPr txBox="1"/>
          <p:nvPr/>
        </p:nvSpPr>
        <p:spPr>
          <a:xfrm>
            <a:off x="4206240" y="4663440"/>
            <a:ext cx="3749040" cy="8686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Millions of users, answers everywhere</a:t>
            </a:r>
            <a:endParaRPr lang="en-US" sz="1250" dirty="0"/>
          </a:p>
        </p:txBody>
      </p:sp>
      <p:sp>
        <p:nvSpPr>
          <p:cNvPr id="23" name="Text 21"/>
          <p:cNvSpPr txBox="1"/>
          <p:nvPr/>
        </p:nvSpPr>
        <p:spPr>
          <a:xfrm>
            <a:off x="8138160" y="4663440"/>
            <a:ext cx="3383280" cy="8686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Smaller or more specialized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Python?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In fairness: not always the right tool</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No language is best at everything, and a good developer knows Python's limits too.</a:t>
            </a:r>
            <a:endParaRPr lang="en-US" sz="1400" dirty="0"/>
          </a:p>
        </p:txBody>
      </p:sp>
      <p:sp>
        <p:nvSpPr>
          <p:cNvPr id="7" name="Shape 5"/>
          <p:cNvSpPr/>
          <p:nvPr/>
        </p:nvSpPr>
        <p:spPr>
          <a:xfrm>
            <a:off x="640080" y="2103120"/>
            <a:ext cx="3429000" cy="3200400"/>
          </a:xfrm>
          <a:prstGeom prst="roundRect">
            <a:avLst>
              <a:gd name="adj" fmla="val 2571"/>
            </a:avLst>
          </a:prstGeom>
          <a:solidFill>
            <a:srgbClr val="F4F6F9"/>
          </a:solidFill>
          <a:ln/>
        </p:spPr>
      </p:sp>
      <p:sp>
        <p:nvSpPr>
          <p:cNvPr id="8" name="Shape 6"/>
          <p:cNvSpPr/>
          <p:nvPr/>
        </p:nvSpPr>
        <p:spPr>
          <a:xfrm>
            <a:off x="1988820" y="2423160"/>
            <a:ext cx="731520" cy="731520"/>
          </a:xfrm>
          <a:prstGeom prst="ellipse">
            <a:avLst/>
          </a:prstGeom>
          <a:solidFill>
            <a:srgbClr val="B03A2E"/>
          </a:solidFill>
          <a:ln/>
        </p:spPr>
      </p:sp>
      <p:pic>
        <p:nvPicPr>
          <p:cNvPr id="9" name="Image 0" descr="/tmp/claude-0/-home-user-pythonSEM-intro/a422a649-6240-52ae-9445-beabcf08c9b3/scratchpad/pyintro/icons/warning.png">    </p:cNvPr>
          <p:cNvPicPr>
            <a:picLocks noChangeAspect="1"/>
          </p:cNvPicPr>
          <p:nvPr/>
        </p:nvPicPr>
        <p:blipFill>
          <a:blip r:embed="rId1"/>
          <a:stretch>
            <a:fillRect/>
          </a:stretch>
        </p:blipFill>
        <p:spPr>
          <a:xfrm>
            <a:off x="2083918" y="2518258"/>
            <a:ext cx="541325" cy="541325"/>
          </a:xfrm>
          <a:prstGeom prst="rect">
            <a:avLst/>
          </a:prstGeom>
        </p:spPr>
      </p:pic>
      <p:sp>
        <p:nvSpPr>
          <p:cNvPr id="10" name="Text 7"/>
          <p:cNvSpPr txBox="1"/>
          <p:nvPr/>
        </p:nvSpPr>
        <p:spPr>
          <a:xfrm>
            <a:off x="9144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Raw speed matters</a:t>
            </a:r>
            <a:endParaRPr lang="en-US" sz="1500" dirty="0"/>
          </a:p>
        </p:txBody>
      </p:sp>
      <p:sp>
        <p:nvSpPr>
          <p:cNvPr id="11" name="Text 8"/>
          <p:cNvSpPr txBox="1"/>
          <p:nvPr/>
        </p:nvSpPr>
        <p:spPr>
          <a:xfrm>
            <a:off x="9144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Compiled languages like C++ or Rust run faster for heavy, low-level computation such as game engines.</a:t>
            </a:r>
            <a:endParaRPr lang="en-US" sz="1200" dirty="0"/>
          </a:p>
        </p:txBody>
      </p:sp>
      <p:sp>
        <p:nvSpPr>
          <p:cNvPr id="12" name="Shape 9"/>
          <p:cNvSpPr/>
          <p:nvPr/>
        </p:nvSpPr>
        <p:spPr>
          <a:xfrm>
            <a:off x="4297680" y="2103120"/>
            <a:ext cx="3429000" cy="3200400"/>
          </a:xfrm>
          <a:prstGeom prst="roundRect">
            <a:avLst>
              <a:gd name="adj" fmla="val 2571"/>
            </a:avLst>
          </a:prstGeom>
          <a:solidFill>
            <a:srgbClr val="F4F6F9"/>
          </a:solidFill>
          <a:ln/>
        </p:spPr>
      </p:sp>
      <p:sp>
        <p:nvSpPr>
          <p:cNvPr id="13" name="Shape 10"/>
          <p:cNvSpPr/>
          <p:nvPr/>
        </p:nvSpPr>
        <p:spPr>
          <a:xfrm>
            <a:off x="5646420" y="2423160"/>
            <a:ext cx="731520" cy="731520"/>
          </a:xfrm>
          <a:prstGeom prst="ellipse">
            <a:avLst/>
          </a:prstGeom>
          <a:solidFill>
            <a:srgbClr val="B03A2E"/>
          </a:solidFill>
          <a:ln/>
        </p:spPr>
      </p:sp>
      <p:pic>
        <p:nvPicPr>
          <p:cNvPr id="14" name="Image 1" descr="/tmp/claude-0/-home-user-pythonSEM-intro/a422a649-6240-52ae-9445-beabcf08c9b3/scratchpad/pyintro/icons/warning.png">    </p:cNvPr>
          <p:cNvPicPr>
            <a:picLocks noChangeAspect="1"/>
          </p:cNvPicPr>
          <p:nvPr/>
        </p:nvPicPr>
        <p:blipFill>
          <a:blip r:embed="rId2"/>
          <a:stretch>
            <a:fillRect/>
          </a:stretch>
        </p:blipFill>
        <p:spPr>
          <a:xfrm>
            <a:off x="5741518" y="2518258"/>
            <a:ext cx="541325" cy="541325"/>
          </a:xfrm>
          <a:prstGeom prst="rect">
            <a:avLst/>
          </a:prstGeom>
        </p:spPr>
      </p:pic>
      <p:sp>
        <p:nvSpPr>
          <p:cNvPr id="15" name="Text 11"/>
          <p:cNvSpPr txBox="1"/>
          <p:nvPr/>
        </p:nvSpPr>
        <p:spPr>
          <a:xfrm>
            <a:off x="45720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Mobile apps</a:t>
            </a:r>
            <a:endParaRPr lang="en-US" sz="1500" dirty="0"/>
          </a:p>
        </p:txBody>
      </p:sp>
      <p:sp>
        <p:nvSpPr>
          <p:cNvPr id="16" name="Text 12"/>
          <p:cNvSpPr txBox="1"/>
          <p:nvPr/>
        </p:nvSpPr>
        <p:spPr>
          <a:xfrm>
            <a:off x="45720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Native iOS and Android apps are usually built in Swift, Kotlin, or a cross-platform framework, not Python.</a:t>
            </a:r>
            <a:endParaRPr lang="en-US" sz="1200" dirty="0"/>
          </a:p>
        </p:txBody>
      </p:sp>
      <p:sp>
        <p:nvSpPr>
          <p:cNvPr id="17" name="Shape 13"/>
          <p:cNvSpPr/>
          <p:nvPr/>
        </p:nvSpPr>
        <p:spPr>
          <a:xfrm>
            <a:off x="7955280" y="2103120"/>
            <a:ext cx="3429000" cy="3200400"/>
          </a:xfrm>
          <a:prstGeom prst="roundRect">
            <a:avLst>
              <a:gd name="adj" fmla="val 2571"/>
            </a:avLst>
          </a:prstGeom>
          <a:solidFill>
            <a:srgbClr val="F4F6F9"/>
          </a:solidFill>
          <a:ln/>
        </p:spPr>
      </p:sp>
      <p:sp>
        <p:nvSpPr>
          <p:cNvPr id="18" name="Shape 14"/>
          <p:cNvSpPr/>
          <p:nvPr/>
        </p:nvSpPr>
        <p:spPr>
          <a:xfrm>
            <a:off x="9304020" y="2423160"/>
            <a:ext cx="731520" cy="731520"/>
          </a:xfrm>
          <a:prstGeom prst="ellipse">
            <a:avLst/>
          </a:prstGeom>
          <a:solidFill>
            <a:srgbClr val="B03A2E"/>
          </a:solidFill>
          <a:ln/>
        </p:spPr>
      </p:sp>
      <p:pic>
        <p:nvPicPr>
          <p:cNvPr id="19" name="Image 2" descr="/tmp/claude-0/-home-user-pythonSEM-intro/a422a649-6240-52ae-9445-beabcf08c9b3/scratchpad/pyintro/icons/warning.png">    </p:cNvPr>
          <p:cNvPicPr>
            <a:picLocks noChangeAspect="1"/>
          </p:cNvPicPr>
          <p:nvPr/>
        </p:nvPicPr>
        <p:blipFill>
          <a:blip r:embed="rId3"/>
          <a:stretch>
            <a:fillRect/>
          </a:stretch>
        </p:blipFill>
        <p:spPr>
          <a:xfrm>
            <a:off x="9399118" y="2518258"/>
            <a:ext cx="541325" cy="541325"/>
          </a:xfrm>
          <a:prstGeom prst="rect">
            <a:avLst/>
          </a:prstGeom>
        </p:spPr>
      </p:pic>
      <p:sp>
        <p:nvSpPr>
          <p:cNvPr id="20" name="Text 15"/>
          <p:cNvSpPr txBox="1"/>
          <p:nvPr/>
        </p:nvSpPr>
        <p:spPr>
          <a:xfrm>
            <a:off x="82296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Very small footprint devices</a:t>
            </a:r>
            <a:endParaRPr lang="en-US" sz="1500" dirty="0"/>
          </a:p>
        </p:txBody>
      </p:sp>
      <p:sp>
        <p:nvSpPr>
          <p:cNvPr id="21" name="Text 16"/>
          <p:cNvSpPr txBox="1"/>
          <p:nvPr/>
        </p:nvSpPr>
        <p:spPr>
          <a:xfrm>
            <a:off x="82296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Some embedded or memory-constrained hardware favors lighter languages like C.</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6</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Good Habits to Know</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The small, practical things that will save you time and confusion early on.</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pyintro/icons/gear.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6</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31</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Running code, and keeping projects tidy</a:t>
            </a:r>
            <a:endParaRPr lang="en-US" sz="3200" dirty="0"/>
          </a:p>
        </p:txBody>
      </p:sp>
      <p:sp>
        <p:nvSpPr>
          <p:cNvPr id="6" name="Shape 4"/>
          <p:cNvSpPr/>
          <p:nvPr/>
        </p:nvSpPr>
        <p:spPr>
          <a:xfrm>
            <a:off x="640080" y="1554480"/>
            <a:ext cx="5120640" cy="3931920"/>
          </a:xfrm>
          <a:prstGeom prst="roundRect">
            <a:avLst>
              <a:gd name="adj" fmla="val 2093"/>
            </a:avLst>
          </a:prstGeom>
          <a:solidFill>
            <a:srgbClr val="F4F6F9"/>
          </a:solidFill>
          <a:ln/>
        </p:spPr>
      </p:sp>
      <p:sp>
        <p:nvSpPr>
          <p:cNvPr id="7" name="Shape 5"/>
          <p:cNvSpPr/>
          <p:nvPr/>
        </p:nvSpPr>
        <p:spPr>
          <a:xfrm>
            <a:off x="914400" y="1828800"/>
            <a:ext cx="640080" cy="640080"/>
          </a:xfrm>
          <a:prstGeom prst="ellipse">
            <a:avLst/>
          </a:prstGeom>
          <a:solidFill>
            <a:srgbClr val="306998"/>
          </a:solidFill>
          <a:ln/>
        </p:spPr>
      </p:sp>
      <p:pic>
        <p:nvPicPr>
          <p:cNvPr id="8" name="Image 0" descr="/tmp/claude-0/-home-user-pythonSEM-intro/a422a649-6240-52ae-9445-beabcf08c9b3/scratchpad/pyintro/icons/terminal.png">    </p:cNvPr>
          <p:cNvPicPr>
            <a:picLocks noChangeAspect="1"/>
          </p:cNvPicPr>
          <p:nvPr/>
        </p:nvPicPr>
        <p:blipFill>
          <a:blip r:embed="rId1"/>
          <a:stretch>
            <a:fillRect/>
          </a:stretch>
        </p:blipFill>
        <p:spPr>
          <a:xfrm>
            <a:off x="997610" y="1912010"/>
            <a:ext cx="473659" cy="473659"/>
          </a:xfrm>
          <a:prstGeom prst="rect">
            <a:avLst/>
          </a:prstGeom>
        </p:spPr>
      </p:pic>
      <p:sp>
        <p:nvSpPr>
          <p:cNvPr id="9" name="Text 6"/>
          <p:cNvSpPr txBox="1"/>
          <p:nvPr/>
        </p:nvSpPr>
        <p:spPr>
          <a:xfrm>
            <a:off x="1691640" y="1920240"/>
            <a:ext cx="3840480" cy="502920"/>
          </a:xfrm>
          <a:prstGeom prst="rect">
            <a:avLst/>
          </a:prstGeom>
          <a:noFill/>
          <a:ln/>
        </p:spPr>
        <p:txBody>
          <a:bodyPr wrap="square" lIns="0" tIns="0" rIns="0" bIns="0" rtlCol="0" anchor="ctr"/>
          <a:lstStyle/>
          <a:p>
            <a:pPr indent="0" marL="0">
              <a:buNone/>
            </a:pPr>
            <a:r>
              <a:rPr lang="en-US" sz="1550" b="1" dirty="0">
                <a:solidFill>
                  <a:srgbClr val="1F2937"/>
                </a:solidFill>
                <a:latin typeface="Arial" pitchFamily="34" charset="0"/>
                <a:ea typeface="Arial" pitchFamily="34" charset="-122"/>
                <a:cs typeface="Arial" pitchFamily="34" charset="-120"/>
              </a:rPr>
              <a:t>Three ways to run Python</a:t>
            </a:r>
            <a:endParaRPr lang="en-US" sz="1550" dirty="0"/>
          </a:p>
        </p:txBody>
      </p:sp>
      <p:sp>
        <p:nvSpPr>
          <p:cNvPr id="10" name="Shape 7"/>
          <p:cNvSpPr/>
          <p:nvPr/>
        </p:nvSpPr>
        <p:spPr>
          <a:xfrm>
            <a:off x="914400" y="2743200"/>
            <a:ext cx="146304" cy="146304"/>
          </a:xfrm>
          <a:prstGeom prst="ellipse">
            <a:avLst/>
          </a:prstGeom>
          <a:solidFill>
            <a:srgbClr val="FFD43B"/>
          </a:solidFill>
          <a:ln/>
        </p:spPr>
      </p:sp>
      <p:sp>
        <p:nvSpPr>
          <p:cNvPr id="11" name="Text 8"/>
          <p:cNvSpPr txBox="1"/>
          <p:nvPr/>
        </p:nvSpPr>
        <p:spPr>
          <a:xfrm>
            <a:off x="1188720" y="2697480"/>
            <a:ext cx="4297680" cy="27432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Terminal</a:t>
            </a:r>
            <a:endParaRPr lang="en-US" sz="1300" dirty="0"/>
          </a:p>
        </p:txBody>
      </p:sp>
      <p:sp>
        <p:nvSpPr>
          <p:cNvPr id="12" name="Text 9"/>
          <p:cNvSpPr txBox="1"/>
          <p:nvPr/>
        </p:nvSpPr>
        <p:spPr>
          <a:xfrm>
            <a:off x="1188720" y="2971800"/>
            <a:ext cx="429768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python filename.py, direct and simple</a:t>
            </a:r>
            <a:endParaRPr lang="en-US" sz="1150" dirty="0"/>
          </a:p>
        </p:txBody>
      </p:sp>
      <p:sp>
        <p:nvSpPr>
          <p:cNvPr id="13" name="Shape 10"/>
          <p:cNvSpPr/>
          <p:nvPr/>
        </p:nvSpPr>
        <p:spPr>
          <a:xfrm>
            <a:off x="914400" y="3584448"/>
            <a:ext cx="146304" cy="146304"/>
          </a:xfrm>
          <a:prstGeom prst="ellipse">
            <a:avLst/>
          </a:prstGeom>
          <a:solidFill>
            <a:srgbClr val="FFD43B"/>
          </a:solidFill>
          <a:ln/>
        </p:spPr>
      </p:sp>
      <p:sp>
        <p:nvSpPr>
          <p:cNvPr id="14" name="Text 11"/>
          <p:cNvSpPr txBox="1"/>
          <p:nvPr/>
        </p:nvSpPr>
        <p:spPr>
          <a:xfrm>
            <a:off x="1188720" y="3538728"/>
            <a:ext cx="4297680" cy="27432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Editor "Run" button</a:t>
            </a:r>
            <a:endParaRPr lang="en-US" sz="1300" dirty="0"/>
          </a:p>
        </p:txBody>
      </p:sp>
      <p:sp>
        <p:nvSpPr>
          <p:cNvPr id="15" name="Text 12"/>
          <p:cNvSpPr txBox="1"/>
          <p:nvPr/>
        </p:nvSpPr>
        <p:spPr>
          <a:xfrm>
            <a:off x="1188720" y="3813048"/>
            <a:ext cx="429768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VS Code and most editors run the file for you</a:t>
            </a:r>
            <a:endParaRPr lang="en-US" sz="1150" dirty="0"/>
          </a:p>
        </p:txBody>
      </p:sp>
      <p:sp>
        <p:nvSpPr>
          <p:cNvPr id="16" name="Shape 13"/>
          <p:cNvSpPr/>
          <p:nvPr/>
        </p:nvSpPr>
        <p:spPr>
          <a:xfrm>
            <a:off x="914400" y="4425696"/>
            <a:ext cx="146304" cy="146304"/>
          </a:xfrm>
          <a:prstGeom prst="ellipse">
            <a:avLst/>
          </a:prstGeom>
          <a:solidFill>
            <a:srgbClr val="FFD43B"/>
          </a:solidFill>
          <a:ln/>
        </p:spPr>
      </p:sp>
      <p:sp>
        <p:nvSpPr>
          <p:cNvPr id="17" name="Text 14"/>
          <p:cNvSpPr txBox="1"/>
          <p:nvPr/>
        </p:nvSpPr>
        <p:spPr>
          <a:xfrm>
            <a:off x="1188720" y="4379976"/>
            <a:ext cx="4297680" cy="27432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Notebook cells</a:t>
            </a:r>
            <a:endParaRPr lang="en-US" sz="1300" dirty="0"/>
          </a:p>
        </p:txBody>
      </p:sp>
      <p:sp>
        <p:nvSpPr>
          <p:cNvPr id="18" name="Text 15"/>
          <p:cNvSpPr txBox="1"/>
          <p:nvPr/>
        </p:nvSpPr>
        <p:spPr>
          <a:xfrm>
            <a:off x="1188720" y="4654296"/>
            <a:ext cx="429768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Jupyter runs one block at a time, great for exploring</a:t>
            </a:r>
            <a:endParaRPr lang="en-US" sz="1150" dirty="0"/>
          </a:p>
        </p:txBody>
      </p:sp>
      <p:sp>
        <p:nvSpPr>
          <p:cNvPr id="19" name="Shape 16"/>
          <p:cNvSpPr/>
          <p:nvPr/>
        </p:nvSpPr>
        <p:spPr>
          <a:xfrm>
            <a:off x="6035040" y="1554480"/>
            <a:ext cx="5513832" cy="3931920"/>
          </a:xfrm>
          <a:prstGeom prst="roundRect">
            <a:avLst>
              <a:gd name="adj" fmla="val 2093"/>
            </a:avLst>
          </a:prstGeom>
          <a:solidFill>
            <a:srgbClr val="F4F6F9"/>
          </a:solidFill>
          <a:ln/>
        </p:spPr>
      </p:sp>
      <p:sp>
        <p:nvSpPr>
          <p:cNvPr id="20" name="Shape 17"/>
          <p:cNvSpPr/>
          <p:nvPr/>
        </p:nvSpPr>
        <p:spPr>
          <a:xfrm>
            <a:off x="6309360" y="1828800"/>
            <a:ext cx="640080" cy="640080"/>
          </a:xfrm>
          <a:prstGeom prst="ellipse">
            <a:avLst/>
          </a:prstGeom>
          <a:solidFill>
            <a:srgbClr val="306998"/>
          </a:solidFill>
          <a:ln/>
        </p:spPr>
      </p:sp>
      <p:pic>
        <p:nvPicPr>
          <p:cNvPr id="21" name="Image 1" descr="/tmp/claude-0/-home-user-pythonSEM-intro/a422a649-6240-52ae-9445-beabcf08c9b3/scratchpad/pyintro/icons/folder.png">    </p:cNvPr>
          <p:cNvPicPr>
            <a:picLocks noChangeAspect="1"/>
          </p:cNvPicPr>
          <p:nvPr/>
        </p:nvPicPr>
        <p:blipFill>
          <a:blip r:embed="rId2"/>
          <a:stretch>
            <a:fillRect/>
          </a:stretch>
        </p:blipFill>
        <p:spPr>
          <a:xfrm>
            <a:off x="6392570" y="1912010"/>
            <a:ext cx="473659" cy="473659"/>
          </a:xfrm>
          <a:prstGeom prst="rect">
            <a:avLst/>
          </a:prstGeom>
        </p:spPr>
      </p:pic>
      <p:sp>
        <p:nvSpPr>
          <p:cNvPr id="22" name="Text 18"/>
          <p:cNvSpPr txBox="1"/>
          <p:nvPr/>
        </p:nvSpPr>
        <p:spPr>
          <a:xfrm>
            <a:off x="7086600" y="1920240"/>
            <a:ext cx="4233672" cy="502920"/>
          </a:xfrm>
          <a:prstGeom prst="rect">
            <a:avLst/>
          </a:prstGeom>
          <a:noFill/>
          <a:ln/>
        </p:spPr>
        <p:txBody>
          <a:bodyPr wrap="square" lIns="0" tIns="0" rIns="0" bIns="0" rtlCol="0" anchor="ctr"/>
          <a:lstStyle/>
          <a:p>
            <a:pPr indent="0" marL="0">
              <a:buNone/>
            </a:pPr>
            <a:r>
              <a:rPr lang="en-US" sz="1550" b="1" dirty="0">
                <a:solidFill>
                  <a:srgbClr val="1F2937"/>
                </a:solidFill>
                <a:latin typeface="Arial" pitchFamily="34" charset="0"/>
                <a:ea typeface="Arial" pitchFamily="34" charset="-122"/>
                <a:cs typeface="Arial" pitchFamily="34" charset="-120"/>
              </a:rPr>
              <a:t>pip and virtual environments</a:t>
            </a:r>
            <a:endParaRPr lang="en-US" sz="1550" dirty="0"/>
          </a:p>
        </p:txBody>
      </p:sp>
      <p:sp>
        <p:nvSpPr>
          <p:cNvPr id="23" name="Text 19"/>
          <p:cNvSpPr txBox="1"/>
          <p:nvPr/>
        </p:nvSpPr>
        <p:spPr>
          <a:xfrm>
            <a:off x="6309360" y="2651760"/>
            <a:ext cx="4965192" cy="9144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pip installs libraries. A virtual environment is a private, isolated copy of Python for one project, so its libraries don't clash with another project's.</a:t>
            </a:r>
            <a:endParaRPr lang="en-US" sz="1250" dirty="0"/>
          </a:p>
        </p:txBody>
      </p:sp>
      <p:sp>
        <p:nvSpPr>
          <p:cNvPr id="24" name="Shape 20"/>
          <p:cNvSpPr/>
          <p:nvPr/>
        </p:nvSpPr>
        <p:spPr>
          <a:xfrm>
            <a:off x="6309360" y="3611880"/>
            <a:ext cx="4965192" cy="1463040"/>
          </a:xfrm>
          <a:prstGeom prst="roundRect">
            <a:avLst>
              <a:gd name="adj" fmla="val 5000"/>
            </a:avLst>
          </a:prstGeom>
          <a:solidFill>
            <a:srgbClr val="132038"/>
          </a:solidFill>
          <a:ln/>
        </p:spPr>
      </p:sp>
      <p:sp>
        <p:nvSpPr>
          <p:cNvPr id="25" name="Text 21"/>
          <p:cNvSpPr txBox="1"/>
          <p:nvPr/>
        </p:nvSpPr>
        <p:spPr>
          <a:xfrm>
            <a:off x="6629400" y="3813048"/>
            <a:ext cx="4416552"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python -m venv env</a:t>
            </a:r>
            <a:endParaRPr lang="en-US" sz="1500" dirty="0"/>
          </a:p>
        </p:txBody>
      </p:sp>
      <p:sp>
        <p:nvSpPr>
          <p:cNvPr id="26" name="Text 22"/>
          <p:cNvSpPr txBox="1"/>
          <p:nvPr/>
        </p:nvSpPr>
        <p:spPr>
          <a:xfrm>
            <a:off x="6629400" y="4197096"/>
            <a:ext cx="4416552"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source env/bin/activate</a:t>
            </a:r>
            <a:endParaRPr lang="en-US" sz="1500" dirty="0"/>
          </a:p>
        </p:txBody>
      </p:sp>
      <p:sp>
        <p:nvSpPr>
          <p:cNvPr id="27" name="Text 23"/>
          <p:cNvSpPr txBox="1"/>
          <p:nvPr/>
        </p:nvSpPr>
        <p:spPr>
          <a:xfrm>
            <a:off x="6629400" y="4581144"/>
            <a:ext cx="4416552"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pip install requests</a:t>
            </a:r>
            <a:endParaRPr lang="en-US" sz="1500" dirty="0"/>
          </a:p>
        </p:txBody>
      </p:sp>
      <p:sp>
        <p:nvSpPr>
          <p:cNvPr id="28" name="Text 24"/>
          <p:cNvSpPr txBox="1"/>
          <p:nvPr/>
        </p:nvSpPr>
        <p:spPr>
          <a:xfrm>
            <a:off x="6309360" y="5166360"/>
            <a:ext cx="4965192" cy="27432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(On Windows, activate with: env\Scripts\activate)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32</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Mistakes almost everyone makes at first</a:t>
            </a:r>
            <a:endParaRPr lang="en-US" sz="3200" dirty="0"/>
          </a:p>
        </p:txBody>
      </p:sp>
      <p:sp>
        <p:nvSpPr>
          <p:cNvPr id="6" name="Shape 4"/>
          <p:cNvSpPr/>
          <p:nvPr/>
        </p:nvSpPr>
        <p:spPr>
          <a:xfrm>
            <a:off x="640080" y="1554480"/>
            <a:ext cx="5257800" cy="1417320"/>
          </a:xfrm>
          <a:prstGeom prst="roundRect">
            <a:avLst>
              <a:gd name="adj" fmla="val 5806"/>
            </a:avLst>
          </a:prstGeom>
          <a:solidFill>
            <a:srgbClr val="F4F6F9"/>
          </a:solidFill>
          <a:ln/>
        </p:spPr>
      </p:sp>
      <p:sp>
        <p:nvSpPr>
          <p:cNvPr id="7" name="Shape 5"/>
          <p:cNvSpPr/>
          <p:nvPr/>
        </p:nvSpPr>
        <p:spPr>
          <a:xfrm>
            <a:off x="868680" y="1783080"/>
            <a:ext cx="502920" cy="502920"/>
          </a:xfrm>
          <a:prstGeom prst="ellipse">
            <a:avLst/>
          </a:prstGeom>
          <a:solidFill>
            <a:srgbClr val="B03A2E"/>
          </a:solidFill>
          <a:ln/>
        </p:spPr>
      </p:sp>
      <p:pic>
        <p:nvPicPr>
          <p:cNvPr id="8" name="Image 0" descr="/tmp/claude-0/-home-user-pythonSEM-intro/a422a649-6240-52ae-9445-beabcf08c9b3/scratchpad/pyintro/icons/warning.png">    </p:cNvPr>
          <p:cNvPicPr>
            <a:picLocks noChangeAspect="1"/>
          </p:cNvPicPr>
          <p:nvPr/>
        </p:nvPicPr>
        <p:blipFill>
          <a:blip r:embed="rId1"/>
          <a:stretch>
            <a:fillRect/>
          </a:stretch>
        </p:blipFill>
        <p:spPr>
          <a:xfrm>
            <a:off x="934060" y="1848460"/>
            <a:ext cx="372161" cy="372161"/>
          </a:xfrm>
          <a:prstGeom prst="rect">
            <a:avLst/>
          </a:prstGeom>
        </p:spPr>
      </p:pic>
      <p:sp>
        <p:nvSpPr>
          <p:cNvPr id="9" name="Text 6"/>
          <p:cNvSpPr txBox="1"/>
          <p:nvPr/>
        </p:nvSpPr>
        <p:spPr>
          <a:xfrm>
            <a:off x="150876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Mixing tabs and spaces</a:t>
            </a:r>
            <a:endParaRPr lang="en-US" sz="1400" dirty="0"/>
          </a:p>
        </p:txBody>
      </p:sp>
      <p:sp>
        <p:nvSpPr>
          <p:cNvPr id="10" name="Text 7"/>
          <p:cNvSpPr txBox="1"/>
          <p:nvPr/>
        </p:nvSpPr>
        <p:spPr>
          <a:xfrm>
            <a:off x="91440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Pick spaces (4 is standard) and let your editor handle it consistently.</a:t>
            </a:r>
            <a:endParaRPr lang="en-US" sz="1150" dirty="0"/>
          </a:p>
        </p:txBody>
      </p:sp>
      <p:sp>
        <p:nvSpPr>
          <p:cNvPr id="11" name="Shape 8"/>
          <p:cNvSpPr/>
          <p:nvPr/>
        </p:nvSpPr>
        <p:spPr>
          <a:xfrm>
            <a:off x="6172200" y="1554480"/>
            <a:ext cx="5257800" cy="1417320"/>
          </a:xfrm>
          <a:prstGeom prst="roundRect">
            <a:avLst>
              <a:gd name="adj" fmla="val 5806"/>
            </a:avLst>
          </a:prstGeom>
          <a:solidFill>
            <a:srgbClr val="F4F6F9"/>
          </a:solidFill>
          <a:ln/>
        </p:spPr>
      </p:sp>
      <p:sp>
        <p:nvSpPr>
          <p:cNvPr id="12" name="Shape 9"/>
          <p:cNvSpPr/>
          <p:nvPr/>
        </p:nvSpPr>
        <p:spPr>
          <a:xfrm>
            <a:off x="6400800" y="1783080"/>
            <a:ext cx="502920" cy="502920"/>
          </a:xfrm>
          <a:prstGeom prst="ellipse">
            <a:avLst/>
          </a:prstGeom>
          <a:solidFill>
            <a:srgbClr val="B03A2E"/>
          </a:solidFill>
          <a:ln/>
        </p:spPr>
      </p:sp>
      <p:pic>
        <p:nvPicPr>
          <p:cNvPr id="13" name="Image 1" descr="/tmp/claude-0/-home-user-pythonSEM-intro/a422a649-6240-52ae-9445-beabcf08c9b3/scratchpad/pyintro/icons/warning.png">    </p:cNvPr>
          <p:cNvPicPr>
            <a:picLocks noChangeAspect="1"/>
          </p:cNvPicPr>
          <p:nvPr/>
        </p:nvPicPr>
        <p:blipFill>
          <a:blip r:embed="rId2"/>
          <a:stretch>
            <a:fillRect/>
          </a:stretch>
        </p:blipFill>
        <p:spPr>
          <a:xfrm>
            <a:off x="6466180" y="1848460"/>
            <a:ext cx="372161" cy="372161"/>
          </a:xfrm>
          <a:prstGeom prst="rect">
            <a:avLst/>
          </a:prstGeom>
        </p:spPr>
      </p:pic>
      <p:sp>
        <p:nvSpPr>
          <p:cNvPr id="14" name="Text 10"/>
          <p:cNvSpPr txBox="1"/>
          <p:nvPr/>
        </p:nvSpPr>
        <p:spPr>
          <a:xfrm>
            <a:off x="704088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Forgetting the colon</a:t>
            </a:r>
            <a:endParaRPr lang="en-US" sz="1400" dirty="0"/>
          </a:p>
        </p:txBody>
      </p:sp>
      <p:sp>
        <p:nvSpPr>
          <p:cNvPr id="15" name="Text 11"/>
          <p:cNvSpPr txBox="1"/>
          <p:nvPr/>
        </p:nvSpPr>
        <p:spPr>
          <a:xfrm>
            <a:off x="644652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Lines like if, for, and def all end with a colon before the indented block.</a:t>
            </a:r>
            <a:endParaRPr lang="en-US" sz="1150" dirty="0"/>
          </a:p>
        </p:txBody>
      </p:sp>
      <p:sp>
        <p:nvSpPr>
          <p:cNvPr id="16" name="Shape 12"/>
          <p:cNvSpPr/>
          <p:nvPr/>
        </p:nvSpPr>
        <p:spPr>
          <a:xfrm>
            <a:off x="640080" y="3246120"/>
            <a:ext cx="5257800" cy="1417320"/>
          </a:xfrm>
          <a:prstGeom prst="roundRect">
            <a:avLst>
              <a:gd name="adj" fmla="val 5806"/>
            </a:avLst>
          </a:prstGeom>
          <a:solidFill>
            <a:srgbClr val="F4F6F9"/>
          </a:solidFill>
          <a:ln/>
        </p:spPr>
      </p:sp>
      <p:sp>
        <p:nvSpPr>
          <p:cNvPr id="17" name="Shape 13"/>
          <p:cNvSpPr/>
          <p:nvPr/>
        </p:nvSpPr>
        <p:spPr>
          <a:xfrm>
            <a:off x="868680" y="3474720"/>
            <a:ext cx="502920" cy="502920"/>
          </a:xfrm>
          <a:prstGeom prst="ellipse">
            <a:avLst/>
          </a:prstGeom>
          <a:solidFill>
            <a:srgbClr val="B03A2E"/>
          </a:solidFill>
          <a:ln/>
        </p:spPr>
      </p:sp>
      <p:pic>
        <p:nvPicPr>
          <p:cNvPr id="18" name="Image 2" descr="/tmp/claude-0/-home-user-pythonSEM-intro/a422a649-6240-52ae-9445-beabcf08c9b3/scratchpad/pyintro/icons/warning.png">    </p:cNvPr>
          <p:cNvPicPr>
            <a:picLocks noChangeAspect="1"/>
          </p:cNvPicPr>
          <p:nvPr/>
        </p:nvPicPr>
        <p:blipFill>
          <a:blip r:embed="rId3"/>
          <a:stretch>
            <a:fillRect/>
          </a:stretch>
        </p:blipFill>
        <p:spPr>
          <a:xfrm>
            <a:off x="934060" y="3540100"/>
            <a:ext cx="372161" cy="372161"/>
          </a:xfrm>
          <a:prstGeom prst="rect">
            <a:avLst/>
          </a:prstGeom>
        </p:spPr>
      </p:pic>
      <p:sp>
        <p:nvSpPr>
          <p:cNvPr id="19" name="Text 14"/>
          <p:cNvSpPr txBox="1"/>
          <p:nvPr/>
        </p:nvSpPr>
        <p:spPr>
          <a:xfrm>
            <a:off x="150876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Comparing with = instead of ==</a:t>
            </a:r>
            <a:endParaRPr lang="en-US" sz="1400" dirty="0"/>
          </a:p>
        </p:txBody>
      </p:sp>
      <p:sp>
        <p:nvSpPr>
          <p:cNvPr id="20" name="Text 15"/>
          <p:cNvSpPr txBox="1"/>
          <p:nvPr/>
        </p:nvSpPr>
        <p:spPr>
          <a:xfrm>
            <a:off x="91440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 assigns a value, == checks whether two things are equal.</a:t>
            </a:r>
            <a:endParaRPr lang="en-US" sz="1150" dirty="0"/>
          </a:p>
        </p:txBody>
      </p:sp>
      <p:sp>
        <p:nvSpPr>
          <p:cNvPr id="21" name="Shape 16"/>
          <p:cNvSpPr/>
          <p:nvPr/>
        </p:nvSpPr>
        <p:spPr>
          <a:xfrm>
            <a:off x="6172200" y="3246120"/>
            <a:ext cx="5257800" cy="1417320"/>
          </a:xfrm>
          <a:prstGeom prst="roundRect">
            <a:avLst>
              <a:gd name="adj" fmla="val 5806"/>
            </a:avLst>
          </a:prstGeom>
          <a:solidFill>
            <a:srgbClr val="F4F6F9"/>
          </a:solidFill>
          <a:ln/>
        </p:spPr>
      </p:sp>
      <p:sp>
        <p:nvSpPr>
          <p:cNvPr id="22" name="Shape 17"/>
          <p:cNvSpPr/>
          <p:nvPr/>
        </p:nvSpPr>
        <p:spPr>
          <a:xfrm>
            <a:off x="6400800" y="3474720"/>
            <a:ext cx="502920" cy="502920"/>
          </a:xfrm>
          <a:prstGeom prst="ellipse">
            <a:avLst/>
          </a:prstGeom>
          <a:solidFill>
            <a:srgbClr val="B03A2E"/>
          </a:solidFill>
          <a:ln/>
        </p:spPr>
      </p:sp>
      <p:pic>
        <p:nvPicPr>
          <p:cNvPr id="23" name="Image 3" descr="/tmp/claude-0/-home-user-pythonSEM-intro/a422a649-6240-52ae-9445-beabcf08c9b3/scratchpad/pyintro/icons/warning.png">    </p:cNvPr>
          <p:cNvPicPr>
            <a:picLocks noChangeAspect="1"/>
          </p:cNvPicPr>
          <p:nvPr/>
        </p:nvPicPr>
        <p:blipFill>
          <a:blip r:embed="rId4"/>
          <a:stretch>
            <a:fillRect/>
          </a:stretch>
        </p:blipFill>
        <p:spPr>
          <a:xfrm>
            <a:off x="6466180" y="3540100"/>
            <a:ext cx="372161" cy="372161"/>
          </a:xfrm>
          <a:prstGeom prst="rect">
            <a:avLst/>
          </a:prstGeom>
        </p:spPr>
      </p:pic>
      <p:sp>
        <p:nvSpPr>
          <p:cNvPr id="24" name="Text 18"/>
          <p:cNvSpPr txBox="1"/>
          <p:nvPr/>
        </p:nvSpPr>
        <p:spPr>
          <a:xfrm>
            <a:off x="704088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Wrong indentation level</a:t>
            </a:r>
            <a:endParaRPr lang="en-US" sz="1400" dirty="0"/>
          </a:p>
        </p:txBody>
      </p:sp>
      <p:sp>
        <p:nvSpPr>
          <p:cNvPr id="25" name="Text 19"/>
          <p:cNvSpPr txBox="1"/>
          <p:nvPr/>
        </p:nvSpPr>
        <p:spPr>
          <a:xfrm>
            <a:off x="644652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Lines in the same block must line up exactly, Python is strict about this.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33</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to keep learning</a:t>
            </a:r>
            <a:endParaRPr lang="en-US" sz="3200" dirty="0"/>
          </a:p>
        </p:txBody>
      </p:sp>
      <p:sp>
        <p:nvSpPr>
          <p:cNvPr id="6" name="Shape 4"/>
          <p:cNvSpPr/>
          <p:nvPr/>
        </p:nvSpPr>
        <p:spPr>
          <a:xfrm>
            <a:off x="640080" y="1600200"/>
            <a:ext cx="3429000" cy="2926080"/>
          </a:xfrm>
          <a:prstGeom prst="roundRect">
            <a:avLst>
              <a:gd name="adj" fmla="val 2813"/>
            </a:avLst>
          </a:prstGeom>
          <a:solidFill>
            <a:srgbClr val="F4F6F9"/>
          </a:solidFill>
          <a:ln/>
        </p:spPr>
      </p:sp>
      <p:sp>
        <p:nvSpPr>
          <p:cNvPr id="7" name="Shape 5"/>
          <p:cNvSpPr/>
          <p:nvPr/>
        </p:nvSpPr>
        <p:spPr>
          <a:xfrm>
            <a:off x="1988820" y="1920240"/>
            <a:ext cx="731520" cy="731520"/>
          </a:xfrm>
          <a:prstGeom prst="ellipse">
            <a:avLst/>
          </a:prstGeom>
          <a:solidFill>
            <a:srgbClr val="306998"/>
          </a:solidFill>
          <a:ln/>
        </p:spPr>
      </p:sp>
      <p:pic>
        <p:nvPicPr>
          <p:cNvPr id="8" name="Image 0" descr="/tmp/claude-0/-home-user-pythonSEM-intro/a422a649-6240-52ae-9445-beabcf08c9b3/scratchpad/pyintro/icons/book.png">    </p:cNvPr>
          <p:cNvPicPr>
            <a:picLocks noChangeAspect="1"/>
          </p:cNvPicPr>
          <p:nvPr/>
        </p:nvPicPr>
        <p:blipFill>
          <a:blip r:embed="rId1"/>
          <a:stretch>
            <a:fillRect/>
          </a:stretch>
        </p:blipFill>
        <p:spPr>
          <a:xfrm>
            <a:off x="2083918" y="2015338"/>
            <a:ext cx="541325" cy="541325"/>
          </a:xfrm>
          <a:prstGeom prst="rect">
            <a:avLst/>
          </a:prstGeom>
        </p:spPr>
      </p:pic>
      <p:sp>
        <p:nvSpPr>
          <p:cNvPr id="9" name="Text 6"/>
          <p:cNvSpPr txBox="1"/>
          <p:nvPr/>
        </p:nvSpPr>
        <p:spPr>
          <a:xfrm>
            <a:off x="9144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Official Python docs</a:t>
            </a:r>
            <a:endParaRPr lang="en-US" sz="1500" dirty="0"/>
          </a:p>
        </p:txBody>
      </p:sp>
      <p:sp>
        <p:nvSpPr>
          <p:cNvPr id="10" name="Text 7"/>
          <p:cNvSpPr txBox="1"/>
          <p:nvPr/>
        </p:nvSpPr>
        <p:spPr>
          <a:xfrm>
            <a:off x="9144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docs.python.org, the most reliable reference there is</a:t>
            </a:r>
            <a:endParaRPr lang="en-US" sz="1200" dirty="0"/>
          </a:p>
        </p:txBody>
      </p:sp>
      <p:sp>
        <p:nvSpPr>
          <p:cNvPr id="11" name="Shape 8"/>
          <p:cNvSpPr/>
          <p:nvPr/>
        </p:nvSpPr>
        <p:spPr>
          <a:xfrm>
            <a:off x="4297680" y="1600200"/>
            <a:ext cx="3429000" cy="2926080"/>
          </a:xfrm>
          <a:prstGeom prst="roundRect">
            <a:avLst>
              <a:gd name="adj" fmla="val 2813"/>
            </a:avLst>
          </a:prstGeom>
          <a:solidFill>
            <a:srgbClr val="F4F6F9"/>
          </a:solidFill>
          <a:ln/>
        </p:spPr>
      </p:sp>
      <p:sp>
        <p:nvSpPr>
          <p:cNvPr id="12" name="Shape 9"/>
          <p:cNvSpPr/>
          <p:nvPr/>
        </p:nvSpPr>
        <p:spPr>
          <a:xfrm>
            <a:off x="5646420" y="1920240"/>
            <a:ext cx="731520" cy="731520"/>
          </a:xfrm>
          <a:prstGeom prst="ellipse">
            <a:avLst/>
          </a:prstGeom>
          <a:solidFill>
            <a:srgbClr val="306998"/>
          </a:solidFill>
          <a:ln/>
        </p:spPr>
      </p:sp>
      <p:pic>
        <p:nvPicPr>
          <p:cNvPr id="13" name="Image 1" descr="/tmp/claude-0/-home-user-pythonSEM-intro/a422a649-6240-52ae-9445-beabcf08c9b3/scratchpad/pyintro/icons/gradcap.png">    </p:cNvPr>
          <p:cNvPicPr>
            <a:picLocks noChangeAspect="1"/>
          </p:cNvPicPr>
          <p:nvPr/>
        </p:nvPicPr>
        <p:blipFill>
          <a:blip r:embed="rId2"/>
          <a:stretch>
            <a:fillRect/>
          </a:stretch>
        </p:blipFill>
        <p:spPr>
          <a:xfrm>
            <a:off x="5741518" y="2015338"/>
            <a:ext cx="541325" cy="541325"/>
          </a:xfrm>
          <a:prstGeom prst="rect">
            <a:avLst/>
          </a:prstGeom>
        </p:spPr>
      </p:pic>
      <p:sp>
        <p:nvSpPr>
          <p:cNvPr id="14" name="Text 10"/>
          <p:cNvSpPr txBox="1"/>
          <p:nvPr/>
        </p:nvSpPr>
        <p:spPr>
          <a:xfrm>
            <a:off x="45720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Practice sites</a:t>
            </a:r>
            <a:endParaRPr lang="en-US" sz="1500" dirty="0"/>
          </a:p>
        </p:txBody>
      </p:sp>
      <p:sp>
        <p:nvSpPr>
          <p:cNvPr id="15" name="Text 11"/>
          <p:cNvSpPr txBox="1"/>
          <p:nvPr/>
        </p:nvSpPr>
        <p:spPr>
          <a:xfrm>
            <a:off x="45720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HackerRank, Codewars, and Python.org's own beginner tutorial</a:t>
            </a:r>
            <a:endParaRPr lang="en-US" sz="1200" dirty="0"/>
          </a:p>
        </p:txBody>
      </p:sp>
      <p:sp>
        <p:nvSpPr>
          <p:cNvPr id="16" name="Shape 12"/>
          <p:cNvSpPr/>
          <p:nvPr/>
        </p:nvSpPr>
        <p:spPr>
          <a:xfrm>
            <a:off x="7955280" y="1600200"/>
            <a:ext cx="3429000" cy="2926080"/>
          </a:xfrm>
          <a:prstGeom prst="roundRect">
            <a:avLst>
              <a:gd name="adj" fmla="val 2813"/>
            </a:avLst>
          </a:prstGeom>
          <a:solidFill>
            <a:srgbClr val="F4F6F9"/>
          </a:solidFill>
          <a:ln/>
        </p:spPr>
      </p:sp>
      <p:sp>
        <p:nvSpPr>
          <p:cNvPr id="17" name="Shape 13"/>
          <p:cNvSpPr/>
          <p:nvPr/>
        </p:nvSpPr>
        <p:spPr>
          <a:xfrm>
            <a:off x="9304020" y="1920240"/>
            <a:ext cx="731520" cy="731520"/>
          </a:xfrm>
          <a:prstGeom prst="ellipse">
            <a:avLst/>
          </a:prstGeom>
          <a:solidFill>
            <a:srgbClr val="306998"/>
          </a:solidFill>
          <a:ln/>
        </p:spPr>
      </p:sp>
      <p:pic>
        <p:nvPicPr>
          <p:cNvPr id="18" name="Image 2" descr="/tmp/claude-0/-home-user-pythonSEM-intro/a422a649-6240-52ae-9445-beabcf08c9b3/scratchpad/pyintro/icons/users.png">    </p:cNvPr>
          <p:cNvPicPr>
            <a:picLocks noChangeAspect="1"/>
          </p:cNvPicPr>
          <p:nvPr/>
        </p:nvPicPr>
        <p:blipFill>
          <a:blip r:embed="rId3"/>
          <a:stretch>
            <a:fillRect/>
          </a:stretch>
        </p:blipFill>
        <p:spPr>
          <a:xfrm>
            <a:off x="9399118" y="2015338"/>
            <a:ext cx="541325" cy="541325"/>
          </a:xfrm>
          <a:prstGeom prst="rect">
            <a:avLst/>
          </a:prstGeom>
        </p:spPr>
      </p:pic>
      <p:sp>
        <p:nvSpPr>
          <p:cNvPr id="19" name="Text 14"/>
          <p:cNvSpPr txBox="1"/>
          <p:nvPr/>
        </p:nvSpPr>
        <p:spPr>
          <a:xfrm>
            <a:off x="82296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This team</a:t>
            </a:r>
            <a:endParaRPr lang="en-US" sz="1500" dirty="0"/>
          </a:p>
        </p:txBody>
      </p:sp>
      <p:sp>
        <p:nvSpPr>
          <p:cNvPr id="20" name="Text 15"/>
          <p:cNvSpPr txBox="1"/>
          <p:nvPr/>
        </p:nvSpPr>
        <p:spPr>
          <a:xfrm>
            <a:off x="82296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Our next session, plus a shared channel for questions</a:t>
            </a:r>
            <a:endParaRPr lang="en-US" sz="1200" dirty="0"/>
          </a:p>
        </p:txBody>
      </p:sp>
      <p:sp>
        <p:nvSpPr>
          <p:cNvPr id="21" name="Shape 16"/>
          <p:cNvSpPr/>
          <p:nvPr/>
        </p:nvSpPr>
        <p:spPr>
          <a:xfrm>
            <a:off x="640080" y="4754880"/>
            <a:ext cx="10881360" cy="777240"/>
          </a:xfrm>
          <a:prstGeom prst="roundRect">
            <a:avLst>
              <a:gd name="adj" fmla="val 9412"/>
            </a:avLst>
          </a:prstGeom>
          <a:solidFill>
            <a:srgbClr val="132038"/>
          </a:solidFill>
          <a:ln/>
        </p:spPr>
      </p:sp>
      <p:sp>
        <p:nvSpPr>
          <p:cNvPr id="22" name="Shape 17"/>
          <p:cNvSpPr/>
          <p:nvPr/>
        </p:nvSpPr>
        <p:spPr>
          <a:xfrm>
            <a:off x="822960" y="4892040"/>
            <a:ext cx="502920" cy="502920"/>
          </a:xfrm>
          <a:prstGeom prst="ellipse">
            <a:avLst/>
          </a:prstGeom>
          <a:solidFill>
            <a:srgbClr val="FFD43B"/>
          </a:solidFill>
          <a:ln/>
        </p:spPr>
      </p:sp>
      <p:pic>
        <p:nvPicPr>
          <p:cNvPr id="23" name="Image 3" descr="/tmp/claude-0/-home-user-pythonSEM-intro/a422a649-6240-52ae-9445-beabcf08c9b3/scratchpad/pyintro/icons/star.png">    </p:cNvPr>
          <p:cNvPicPr>
            <a:picLocks noChangeAspect="1"/>
          </p:cNvPicPr>
          <p:nvPr/>
        </p:nvPicPr>
        <p:blipFill>
          <a:blip r:embed="rId4"/>
          <a:stretch>
            <a:fillRect/>
          </a:stretch>
        </p:blipFill>
        <p:spPr>
          <a:xfrm>
            <a:off x="888340" y="4957420"/>
            <a:ext cx="372161" cy="372161"/>
          </a:xfrm>
          <a:prstGeom prst="rect">
            <a:avLst/>
          </a:prstGeom>
        </p:spPr>
      </p:pic>
      <p:sp>
        <p:nvSpPr>
          <p:cNvPr id="24" name="Text 18"/>
          <p:cNvSpPr txBox="1"/>
          <p:nvPr/>
        </p:nvSpPr>
        <p:spPr>
          <a:xfrm>
            <a:off x="1508760" y="4754880"/>
            <a:ext cx="9784080" cy="7772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fastest way to learn Python is to write it. Aim for 15 minutes a day over a big weekend push.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RECAP</a:t>
            </a:r>
            <a:endParaRPr lang="en-US" sz="13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we covered today</a:t>
            </a:r>
            <a:endParaRPr lang="en-US" sz="3200" dirty="0"/>
          </a:p>
        </p:txBody>
      </p:sp>
      <p:sp>
        <p:nvSpPr>
          <p:cNvPr id="4" name="Shape 2"/>
          <p:cNvSpPr/>
          <p:nvPr/>
        </p:nvSpPr>
        <p:spPr>
          <a:xfrm>
            <a:off x="640080" y="1554480"/>
            <a:ext cx="3429000" cy="1371600"/>
          </a:xfrm>
          <a:prstGeom prst="roundRect">
            <a:avLst>
              <a:gd name="adj" fmla="val 6000"/>
            </a:avLst>
          </a:prstGeom>
          <a:solidFill>
            <a:srgbClr val="F4F6F9"/>
          </a:solidFill>
          <a:ln/>
        </p:spPr>
      </p:sp>
      <p:sp>
        <p:nvSpPr>
          <p:cNvPr id="5" name="Shape 3"/>
          <p:cNvSpPr/>
          <p:nvPr/>
        </p:nvSpPr>
        <p:spPr>
          <a:xfrm>
            <a:off x="868680" y="1956816"/>
            <a:ext cx="548640" cy="548640"/>
          </a:xfrm>
          <a:prstGeom prst="ellipse">
            <a:avLst/>
          </a:prstGeom>
          <a:solidFill>
            <a:srgbClr val="306998"/>
          </a:solidFill>
          <a:ln/>
        </p:spPr>
      </p:sp>
      <p:pic>
        <p:nvPicPr>
          <p:cNvPr id="6" name="Image 0" descr="/tmp/claude-0/-home-user-pythonSEM-intro/a422a649-6240-52ae-9445-beabcf08c9b3/scratchpad/pyintro/icons/download.png">    </p:cNvPr>
          <p:cNvPicPr>
            <a:picLocks noChangeAspect="1"/>
          </p:cNvPicPr>
          <p:nvPr/>
        </p:nvPicPr>
        <p:blipFill>
          <a:blip r:embed="rId1"/>
          <a:stretch>
            <a:fillRect/>
          </a:stretch>
        </p:blipFill>
        <p:spPr>
          <a:xfrm>
            <a:off x="940003" y="2028139"/>
            <a:ext cx="405994" cy="405994"/>
          </a:xfrm>
          <a:prstGeom prst="rect">
            <a:avLst/>
          </a:prstGeom>
        </p:spPr>
      </p:pic>
      <p:sp>
        <p:nvSpPr>
          <p:cNvPr id="7" name="Text 4"/>
          <p:cNvSpPr txBox="1"/>
          <p:nvPr/>
        </p:nvSpPr>
        <p:spPr>
          <a:xfrm>
            <a:off x="15361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Installed Python</a:t>
            </a:r>
            <a:endParaRPr lang="en-US" sz="1350" dirty="0"/>
          </a:p>
        </p:txBody>
      </p:sp>
      <p:sp>
        <p:nvSpPr>
          <p:cNvPr id="8" name="Shape 5"/>
          <p:cNvSpPr/>
          <p:nvPr/>
        </p:nvSpPr>
        <p:spPr>
          <a:xfrm>
            <a:off x="4297680" y="1554480"/>
            <a:ext cx="3429000" cy="1371600"/>
          </a:xfrm>
          <a:prstGeom prst="roundRect">
            <a:avLst>
              <a:gd name="adj" fmla="val 6000"/>
            </a:avLst>
          </a:prstGeom>
          <a:solidFill>
            <a:srgbClr val="F4F6F9"/>
          </a:solidFill>
          <a:ln/>
        </p:spPr>
      </p:sp>
      <p:sp>
        <p:nvSpPr>
          <p:cNvPr id="9" name="Shape 6"/>
          <p:cNvSpPr/>
          <p:nvPr/>
        </p:nvSpPr>
        <p:spPr>
          <a:xfrm>
            <a:off x="4526280" y="1956816"/>
            <a:ext cx="548640" cy="548640"/>
          </a:xfrm>
          <a:prstGeom prst="ellipse">
            <a:avLst/>
          </a:prstGeom>
          <a:solidFill>
            <a:srgbClr val="306998"/>
          </a:solidFill>
          <a:ln/>
        </p:spPr>
      </p:sp>
      <p:pic>
        <p:nvPicPr>
          <p:cNvPr id="10" name="Image 1" descr="/tmp/claude-0/-home-user-pythonSEM-intro/a422a649-6240-52ae-9445-beabcf08c9b3/scratchpad/pyintro/icons/question.png">    </p:cNvPr>
          <p:cNvPicPr>
            <a:picLocks noChangeAspect="1"/>
          </p:cNvPicPr>
          <p:nvPr/>
        </p:nvPicPr>
        <p:blipFill>
          <a:blip r:embed="rId2"/>
          <a:stretch>
            <a:fillRect/>
          </a:stretch>
        </p:blipFill>
        <p:spPr>
          <a:xfrm>
            <a:off x="4597603" y="2028139"/>
            <a:ext cx="405994" cy="405994"/>
          </a:xfrm>
          <a:prstGeom prst="rect">
            <a:avLst/>
          </a:prstGeom>
        </p:spPr>
      </p:pic>
      <p:sp>
        <p:nvSpPr>
          <p:cNvPr id="11" name="Text 7"/>
          <p:cNvSpPr txBox="1"/>
          <p:nvPr/>
        </p:nvSpPr>
        <p:spPr>
          <a:xfrm>
            <a:off x="51937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Learned what Python is</a:t>
            </a:r>
            <a:endParaRPr lang="en-US" sz="1350" dirty="0"/>
          </a:p>
        </p:txBody>
      </p:sp>
      <p:sp>
        <p:nvSpPr>
          <p:cNvPr id="12" name="Shape 8"/>
          <p:cNvSpPr/>
          <p:nvPr/>
        </p:nvSpPr>
        <p:spPr>
          <a:xfrm>
            <a:off x="7955280" y="1554480"/>
            <a:ext cx="3429000" cy="1371600"/>
          </a:xfrm>
          <a:prstGeom prst="roundRect">
            <a:avLst>
              <a:gd name="adj" fmla="val 6000"/>
            </a:avLst>
          </a:prstGeom>
          <a:solidFill>
            <a:srgbClr val="F4F6F9"/>
          </a:solidFill>
          <a:ln/>
        </p:spPr>
      </p:sp>
      <p:sp>
        <p:nvSpPr>
          <p:cNvPr id="13" name="Shape 9"/>
          <p:cNvSpPr/>
          <p:nvPr/>
        </p:nvSpPr>
        <p:spPr>
          <a:xfrm>
            <a:off x="8183880" y="1956816"/>
            <a:ext cx="548640" cy="548640"/>
          </a:xfrm>
          <a:prstGeom prst="ellipse">
            <a:avLst/>
          </a:prstGeom>
          <a:solidFill>
            <a:srgbClr val="306998"/>
          </a:solidFill>
          <a:ln/>
        </p:spPr>
      </p:sp>
      <p:pic>
        <p:nvPicPr>
          <p:cNvPr id="14" name="Image 2" descr="/tmp/claude-0/-home-user-pythonSEM-intro/a422a649-6240-52ae-9445-beabcf08c9b3/scratchpad/pyintro/icons/code.png">    </p:cNvPr>
          <p:cNvPicPr>
            <a:picLocks noChangeAspect="1"/>
          </p:cNvPicPr>
          <p:nvPr/>
        </p:nvPicPr>
        <p:blipFill>
          <a:blip r:embed="rId3"/>
          <a:stretch>
            <a:fillRect/>
          </a:stretch>
        </p:blipFill>
        <p:spPr>
          <a:xfrm>
            <a:off x="8255203" y="2028139"/>
            <a:ext cx="405994" cy="405994"/>
          </a:xfrm>
          <a:prstGeom prst="rect">
            <a:avLst/>
          </a:prstGeom>
        </p:spPr>
      </p:pic>
      <p:sp>
        <p:nvSpPr>
          <p:cNvPr id="15" name="Text 10"/>
          <p:cNvSpPr txBox="1"/>
          <p:nvPr/>
        </p:nvSpPr>
        <p:spPr>
          <a:xfrm>
            <a:off x="88513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Wrote real code</a:t>
            </a:r>
            <a:endParaRPr lang="en-US" sz="1350" dirty="0"/>
          </a:p>
        </p:txBody>
      </p:sp>
      <p:sp>
        <p:nvSpPr>
          <p:cNvPr id="16" name="Shape 11"/>
          <p:cNvSpPr/>
          <p:nvPr/>
        </p:nvSpPr>
        <p:spPr>
          <a:xfrm>
            <a:off x="640080" y="3154680"/>
            <a:ext cx="3429000" cy="1371600"/>
          </a:xfrm>
          <a:prstGeom prst="roundRect">
            <a:avLst>
              <a:gd name="adj" fmla="val 6000"/>
            </a:avLst>
          </a:prstGeom>
          <a:solidFill>
            <a:srgbClr val="F4F6F9"/>
          </a:solidFill>
          <a:ln/>
        </p:spPr>
      </p:sp>
      <p:sp>
        <p:nvSpPr>
          <p:cNvPr id="17" name="Shape 12"/>
          <p:cNvSpPr/>
          <p:nvPr/>
        </p:nvSpPr>
        <p:spPr>
          <a:xfrm>
            <a:off x="868680" y="3557016"/>
            <a:ext cx="548640" cy="548640"/>
          </a:xfrm>
          <a:prstGeom prst="ellipse">
            <a:avLst/>
          </a:prstGeom>
          <a:solidFill>
            <a:srgbClr val="306998"/>
          </a:solidFill>
          <a:ln/>
        </p:spPr>
      </p:sp>
      <p:pic>
        <p:nvPicPr>
          <p:cNvPr id="18" name="Image 3" descr="/tmp/claude-0/-home-user-pythonSEM-intro/a422a649-6240-52ae-9445-beabcf08c9b3/scratchpad/pyintro/icons/book.png">    </p:cNvPr>
          <p:cNvPicPr>
            <a:picLocks noChangeAspect="1"/>
          </p:cNvPicPr>
          <p:nvPr/>
        </p:nvPicPr>
        <p:blipFill>
          <a:blip r:embed="rId4"/>
          <a:stretch>
            <a:fillRect/>
          </a:stretch>
        </p:blipFill>
        <p:spPr>
          <a:xfrm>
            <a:off x="940003" y="3628339"/>
            <a:ext cx="405994" cy="405994"/>
          </a:xfrm>
          <a:prstGeom prst="rect">
            <a:avLst/>
          </a:prstGeom>
        </p:spPr>
      </p:pic>
      <p:sp>
        <p:nvSpPr>
          <p:cNvPr id="19" name="Text 13"/>
          <p:cNvSpPr txBox="1"/>
          <p:nvPr/>
        </p:nvSpPr>
        <p:spPr>
          <a:xfrm>
            <a:off x="15361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Explored libraries</a:t>
            </a:r>
            <a:endParaRPr lang="en-US" sz="1350" dirty="0"/>
          </a:p>
        </p:txBody>
      </p:sp>
      <p:sp>
        <p:nvSpPr>
          <p:cNvPr id="20" name="Shape 14"/>
          <p:cNvSpPr/>
          <p:nvPr/>
        </p:nvSpPr>
        <p:spPr>
          <a:xfrm>
            <a:off x="4297680" y="3154680"/>
            <a:ext cx="3429000" cy="1371600"/>
          </a:xfrm>
          <a:prstGeom prst="roundRect">
            <a:avLst>
              <a:gd name="adj" fmla="val 6000"/>
            </a:avLst>
          </a:prstGeom>
          <a:solidFill>
            <a:srgbClr val="F4F6F9"/>
          </a:solidFill>
          <a:ln/>
        </p:spPr>
      </p:sp>
      <p:sp>
        <p:nvSpPr>
          <p:cNvPr id="21" name="Shape 15"/>
          <p:cNvSpPr/>
          <p:nvPr/>
        </p:nvSpPr>
        <p:spPr>
          <a:xfrm>
            <a:off x="4526280" y="3557016"/>
            <a:ext cx="548640" cy="548640"/>
          </a:xfrm>
          <a:prstGeom prst="ellipse">
            <a:avLst/>
          </a:prstGeom>
          <a:solidFill>
            <a:srgbClr val="306998"/>
          </a:solidFill>
          <a:ln/>
        </p:spPr>
      </p:sp>
      <p:pic>
        <p:nvPicPr>
          <p:cNvPr id="22" name="Image 4" descr="/tmp/claude-0/-home-user-pythonSEM-intro/a422a649-6240-52ae-9445-beabcf08c9b3/scratchpad/pyintro/icons/compare.png">    </p:cNvPr>
          <p:cNvPicPr>
            <a:picLocks noChangeAspect="1"/>
          </p:cNvPicPr>
          <p:nvPr/>
        </p:nvPicPr>
        <p:blipFill>
          <a:blip r:embed="rId5"/>
          <a:stretch>
            <a:fillRect/>
          </a:stretch>
        </p:blipFill>
        <p:spPr>
          <a:xfrm>
            <a:off x="4597603" y="3628339"/>
            <a:ext cx="405994" cy="405994"/>
          </a:xfrm>
          <a:prstGeom prst="rect">
            <a:avLst/>
          </a:prstGeom>
        </p:spPr>
      </p:pic>
      <p:sp>
        <p:nvSpPr>
          <p:cNvPr id="23" name="Text 16"/>
          <p:cNvSpPr txBox="1"/>
          <p:nvPr/>
        </p:nvSpPr>
        <p:spPr>
          <a:xfrm>
            <a:off x="51937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Compared it to other languages</a:t>
            </a:r>
            <a:endParaRPr lang="en-US" sz="1350" dirty="0"/>
          </a:p>
        </p:txBody>
      </p:sp>
      <p:sp>
        <p:nvSpPr>
          <p:cNvPr id="24" name="Shape 17"/>
          <p:cNvSpPr/>
          <p:nvPr/>
        </p:nvSpPr>
        <p:spPr>
          <a:xfrm>
            <a:off x="7955280" y="3154680"/>
            <a:ext cx="3429000" cy="1371600"/>
          </a:xfrm>
          <a:prstGeom prst="roundRect">
            <a:avLst>
              <a:gd name="adj" fmla="val 6000"/>
            </a:avLst>
          </a:prstGeom>
          <a:solidFill>
            <a:srgbClr val="F4F6F9"/>
          </a:solidFill>
          <a:ln/>
        </p:spPr>
      </p:sp>
      <p:sp>
        <p:nvSpPr>
          <p:cNvPr id="25" name="Shape 18"/>
          <p:cNvSpPr/>
          <p:nvPr/>
        </p:nvSpPr>
        <p:spPr>
          <a:xfrm>
            <a:off x="8183880" y="3557016"/>
            <a:ext cx="548640" cy="548640"/>
          </a:xfrm>
          <a:prstGeom prst="ellipse">
            <a:avLst/>
          </a:prstGeom>
          <a:solidFill>
            <a:srgbClr val="306998"/>
          </a:solidFill>
          <a:ln/>
        </p:spPr>
      </p:sp>
      <p:pic>
        <p:nvPicPr>
          <p:cNvPr id="26" name="Image 5" descr="/tmp/claude-0/-home-user-pythonSEM-intro/a422a649-6240-52ae-9445-beabcf08c9b3/scratchpad/pyintro/icons/gear.png">    </p:cNvPr>
          <p:cNvPicPr>
            <a:picLocks noChangeAspect="1"/>
          </p:cNvPicPr>
          <p:nvPr/>
        </p:nvPicPr>
        <p:blipFill>
          <a:blip r:embed="rId6"/>
          <a:stretch>
            <a:fillRect/>
          </a:stretch>
        </p:blipFill>
        <p:spPr>
          <a:xfrm>
            <a:off x="8255203" y="3628339"/>
            <a:ext cx="405994" cy="405994"/>
          </a:xfrm>
          <a:prstGeom prst="rect">
            <a:avLst/>
          </a:prstGeom>
        </p:spPr>
      </p:pic>
      <p:sp>
        <p:nvSpPr>
          <p:cNvPr id="27" name="Text 19"/>
          <p:cNvSpPr txBox="1"/>
          <p:nvPr/>
        </p:nvSpPr>
        <p:spPr>
          <a:xfrm>
            <a:off x="88513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Picked up good habits</a:t>
            </a:r>
            <a:endParaRPr lang="en-US" sz="1350" dirty="0"/>
          </a:p>
        </p:txBody>
      </p:sp>
      <p:sp>
        <p:nvSpPr>
          <p:cNvPr id="28" name="Shape 20"/>
          <p:cNvSpPr/>
          <p:nvPr/>
        </p:nvSpPr>
        <p:spPr>
          <a:xfrm>
            <a:off x="640080" y="4983480"/>
            <a:ext cx="10881360" cy="1051560"/>
          </a:xfrm>
          <a:prstGeom prst="roundRect">
            <a:avLst>
              <a:gd name="adj" fmla="val 7826"/>
            </a:avLst>
          </a:prstGeom>
          <a:solidFill>
            <a:srgbClr val="132038"/>
          </a:solidFill>
          <a:ln/>
        </p:spPr>
      </p:sp>
      <p:sp>
        <p:nvSpPr>
          <p:cNvPr id="29" name="Shape 21"/>
          <p:cNvSpPr/>
          <p:nvPr/>
        </p:nvSpPr>
        <p:spPr>
          <a:xfrm>
            <a:off x="822960" y="5148072"/>
            <a:ext cx="685800" cy="685800"/>
          </a:xfrm>
          <a:prstGeom prst="ellipse">
            <a:avLst/>
          </a:prstGeom>
          <a:solidFill>
            <a:srgbClr val="FFD43B"/>
          </a:solidFill>
          <a:ln/>
        </p:spPr>
      </p:sp>
      <p:pic>
        <p:nvPicPr>
          <p:cNvPr id="30" name="Image 6" descr="/tmp/claude-0/-home-user-pythonSEM-intro/a422a649-6240-52ae-9445-beabcf08c9b3/scratchpad/pyintro/icons/comments.png">    </p:cNvPr>
          <p:cNvPicPr>
            <a:picLocks noChangeAspect="1"/>
          </p:cNvPicPr>
          <p:nvPr/>
        </p:nvPicPr>
        <p:blipFill>
          <a:blip r:embed="rId7"/>
          <a:stretch>
            <a:fillRect/>
          </a:stretch>
        </p:blipFill>
        <p:spPr>
          <a:xfrm>
            <a:off x="912114" y="5237226"/>
            <a:ext cx="507492" cy="507492"/>
          </a:xfrm>
          <a:prstGeom prst="rect">
            <a:avLst/>
          </a:prstGeom>
        </p:spPr>
      </p:pic>
      <p:sp>
        <p:nvSpPr>
          <p:cNvPr id="31" name="Text 22"/>
          <p:cNvSpPr txBox="1"/>
          <p:nvPr/>
        </p:nvSpPr>
        <p:spPr>
          <a:xfrm>
            <a:off x="1691640" y="4983480"/>
            <a:ext cx="9601200" cy="10515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Let's discuss: what is one thing you want to build with Python once you're comfortable?</a:t>
            </a:r>
            <a:endParaRPr lang="en-US" sz="1500" dirty="0"/>
          </a:p>
        </p:txBody>
      </p:sp>
      <p:sp>
        <p:nvSpPr>
          <p:cNvPr id="32" name="Text 2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Recap &amp; Discussion</a:t>
            </a:r>
            <a:endParaRPr lang="en-US" sz="1000" dirty="0"/>
          </a:p>
        </p:txBody>
      </p:sp>
      <p:sp>
        <p:nvSpPr>
          <p:cNvPr id="33"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5501488" y="777240"/>
            <a:ext cx="1188720" cy="1188720"/>
          </a:xfrm>
          <a:prstGeom prst="ellipse">
            <a:avLst/>
          </a:prstGeom>
          <a:solidFill>
            <a:srgbClr val="306998"/>
          </a:solidFill>
          <a:ln/>
        </p:spPr>
      </p:sp>
      <p:pic>
        <p:nvPicPr>
          <p:cNvPr id="3" name="Image 0" descr="/tmp/claude-0/-home-user-pythonSEM-intro/a422a649-6240-52ae-9445-beabcf08c9b3/scratchpad/pyintro/icons/python_logo.png">    </p:cNvPr>
          <p:cNvPicPr>
            <a:picLocks noChangeAspect="1"/>
          </p:cNvPicPr>
          <p:nvPr/>
        </p:nvPicPr>
        <p:blipFill>
          <a:blip r:embed="rId1"/>
          <a:stretch>
            <a:fillRect/>
          </a:stretch>
        </p:blipFill>
        <p:spPr>
          <a:xfrm>
            <a:off x="5656021" y="931774"/>
            <a:ext cx="879653" cy="879653"/>
          </a:xfrm>
          <a:prstGeom prst="rect">
            <a:avLst/>
          </a:prstGeom>
        </p:spPr>
      </p:pic>
      <p:sp>
        <p:nvSpPr>
          <p:cNvPr id="4" name="Text 1"/>
          <p:cNvSpPr txBox="1"/>
          <p:nvPr/>
        </p:nvSpPr>
        <p:spPr>
          <a:xfrm>
            <a:off x="0" y="233172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5" name="Text 2"/>
          <p:cNvSpPr txBox="1"/>
          <p:nvPr/>
        </p:nvSpPr>
        <p:spPr>
          <a:xfrm>
            <a:off x="1981048" y="3429000"/>
            <a:ext cx="8229600" cy="640080"/>
          </a:xfrm>
          <a:prstGeom prst="rect">
            <a:avLst/>
          </a:prstGeom>
          <a:noFill/>
          <a:ln/>
        </p:spPr>
        <p:txBody>
          <a:bodyPr wrap="square" lIns="0" tIns="0" rIns="0" bIns="0" rtlCol="0" anchor="ctr"/>
          <a:lstStyle/>
          <a:p>
            <a:pPr algn="ctr" indent="0" marL="0">
              <a:buNone/>
            </a:pPr>
            <a:r>
              <a:rPr lang="en-US" sz="1500" dirty="0">
                <a:solidFill>
                  <a:srgbClr val="AEB9CC"/>
                </a:solidFill>
                <a:latin typeface="Calibri" pitchFamily="34" charset="0"/>
                <a:ea typeface="Calibri" pitchFamily="34" charset="-122"/>
                <a:cs typeface="Calibri" pitchFamily="34" charset="-120"/>
              </a:rPr>
              <a:t>You installed Python, wrote real code, and learned what makes it special. That is a strong first session.</a:t>
            </a:r>
            <a:endParaRPr lang="en-US" sz="1500" dirty="0"/>
          </a:p>
        </p:txBody>
      </p:sp>
      <p:sp>
        <p:nvSpPr>
          <p:cNvPr id="6" name="Shape 3"/>
          <p:cNvSpPr/>
          <p:nvPr/>
        </p:nvSpPr>
        <p:spPr>
          <a:xfrm>
            <a:off x="3352648" y="4343400"/>
            <a:ext cx="5486400" cy="548640"/>
          </a:xfrm>
          <a:prstGeom prst="roundRect">
            <a:avLst>
              <a:gd name="adj" fmla="val 50000"/>
            </a:avLst>
          </a:prstGeom>
          <a:solidFill>
            <a:srgbClr val="1B2A4A"/>
          </a:solidFill>
          <a:ln w="12700">
            <a:solidFill>
              <a:srgbClr val="306998"/>
            </a:solidFill>
            <a:prstDash val="solid"/>
          </a:ln>
        </p:spPr>
      </p:sp>
      <p:sp>
        <p:nvSpPr>
          <p:cNvPr id="7" name="Text 4"/>
          <p:cNvSpPr txBox="1"/>
          <p:nvPr/>
        </p:nvSpPr>
        <p:spPr>
          <a:xfrm>
            <a:off x="3352648" y="4343400"/>
            <a:ext cx="5486400" cy="548640"/>
          </a:xfrm>
          <a:prstGeom prst="rect">
            <a:avLst/>
          </a:prstGeom>
          <a:noFill/>
          <a:ln/>
        </p:spPr>
        <p:txBody>
          <a:bodyPr wrap="square" lIns="0" tIns="0" rIns="0" bIns="0" rtlCol="0" anchor="ctr"/>
          <a:lstStyle/>
          <a:p>
            <a:pPr algn="ctr" indent="0" marL="0">
              <a:buNone/>
            </a:pPr>
            <a:r>
              <a:rPr lang="en-US" sz="1250" dirty="0">
                <a:solidFill>
                  <a:srgbClr val="FFD43B"/>
                </a:solidFill>
                <a:latin typeface="Calibri" pitchFamily="34" charset="0"/>
                <a:ea typeface="Calibri" pitchFamily="34" charset="-122"/>
                <a:cs typeface="Calibri" pitchFamily="34" charset="-120"/>
              </a:rPr>
              <a:t>Next session: writing your first small project</a:t>
            </a:r>
            <a:endParaRPr lang="en-US" sz="125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Team Python Onboarding</a:t>
            </a:r>
            <a:endParaRPr lang="en-US" sz="1000" dirty="0"/>
          </a:p>
        </p:txBody>
      </p:sp>
      <p:sp>
        <p:nvSpPr>
          <p:cNvPr id="9" name="Text 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2026-09-14T17:04:46Z</dcterms:created>
  <dcterms:modified xsi:type="dcterms:W3CDTF">2026-09-14T17:04:46Z</dcterms:modified>
</cp:coreProperties>
</file>