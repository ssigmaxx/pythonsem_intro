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image" Target="../media/image-27-1.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1.png"/><Relationship Id="rId3" Type="http://schemas.openxmlformats.org/officeDocument/2006/relationships/image" Target="../media/image-31-1.png"/><Relationship Id="rId4" Type="http://schemas.openxmlformats.org/officeDocument/2006/relationships/image" Target="../media/image-31-1.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5410048" y="822960"/>
            <a:ext cx="1371600" cy="1371600"/>
          </a:xfrm>
          <a:prstGeom prst="ellipse">
            <a:avLst/>
          </a:prstGeom>
          <a:solidFill>
            <a:srgbClr val="306998"/>
          </a:solidFill>
          <a:ln/>
        </p:spPr>
      </p:sp>
      <p:pic>
        <p:nvPicPr>
          <p:cNvPr id="3" name="Image 0" descr="/tmp/claude-0/-home-user-pythonSEM-intro/a422a649-6240-52ae-9445-beabcf08c9b3/scratchpad/jupyter/icons/jupyter_logo.png">    </p:cNvPr>
          <p:cNvPicPr>
            <a:picLocks noChangeAspect="1"/>
          </p:cNvPicPr>
          <p:nvPr/>
        </p:nvPicPr>
        <p:blipFill>
          <a:blip r:embed="rId1"/>
          <a:stretch>
            <a:fillRect/>
          </a:stretch>
        </p:blipFill>
        <p:spPr>
          <a:xfrm>
            <a:off x="5588356" y="1001268"/>
            <a:ext cx="1014984" cy="1014984"/>
          </a:xfrm>
          <a:prstGeom prst="rect">
            <a:avLst/>
          </a:prstGeom>
        </p:spPr>
      </p:pic>
      <p:sp>
        <p:nvSpPr>
          <p:cNvPr id="4" name="Text 1"/>
          <p:cNvSpPr txBox="1"/>
          <p:nvPr/>
        </p:nvSpPr>
        <p:spPr>
          <a:xfrm>
            <a:off x="0" y="2514600"/>
            <a:ext cx="12191695" cy="457200"/>
          </a:xfrm>
          <a:prstGeom prst="rect">
            <a:avLst/>
          </a:prstGeom>
          <a:noFill/>
          <a:ln/>
        </p:spPr>
        <p:txBody>
          <a:bodyPr wrap="square" lIns="0" tIns="0" rIns="0" bIns="0" rtlCol="0" anchor="ctr"/>
          <a:lstStyle/>
          <a:p>
            <a:pPr algn="ctr" indent="0" marL="0">
              <a:buNone/>
            </a:pPr>
            <a:r>
              <a:rPr lang="en-US" sz="1800" b="1" spc="400" kern="0" dirty="0">
                <a:solidFill>
                  <a:srgbClr val="FFD43B"/>
                </a:solidFill>
                <a:latin typeface="Arial" pitchFamily="34" charset="0"/>
                <a:ea typeface="Arial" pitchFamily="34" charset="-122"/>
                <a:cs typeface="Arial" pitchFamily="34" charset="-120"/>
              </a:rPr>
              <a:t>INTRODUCTION TO</a:t>
            </a:r>
            <a:endParaRPr lang="en-US" sz="1800" dirty="0"/>
          </a:p>
        </p:txBody>
      </p:sp>
      <p:sp>
        <p:nvSpPr>
          <p:cNvPr id="5" name="Text 2"/>
          <p:cNvSpPr txBox="1"/>
          <p:nvPr/>
        </p:nvSpPr>
        <p:spPr>
          <a:xfrm>
            <a:off x="0" y="2880360"/>
            <a:ext cx="12191695" cy="1188720"/>
          </a:xfrm>
          <a:prstGeom prst="rect">
            <a:avLst/>
          </a:prstGeom>
          <a:noFill/>
          <a:ln/>
        </p:spPr>
        <p:txBody>
          <a:bodyPr wrap="square" lIns="0" tIns="0" rIns="0" bIns="0" rtlCol="0" anchor="ctr"/>
          <a:lstStyle/>
          <a:p>
            <a:pPr algn="ctr" indent="0" marL="0">
              <a:buNone/>
            </a:pPr>
            <a:r>
              <a:rPr lang="en-US" sz="5800" b="1" dirty="0">
                <a:solidFill>
                  <a:srgbClr val="FFFFFF"/>
                </a:solidFill>
                <a:latin typeface="Arial" pitchFamily="34" charset="0"/>
                <a:ea typeface="Arial" pitchFamily="34" charset="-122"/>
                <a:cs typeface="Arial" pitchFamily="34" charset="-120"/>
              </a:rPr>
              <a:t>Jupyter Notebook</a:t>
            </a:r>
            <a:endParaRPr lang="en-US" sz="5800" dirty="0"/>
          </a:p>
        </p:txBody>
      </p:sp>
      <p:sp>
        <p:nvSpPr>
          <p:cNvPr id="6" name="Text 3"/>
          <p:cNvSpPr txBox="1"/>
          <p:nvPr/>
        </p:nvSpPr>
        <p:spPr>
          <a:xfrm>
            <a:off x="0" y="4114800"/>
            <a:ext cx="12191695" cy="457200"/>
          </a:xfrm>
          <a:prstGeom prst="rect">
            <a:avLst/>
          </a:prstGeom>
          <a:noFill/>
          <a:ln/>
        </p:spPr>
        <p:txBody>
          <a:bodyPr wrap="square" lIns="0" tIns="0" rIns="0" bIns="0" rtlCol="0" anchor="ctr"/>
          <a:lstStyle/>
          <a:p>
            <a:pPr algn="ctr" indent="0" marL="0">
              <a:buNone/>
            </a:pPr>
            <a:r>
              <a:rPr lang="en-US" sz="1800" dirty="0">
                <a:solidFill>
                  <a:srgbClr val="AEB9CC"/>
                </a:solidFill>
                <a:latin typeface="Calibri" pitchFamily="34" charset="0"/>
                <a:ea typeface="Calibri" pitchFamily="34" charset="-122"/>
                <a:cs typeface="Calibri" pitchFamily="34" charset="-120"/>
              </a:rPr>
              <a:t>A friendly, no-experience-needed course for our team</a:t>
            </a:r>
            <a:endParaRPr lang="en-US" sz="1800" dirty="0"/>
          </a:p>
        </p:txBody>
      </p:sp>
      <p:sp>
        <p:nvSpPr>
          <p:cNvPr id="7" name="Shape 4"/>
          <p:cNvSpPr/>
          <p:nvPr/>
        </p:nvSpPr>
        <p:spPr>
          <a:xfrm>
            <a:off x="3444088" y="4892040"/>
            <a:ext cx="5303520" cy="502920"/>
          </a:xfrm>
          <a:prstGeom prst="roundRect">
            <a:avLst>
              <a:gd name="adj" fmla="val 50909"/>
            </a:avLst>
          </a:prstGeom>
          <a:solidFill>
            <a:srgbClr val="1B2A4A"/>
          </a:solidFill>
          <a:ln w="12700">
            <a:solidFill>
              <a:srgbClr val="306998"/>
            </a:solidFill>
            <a:prstDash val="solid"/>
          </a:ln>
        </p:spPr>
      </p:sp>
      <p:sp>
        <p:nvSpPr>
          <p:cNvPr id="8" name="Text 5"/>
          <p:cNvSpPr txBox="1"/>
          <p:nvPr/>
        </p:nvSpPr>
        <p:spPr>
          <a:xfrm>
            <a:off x="3444088" y="4892040"/>
            <a:ext cx="5303520" cy="502920"/>
          </a:xfrm>
          <a:prstGeom prst="rect">
            <a:avLst/>
          </a:prstGeom>
          <a:noFill/>
          <a:ln/>
        </p:spPr>
        <p:txBody>
          <a:bodyPr wrap="square" lIns="0" tIns="0" rIns="0" bIns="0" rtlCol="0" anchor="ctr"/>
          <a:lstStyle/>
          <a:p>
            <a:pPr algn="ctr" indent="0" marL="0">
              <a:buNone/>
            </a:pPr>
            <a:r>
              <a:rPr lang="en-US" sz="1250" dirty="0">
                <a:solidFill>
                  <a:srgbClr val="FFD43B"/>
                </a:solidFill>
                <a:latin typeface="Calibri" pitchFamily="34" charset="0"/>
                <a:ea typeface="Calibri" pitchFamily="34" charset="-122"/>
                <a:cs typeface="Calibri" pitchFamily="34" charset="-120"/>
              </a:rPr>
              <a:t>6 chapters  •  hands-on  •  builds on our Python session</a:t>
            </a:r>
            <a:endParaRPr lang="en-US" sz="1250" dirty="0"/>
          </a:p>
        </p:txBody>
      </p:sp>
      <p:sp>
        <p:nvSpPr>
          <p:cNvPr id="9" name="Text 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Team Python Onboarding</a:t>
            </a:r>
            <a:endParaRPr lang="en-US" sz="1000" dirty="0"/>
          </a:p>
        </p:txBody>
      </p:sp>
      <p:sp>
        <p:nvSpPr>
          <p:cNvPr id="10" name="Text 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WELCOME</a:t>
            </a:r>
            <a:endParaRPr lang="en-US" sz="13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we're headed</a:t>
            </a:r>
            <a:endParaRPr lang="en-US" sz="3200" dirty="0"/>
          </a:p>
        </p:txBody>
      </p:sp>
      <p:sp>
        <p:nvSpPr>
          <p:cNvPr id="4" name="Text 2"/>
          <p:cNvSpPr txBox="1"/>
          <p:nvPr/>
        </p:nvSpPr>
        <p:spPr>
          <a:xfrm>
            <a:off x="640080" y="1417320"/>
            <a:ext cx="10881360" cy="54864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Six short chapters, from installing Jupyter to knowing when and why to reach for it. Bring the Python basics from last session, we will build on them.</a:t>
            </a:r>
            <a:endParaRPr lang="en-US" sz="1400" dirty="0"/>
          </a:p>
        </p:txBody>
      </p:sp>
      <p:sp>
        <p:nvSpPr>
          <p:cNvPr id="5" name="Shape 3"/>
          <p:cNvSpPr/>
          <p:nvPr/>
        </p:nvSpPr>
        <p:spPr>
          <a:xfrm>
            <a:off x="640080" y="2240280"/>
            <a:ext cx="3429000" cy="1691640"/>
          </a:xfrm>
          <a:prstGeom prst="roundRect">
            <a:avLst>
              <a:gd name="adj" fmla="val 4865"/>
            </a:avLst>
          </a:prstGeom>
          <a:solidFill>
            <a:srgbClr val="F4F6F9"/>
          </a:solidFill>
          <a:ln/>
        </p:spPr>
      </p:sp>
      <p:sp>
        <p:nvSpPr>
          <p:cNvPr id="6" name="Shape 4"/>
          <p:cNvSpPr/>
          <p:nvPr/>
        </p:nvSpPr>
        <p:spPr>
          <a:xfrm>
            <a:off x="896112" y="2496312"/>
            <a:ext cx="566928" cy="566928"/>
          </a:xfrm>
          <a:prstGeom prst="ellipse">
            <a:avLst/>
          </a:prstGeom>
          <a:solidFill>
            <a:srgbClr val="306998"/>
          </a:solidFill>
          <a:ln/>
        </p:spPr>
      </p:sp>
      <p:pic>
        <p:nvPicPr>
          <p:cNvPr id="7" name="Image 0" descr="/tmp/claude-0/-home-user-pythonSEM-intro/a422a649-6240-52ae-9445-beabcf08c9b3/scratchpad/jupyter/icons/download.png">    </p:cNvPr>
          <p:cNvPicPr>
            <a:picLocks noChangeAspect="1"/>
          </p:cNvPicPr>
          <p:nvPr/>
        </p:nvPicPr>
        <p:blipFill>
          <a:blip r:embed="rId1"/>
          <a:stretch>
            <a:fillRect/>
          </a:stretch>
        </p:blipFill>
        <p:spPr>
          <a:xfrm>
            <a:off x="969813" y="2570013"/>
            <a:ext cx="419527" cy="419527"/>
          </a:xfrm>
          <a:prstGeom prst="rect">
            <a:avLst/>
          </a:prstGeom>
        </p:spPr>
      </p:pic>
      <p:sp>
        <p:nvSpPr>
          <p:cNvPr id="8" name="Text 5"/>
          <p:cNvSpPr txBox="1"/>
          <p:nvPr/>
        </p:nvSpPr>
        <p:spPr>
          <a:xfrm>
            <a:off x="1645920" y="249631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1</a:t>
            </a:r>
            <a:endParaRPr lang="en-US" sz="1050" dirty="0"/>
          </a:p>
        </p:txBody>
      </p:sp>
      <p:sp>
        <p:nvSpPr>
          <p:cNvPr id="9" name="Text 6"/>
          <p:cNvSpPr txBox="1"/>
          <p:nvPr/>
        </p:nvSpPr>
        <p:spPr>
          <a:xfrm>
            <a:off x="1645920" y="275234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Installing Jupyter</a:t>
            </a:r>
            <a:endParaRPr lang="en-US" sz="1600" dirty="0"/>
          </a:p>
        </p:txBody>
      </p:sp>
      <p:sp>
        <p:nvSpPr>
          <p:cNvPr id="10" name="Shape 7"/>
          <p:cNvSpPr/>
          <p:nvPr/>
        </p:nvSpPr>
        <p:spPr>
          <a:xfrm>
            <a:off x="4297680" y="2240280"/>
            <a:ext cx="3429000" cy="1691640"/>
          </a:xfrm>
          <a:prstGeom prst="roundRect">
            <a:avLst>
              <a:gd name="adj" fmla="val 4865"/>
            </a:avLst>
          </a:prstGeom>
          <a:solidFill>
            <a:srgbClr val="F4F6F9"/>
          </a:solidFill>
          <a:ln/>
        </p:spPr>
      </p:sp>
      <p:sp>
        <p:nvSpPr>
          <p:cNvPr id="11" name="Shape 8"/>
          <p:cNvSpPr/>
          <p:nvPr/>
        </p:nvSpPr>
        <p:spPr>
          <a:xfrm>
            <a:off x="4553712" y="2496312"/>
            <a:ext cx="566928" cy="566928"/>
          </a:xfrm>
          <a:prstGeom prst="ellipse">
            <a:avLst/>
          </a:prstGeom>
          <a:solidFill>
            <a:srgbClr val="306998"/>
          </a:solidFill>
          <a:ln/>
        </p:spPr>
      </p:sp>
      <p:pic>
        <p:nvPicPr>
          <p:cNvPr id="12" name="Image 1" descr="/tmp/claude-0/-home-user-pythonSEM-intro/a422a649-6240-52ae-9445-beabcf08c9b3/scratchpad/jupyter/icons/question.png">    </p:cNvPr>
          <p:cNvPicPr>
            <a:picLocks noChangeAspect="1"/>
          </p:cNvPicPr>
          <p:nvPr/>
        </p:nvPicPr>
        <p:blipFill>
          <a:blip r:embed="rId2"/>
          <a:stretch>
            <a:fillRect/>
          </a:stretch>
        </p:blipFill>
        <p:spPr>
          <a:xfrm>
            <a:off x="4627413" y="2570013"/>
            <a:ext cx="419527" cy="419527"/>
          </a:xfrm>
          <a:prstGeom prst="rect">
            <a:avLst/>
          </a:prstGeom>
        </p:spPr>
      </p:pic>
      <p:sp>
        <p:nvSpPr>
          <p:cNvPr id="13" name="Text 9"/>
          <p:cNvSpPr txBox="1"/>
          <p:nvPr/>
        </p:nvSpPr>
        <p:spPr>
          <a:xfrm>
            <a:off x="5303520" y="249631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2</a:t>
            </a:r>
            <a:endParaRPr lang="en-US" sz="1050" dirty="0"/>
          </a:p>
        </p:txBody>
      </p:sp>
      <p:sp>
        <p:nvSpPr>
          <p:cNvPr id="14" name="Text 10"/>
          <p:cNvSpPr txBox="1"/>
          <p:nvPr/>
        </p:nvSpPr>
        <p:spPr>
          <a:xfrm>
            <a:off x="5303520" y="275234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What is a notebook?</a:t>
            </a:r>
            <a:endParaRPr lang="en-US" sz="1600" dirty="0"/>
          </a:p>
        </p:txBody>
      </p:sp>
      <p:sp>
        <p:nvSpPr>
          <p:cNvPr id="15" name="Shape 11"/>
          <p:cNvSpPr/>
          <p:nvPr/>
        </p:nvSpPr>
        <p:spPr>
          <a:xfrm>
            <a:off x="7955280" y="2240280"/>
            <a:ext cx="3429000" cy="1691640"/>
          </a:xfrm>
          <a:prstGeom prst="roundRect">
            <a:avLst>
              <a:gd name="adj" fmla="val 4865"/>
            </a:avLst>
          </a:prstGeom>
          <a:solidFill>
            <a:srgbClr val="F4F6F9"/>
          </a:solidFill>
          <a:ln/>
        </p:spPr>
      </p:sp>
      <p:sp>
        <p:nvSpPr>
          <p:cNvPr id="16" name="Shape 12"/>
          <p:cNvSpPr/>
          <p:nvPr/>
        </p:nvSpPr>
        <p:spPr>
          <a:xfrm>
            <a:off x="8211312" y="2496312"/>
            <a:ext cx="566928" cy="566928"/>
          </a:xfrm>
          <a:prstGeom prst="ellipse">
            <a:avLst/>
          </a:prstGeom>
          <a:solidFill>
            <a:srgbClr val="306998"/>
          </a:solidFill>
          <a:ln/>
        </p:spPr>
      </p:sp>
      <p:pic>
        <p:nvPicPr>
          <p:cNvPr id="17" name="Image 2" descr="/tmp/claude-0/-home-user-pythonSEM-intro/a422a649-6240-52ae-9445-beabcf08c9b3/scratchpad/jupyter/icons/layout.png">    </p:cNvPr>
          <p:cNvPicPr>
            <a:picLocks noChangeAspect="1"/>
          </p:cNvPicPr>
          <p:nvPr/>
        </p:nvPicPr>
        <p:blipFill>
          <a:blip r:embed="rId3"/>
          <a:stretch>
            <a:fillRect/>
          </a:stretch>
        </p:blipFill>
        <p:spPr>
          <a:xfrm>
            <a:off x="8285013" y="2570013"/>
            <a:ext cx="419527" cy="419527"/>
          </a:xfrm>
          <a:prstGeom prst="rect">
            <a:avLst/>
          </a:prstGeom>
        </p:spPr>
      </p:pic>
      <p:sp>
        <p:nvSpPr>
          <p:cNvPr id="18" name="Text 13"/>
          <p:cNvSpPr txBox="1"/>
          <p:nvPr/>
        </p:nvSpPr>
        <p:spPr>
          <a:xfrm>
            <a:off x="8961120" y="249631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3</a:t>
            </a:r>
            <a:endParaRPr lang="en-US" sz="1050" dirty="0"/>
          </a:p>
        </p:txBody>
      </p:sp>
      <p:sp>
        <p:nvSpPr>
          <p:cNvPr id="19" name="Text 14"/>
          <p:cNvSpPr txBox="1"/>
          <p:nvPr/>
        </p:nvSpPr>
        <p:spPr>
          <a:xfrm>
            <a:off x="8961120" y="275234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Cells: code &amp; markdown</a:t>
            </a:r>
            <a:endParaRPr lang="en-US" sz="1600" dirty="0"/>
          </a:p>
        </p:txBody>
      </p:sp>
      <p:sp>
        <p:nvSpPr>
          <p:cNvPr id="20" name="Shape 15"/>
          <p:cNvSpPr/>
          <p:nvPr/>
        </p:nvSpPr>
        <p:spPr>
          <a:xfrm>
            <a:off x="640080" y="4206240"/>
            <a:ext cx="3429000" cy="1691640"/>
          </a:xfrm>
          <a:prstGeom prst="roundRect">
            <a:avLst>
              <a:gd name="adj" fmla="val 4865"/>
            </a:avLst>
          </a:prstGeom>
          <a:solidFill>
            <a:srgbClr val="F4F6F9"/>
          </a:solidFill>
          <a:ln/>
        </p:spPr>
      </p:sp>
      <p:sp>
        <p:nvSpPr>
          <p:cNvPr id="21" name="Shape 16"/>
          <p:cNvSpPr/>
          <p:nvPr/>
        </p:nvSpPr>
        <p:spPr>
          <a:xfrm>
            <a:off x="896112" y="4462272"/>
            <a:ext cx="566928" cy="566928"/>
          </a:xfrm>
          <a:prstGeom prst="ellipse">
            <a:avLst/>
          </a:prstGeom>
          <a:solidFill>
            <a:srgbClr val="306998"/>
          </a:solidFill>
          <a:ln/>
        </p:spPr>
      </p:sp>
      <p:pic>
        <p:nvPicPr>
          <p:cNvPr id="22" name="Image 3" descr="/tmp/claude-0/-home-user-pythonSEM-intro/a422a649-6240-52ae-9445-beabcf08c9b3/scratchpad/jupyter/icons/kernel.png">    </p:cNvPr>
          <p:cNvPicPr>
            <a:picLocks noChangeAspect="1"/>
          </p:cNvPicPr>
          <p:nvPr/>
        </p:nvPicPr>
        <p:blipFill>
          <a:blip r:embed="rId4"/>
          <a:stretch>
            <a:fillRect/>
          </a:stretch>
        </p:blipFill>
        <p:spPr>
          <a:xfrm>
            <a:off x="969813" y="4535973"/>
            <a:ext cx="419527" cy="419527"/>
          </a:xfrm>
          <a:prstGeom prst="rect">
            <a:avLst/>
          </a:prstGeom>
        </p:spPr>
      </p:pic>
      <p:sp>
        <p:nvSpPr>
          <p:cNvPr id="23" name="Text 17"/>
          <p:cNvSpPr txBox="1"/>
          <p:nvPr/>
        </p:nvSpPr>
        <p:spPr>
          <a:xfrm>
            <a:off x="1645920" y="44622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4</a:t>
            </a:r>
            <a:endParaRPr lang="en-US" sz="1050" dirty="0"/>
          </a:p>
        </p:txBody>
      </p:sp>
      <p:sp>
        <p:nvSpPr>
          <p:cNvPr id="24" name="Text 18"/>
          <p:cNvSpPr txBox="1"/>
          <p:nvPr/>
        </p:nvSpPr>
        <p:spPr>
          <a:xfrm>
            <a:off x="1645920" y="47183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Interface &amp; the kernel</a:t>
            </a:r>
            <a:endParaRPr lang="en-US" sz="1600" dirty="0"/>
          </a:p>
        </p:txBody>
      </p:sp>
      <p:sp>
        <p:nvSpPr>
          <p:cNvPr id="25" name="Shape 19"/>
          <p:cNvSpPr/>
          <p:nvPr/>
        </p:nvSpPr>
        <p:spPr>
          <a:xfrm>
            <a:off x="4297680" y="4206240"/>
            <a:ext cx="3429000" cy="1691640"/>
          </a:xfrm>
          <a:prstGeom prst="roundRect">
            <a:avLst>
              <a:gd name="adj" fmla="val 4865"/>
            </a:avLst>
          </a:prstGeom>
          <a:solidFill>
            <a:srgbClr val="F4F6F9"/>
          </a:solidFill>
          <a:ln/>
        </p:spPr>
      </p:sp>
      <p:sp>
        <p:nvSpPr>
          <p:cNvPr id="26" name="Shape 20"/>
          <p:cNvSpPr/>
          <p:nvPr/>
        </p:nvSpPr>
        <p:spPr>
          <a:xfrm>
            <a:off x="4553712" y="4462272"/>
            <a:ext cx="566928" cy="566928"/>
          </a:xfrm>
          <a:prstGeom prst="ellipse">
            <a:avLst/>
          </a:prstGeom>
          <a:solidFill>
            <a:srgbClr val="306998"/>
          </a:solidFill>
          <a:ln/>
        </p:spPr>
      </p:sp>
      <p:pic>
        <p:nvPicPr>
          <p:cNvPr id="27" name="Image 4" descr="/tmp/claude-0/-home-user-pythonSEM-intro/a422a649-6240-52ae-9445-beabcf08c9b3/scratchpad/jupyter/icons/compare.png">    </p:cNvPr>
          <p:cNvPicPr>
            <a:picLocks noChangeAspect="1"/>
          </p:cNvPicPr>
          <p:nvPr/>
        </p:nvPicPr>
        <p:blipFill>
          <a:blip r:embed="rId5"/>
          <a:stretch>
            <a:fillRect/>
          </a:stretch>
        </p:blipFill>
        <p:spPr>
          <a:xfrm>
            <a:off x="4627413" y="4535973"/>
            <a:ext cx="419527" cy="419527"/>
          </a:xfrm>
          <a:prstGeom prst="rect">
            <a:avLst/>
          </a:prstGeom>
        </p:spPr>
      </p:pic>
      <p:sp>
        <p:nvSpPr>
          <p:cNvPr id="28" name="Text 21"/>
          <p:cNvSpPr txBox="1"/>
          <p:nvPr/>
        </p:nvSpPr>
        <p:spPr>
          <a:xfrm>
            <a:off x="5303520" y="44622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5</a:t>
            </a:r>
            <a:endParaRPr lang="en-US" sz="1050" dirty="0"/>
          </a:p>
        </p:txBody>
      </p:sp>
      <p:sp>
        <p:nvSpPr>
          <p:cNvPr id="29" name="Text 22"/>
          <p:cNvSpPr txBox="1"/>
          <p:nvPr/>
        </p:nvSpPr>
        <p:spPr>
          <a:xfrm>
            <a:off x="5303520" y="47183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Why use Jupyter?</a:t>
            </a:r>
            <a:endParaRPr lang="en-US" sz="1600" dirty="0"/>
          </a:p>
        </p:txBody>
      </p:sp>
      <p:sp>
        <p:nvSpPr>
          <p:cNvPr id="30" name="Shape 23"/>
          <p:cNvSpPr/>
          <p:nvPr/>
        </p:nvSpPr>
        <p:spPr>
          <a:xfrm>
            <a:off x="7955280" y="4206240"/>
            <a:ext cx="3429000" cy="1691640"/>
          </a:xfrm>
          <a:prstGeom prst="roundRect">
            <a:avLst>
              <a:gd name="adj" fmla="val 4865"/>
            </a:avLst>
          </a:prstGeom>
          <a:solidFill>
            <a:srgbClr val="F4F6F9"/>
          </a:solidFill>
          <a:ln/>
        </p:spPr>
      </p:sp>
      <p:sp>
        <p:nvSpPr>
          <p:cNvPr id="31" name="Shape 24"/>
          <p:cNvSpPr/>
          <p:nvPr/>
        </p:nvSpPr>
        <p:spPr>
          <a:xfrm>
            <a:off x="8211312" y="4462272"/>
            <a:ext cx="566928" cy="566928"/>
          </a:xfrm>
          <a:prstGeom prst="ellipse">
            <a:avLst/>
          </a:prstGeom>
          <a:solidFill>
            <a:srgbClr val="306998"/>
          </a:solidFill>
          <a:ln/>
        </p:spPr>
      </p:sp>
      <p:pic>
        <p:nvPicPr>
          <p:cNvPr id="32" name="Image 5" descr="/tmp/claude-0/-home-user-pythonSEM-intro/a422a649-6240-52ae-9445-beabcf08c9b3/scratchpad/jupyter/icons/gear.png">    </p:cNvPr>
          <p:cNvPicPr>
            <a:picLocks noChangeAspect="1"/>
          </p:cNvPicPr>
          <p:nvPr/>
        </p:nvPicPr>
        <p:blipFill>
          <a:blip r:embed="rId6"/>
          <a:stretch>
            <a:fillRect/>
          </a:stretch>
        </p:blipFill>
        <p:spPr>
          <a:xfrm>
            <a:off x="8285013" y="4535973"/>
            <a:ext cx="419527" cy="419527"/>
          </a:xfrm>
          <a:prstGeom prst="rect">
            <a:avLst/>
          </a:prstGeom>
        </p:spPr>
      </p:pic>
      <p:sp>
        <p:nvSpPr>
          <p:cNvPr id="33" name="Text 25"/>
          <p:cNvSpPr txBox="1"/>
          <p:nvPr/>
        </p:nvSpPr>
        <p:spPr>
          <a:xfrm>
            <a:off x="8961120" y="4462272"/>
            <a:ext cx="2240280" cy="274320"/>
          </a:xfrm>
          <a:prstGeom prst="rect">
            <a:avLst/>
          </a:prstGeom>
          <a:noFill/>
          <a:ln/>
        </p:spPr>
        <p:txBody>
          <a:bodyPr wrap="square" lIns="0" tIns="0" rIns="0" bIns="0" rtlCol="0" anchor="ctr"/>
          <a:lstStyle/>
          <a:p>
            <a:pPr indent="0" marL="0">
              <a:buNone/>
            </a:pPr>
            <a:r>
              <a:rPr lang="en-US" sz="1050" b="1" dirty="0">
                <a:solidFill>
                  <a:srgbClr val="C9A227"/>
                </a:solidFill>
                <a:latin typeface="Arial" pitchFamily="34" charset="0"/>
                <a:ea typeface="Arial" pitchFamily="34" charset="-122"/>
                <a:cs typeface="Arial" pitchFamily="34" charset="-120"/>
              </a:rPr>
              <a:t>CHAPTER 6</a:t>
            </a:r>
            <a:endParaRPr lang="en-US" sz="1050" dirty="0"/>
          </a:p>
        </p:txBody>
      </p:sp>
      <p:sp>
        <p:nvSpPr>
          <p:cNvPr id="34" name="Text 26"/>
          <p:cNvSpPr txBox="1"/>
          <p:nvPr/>
        </p:nvSpPr>
        <p:spPr>
          <a:xfrm>
            <a:off x="8961120" y="4718304"/>
            <a:ext cx="2240280" cy="8229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Good habits to know</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306998"/>
          </a:solidFill>
          <a:ln/>
        </p:spPr>
      </p:sp>
      <p:pic>
        <p:nvPicPr>
          <p:cNvPr id="3" name="Image 0" descr="/tmp/claude-0/-home-user-pythonSEM-intro/a422a649-6240-52ae-9445-beabcf08c9b3/scratchpad/jupyter/icons/comments.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21792"/>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LET’S START WITH A QUICK POLL</a:t>
            </a:r>
            <a:endParaRPr lang="en-US" sz="1300" dirty="0"/>
          </a:p>
        </p:txBody>
      </p:sp>
      <p:sp>
        <p:nvSpPr>
          <p:cNvPr id="5" name="Text 2"/>
          <p:cNvSpPr txBox="1"/>
          <p:nvPr/>
        </p:nvSpPr>
        <p:spPr>
          <a:xfrm>
            <a:off x="1691640" y="914400"/>
            <a:ext cx="9601200" cy="64008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Raise your hand: have you opened a notebook before?</a:t>
            </a:r>
            <a:endParaRPr lang="en-US" sz="2500" dirty="0"/>
          </a:p>
        </p:txBody>
      </p:sp>
      <p:sp>
        <p:nvSpPr>
          <p:cNvPr id="6" name="Shape 3"/>
          <p:cNvSpPr/>
          <p:nvPr/>
        </p:nvSpPr>
        <p:spPr>
          <a:xfrm>
            <a:off x="822960" y="1965960"/>
            <a:ext cx="10515600" cy="960120"/>
          </a:xfrm>
          <a:prstGeom prst="roundRect">
            <a:avLst>
              <a:gd name="adj" fmla="val 9524"/>
            </a:avLst>
          </a:prstGeom>
          <a:solidFill>
            <a:srgbClr val="1B2A4A"/>
          </a:solidFill>
          <a:ln w="12700">
            <a:solidFill>
              <a:srgbClr val="1F4B70"/>
            </a:solidFill>
            <a:prstDash val="solid"/>
          </a:ln>
        </p:spPr>
      </p:sp>
      <p:sp>
        <p:nvSpPr>
          <p:cNvPr id="7" name="Shape 4"/>
          <p:cNvSpPr/>
          <p:nvPr/>
        </p:nvSpPr>
        <p:spPr>
          <a:xfrm>
            <a:off x="1097280" y="2194560"/>
            <a:ext cx="502920" cy="502920"/>
          </a:xfrm>
          <a:prstGeom prst="ellipse">
            <a:avLst/>
          </a:prstGeom>
          <a:solidFill>
            <a:srgbClr val="FFD43B"/>
          </a:solidFill>
          <a:ln/>
        </p:spPr>
      </p:sp>
      <p:sp>
        <p:nvSpPr>
          <p:cNvPr id="8" name="Text 5"/>
          <p:cNvSpPr txBox="1"/>
          <p:nvPr/>
        </p:nvSpPr>
        <p:spPr>
          <a:xfrm>
            <a:off x="1097280" y="219456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A</a:t>
            </a:r>
            <a:endParaRPr lang="en-US" sz="1800" dirty="0"/>
          </a:p>
        </p:txBody>
      </p:sp>
      <p:sp>
        <p:nvSpPr>
          <p:cNvPr id="9" name="Text 6"/>
          <p:cNvSpPr txBox="1"/>
          <p:nvPr/>
        </p:nvSpPr>
        <p:spPr>
          <a:xfrm>
            <a:off x="1828800" y="196596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Never, this is brand new to me</a:t>
            </a:r>
            <a:endParaRPr lang="en-US" sz="1650" dirty="0"/>
          </a:p>
        </p:txBody>
      </p:sp>
      <p:sp>
        <p:nvSpPr>
          <p:cNvPr id="10" name="Shape 7"/>
          <p:cNvSpPr/>
          <p:nvPr/>
        </p:nvSpPr>
        <p:spPr>
          <a:xfrm>
            <a:off x="822960" y="3063240"/>
            <a:ext cx="10515600" cy="960120"/>
          </a:xfrm>
          <a:prstGeom prst="roundRect">
            <a:avLst>
              <a:gd name="adj" fmla="val 9524"/>
            </a:avLst>
          </a:prstGeom>
          <a:solidFill>
            <a:srgbClr val="1B2A4A"/>
          </a:solidFill>
          <a:ln w="12700">
            <a:solidFill>
              <a:srgbClr val="1F4B70"/>
            </a:solidFill>
            <a:prstDash val="solid"/>
          </a:ln>
        </p:spPr>
      </p:sp>
      <p:sp>
        <p:nvSpPr>
          <p:cNvPr id="11" name="Shape 8"/>
          <p:cNvSpPr/>
          <p:nvPr/>
        </p:nvSpPr>
        <p:spPr>
          <a:xfrm>
            <a:off x="1097280" y="3291840"/>
            <a:ext cx="502920" cy="502920"/>
          </a:xfrm>
          <a:prstGeom prst="ellipse">
            <a:avLst/>
          </a:prstGeom>
          <a:solidFill>
            <a:srgbClr val="FFD43B"/>
          </a:solidFill>
          <a:ln/>
        </p:spPr>
      </p:sp>
      <p:sp>
        <p:nvSpPr>
          <p:cNvPr id="12" name="Text 9"/>
          <p:cNvSpPr txBox="1"/>
          <p:nvPr/>
        </p:nvSpPr>
        <p:spPr>
          <a:xfrm>
            <a:off x="1097280" y="329184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B</a:t>
            </a:r>
            <a:endParaRPr lang="en-US" sz="1800" dirty="0"/>
          </a:p>
        </p:txBody>
      </p:sp>
      <p:sp>
        <p:nvSpPr>
          <p:cNvPr id="13" name="Text 10"/>
          <p:cNvSpPr txBox="1"/>
          <p:nvPr/>
        </p:nvSpPr>
        <p:spPr>
          <a:xfrm>
            <a:off x="1828800" y="306324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 have seen one, but never run one myself</a:t>
            </a:r>
            <a:endParaRPr lang="en-US" sz="1650" dirty="0"/>
          </a:p>
        </p:txBody>
      </p:sp>
      <p:sp>
        <p:nvSpPr>
          <p:cNvPr id="14" name="Shape 11"/>
          <p:cNvSpPr/>
          <p:nvPr/>
        </p:nvSpPr>
        <p:spPr>
          <a:xfrm>
            <a:off x="822960" y="4160520"/>
            <a:ext cx="10515600" cy="960120"/>
          </a:xfrm>
          <a:prstGeom prst="roundRect">
            <a:avLst>
              <a:gd name="adj" fmla="val 9524"/>
            </a:avLst>
          </a:prstGeom>
          <a:solidFill>
            <a:srgbClr val="1B2A4A"/>
          </a:solidFill>
          <a:ln w="12700">
            <a:solidFill>
              <a:srgbClr val="1F4B70"/>
            </a:solidFill>
            <a:prstDash val="solid"/>
          </a:ln>
        </p:spPr>
      </p:sp>
      <p:sp>
        <p:nvSpPr>
          <p:cNvPr id="15" name="Shape 12"/>
          <p:cNvSpPr/>
          <p:nvPr/>
        </p:nvSpPr>
        <p:spPr>
          <a:xfrm>
            <a:off x="1097280" y="4389120"/>
            <a:ext cx="502920" cy="502920"/>
          </a:xfrm>
          <a:prstGeom prst="ellipse">
            <a:avLst/>
          </a:prstGeom>
          <a:solidFill>
            <a:srgbClr val="FFD43B"/>
          </a:solidFill>
          <a:ln/>
        </p:spPr>
      </p:sp>
      <p:sp>
        <p:nvSpPr>
          <p:cNvPr id="16" name="Text 13"/>
          <p:cNvSpPr txBox="1"/>
          <p:nvPr/>
        </p:nvSpPr>
        <p:spPr>
          <a:xfrm>
            <a:off x="1097280" y="4389120"/>
            <a:ext cx="502920" cy="502920"/>
          </a:xfrm>
          <a:prstGeom prst="rect">
            <a:avLst/>
          </a:prstGeom>
          <a:noFill/>
          <a:ln/>
        </p:spPr>
        <p:txBody>
          <a:bodyPr wrap="square" lIns="0" tIns="0" rIns="0" bIns="0" rtlCol="0" anchor="ctr"/>
          <a:lstStyle/>
          <a:p>
            <a:pPr algn="ctr" indent="0" marL="0">
              <a:buNone/>
            </a:pPr>
            <a:r>
              <a:rPr lang="en-US" sz="1800" b="1" dirty="0">
                <a:solidFill>
                  <a:srgbClr val="132038"/>
                </a:solidFill>
                <a:latin typeface="Arial" pitchFamily="34" charset="0"/>
                <a:ea typeface="Arial" pitchFamily="34" charset="-122"/>
                <a:cs typeface="Arial" pitchFamily="34" charset="-120"/>
              </a:rPr>
              <a:t>C</a:t>
            </a:r>
            <a:endParaRPr lang="en-US" sz="1800" dirty="0"/>
          </a:p>
        </p:txBody>
      </p:sp>
      <p:sp>
        <p:nvSpPr>
          <p:cNvPr id="17" name="Text 14"/>
          <p:cNvSpPr txBox="1"/>
          <p:nvPr/>
        </p:nvSpPr>
        <p:spPr>
          <a:xfrm>
            <a:off x="1828800" y="4160520"/>
            <a:ext cx="9326880" cy="9601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 have used Jupyter or Google Colab before</a:t>
            </a:r>
            <a:endParaRPr lang="en-US" sz="1650" dirty="0"/>
          </a:p>
        </p:txBody>
      </p:sp>
      <p:sp>
        <p:nvSpPr>
          <p:cNvPr id="18" name="Text 15"/>
          <p:cNvSpPr txBox="1"/>
          <p:nvPr/>
        </p:nvSpPr>
        <p:spPr>
          <a:xfrm>
            <a:off x="822960" y="617220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No wrong answers, we will get everyone to the same starting line.</a:t>
            </a:r>
            <a:endParaRPr lang="en-US" sz="1250" dirty="0"/>
          </a:p>
        </p:txBody>
      </p:sp>
      <p:sp>
        <p:nvSpPr>
          <p:cNvPr id="19" name="Text 16"/>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0 · Welcome</a:t>
            </a:r>
            <a:endParaRPr lang="en-US" sz="10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1</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Installing Jupyter</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If Python is already on your machine, Jupyter is one command away.</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download.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1</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Before you begin</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If you finished the Python installation session, you already have almost everything you need.</a:t>
            </a:r>
            <a:endParaRPr lang="en-US" sz="1400" dirty="0"/>
          </a:p>
        </p:txBody>
      </p:sp>
      <p:sp>
        <p:nvSpPr>
          <p:cNvPr id="7" name="Shape 5"/>
          <p:cNvSpPr/>
          <p:nvPr/>
        </p:nvSpPr>
        <p:spPr>
          <a:xfrm>
            <a:off x="640080" y="2148840"/>
            <a:ext cx="3429000" cy="3108960"/>
          </a:xfrm>
          <a:prstGeom prst="roundRect">
            <a:avLst>
              <a:gd name="adj" fmla="val 2647"/>
            </a:avLst>
          </a:prstGeom>
          <a:solidFill>
            <a:srgbClr val="F4F6F9"/>
          </a:solidFill>
          <a:ln/>
        </p:spPr>
      </p:sp>
      <p:sp>
        <p:nvSpPr>
          <p:cNvPr id="8" name="Shape 6"/>
          <p:cNvSpPr/>
          <p:nvPr/>
        </p:nvSpPr>
        <p:spPr>
          <a:xfrm>
            <a:off x="1943100" y="2560320"/>
            <a:ext cx="822960" cy="822960"/>
          </a:xfrm>
          <a:prstGeom prst="ellipse">
            <a:avLst/>
          </a:prstGeom>
          <a:solidFill>
            <a:srgbClr val="306998"/>
          </a:solidFill>
          <a:ln/>
        </p:spPr>
      </p:sp>
      <p:pic>
        <p:nvPicPr>
          <p:cNvPr id="9" name="Image 0" descr="/tmp/claude-0/-home-user-pythonSEM-intro/a422a649-6240-52ae-9445-beabcf08c9b3/scratchpad/jupyter/icons/check.png">    </p:cNvPr>
          <p:cNvPicPr>
            <a:picLocks noChangeAspect="1"/>
          </p:cNvPicPr>
          <p:nvPr/>
        </p:nvPicPr>
        <p:blipFill>
          <a:blip r:embed="rId1"/>
          <a:stretch>
            <a:fillRect/>
          </a:stretch>
        </p:blipFill>
        <p:spPr>
          <a:xfrm>
            <a:off x="2050085" y="2667305"/>
            <a:ext cx="608990" cy="608990"/>
          </a:xfrm>
          <a:prstGeom prst="rect">
            <a:avLst/>
          </a:prstGeom>
        </p:spPr>
      </p:pic>
      <p:sp>
        <p:nvSpPr>
          <p:cNvPr id="10" name="Text 7"/>
          <p:cNvSpPr txBox="1"/>
          <p:nvPr/>
        </p:nvSpPr>
        <p:spPr>
          <a:xfrm>
            <a:off x="9144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Python installed</a:t>
            </a:r>
            <a:endParaRPr lang="en-US" sz="1600" dirty="0"/>
          </a:p>
        </p:txBody>
      </p:sp>
      <p:sp>
        <p:nvSpPr>
          <p:cNvPr id="11" name="Text 8"/>
          <p:cNvSpPr txBox="1"/>
          <p:nvPr/>
        </p:nvSpPr>
        <p:spPr>
          <a:xfrm>
            <a:off x="9144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Jupyter runs on top of Python, version 3.8 or newer works well</a:t>
            </a:r>
            <a:endParaRPr lang="en-US" sz="1250" dirty="0"/>
          </a:p>
        </p:txBody>
      </p:sp>
      <p:sp>
        <p:nvSpPr>
          <p:cNvPr id="12" name="Shape 9"/>
          <p:cNvSpPr/>
          <p:nvPr/>
        </p:nvSpPr>
        <p:spPr>
          <a:xfrm>
            <a:off x="4297680" y="2148840"/>
            <a:ext cx="3429000" cy="3108960"/>
          </a:xfrm>
          <a:prstGeom prst="roundRect">
            <a:avLst>
              <a:gd name="adj" fmla="val 2647"/>
            </a:avLst>
          </a:prstGeom>
          <a:solidFill>
            <a:srgbClr val="F4F6F9"/>
          </a:solidFill>
          <a:ln/>
        </p:spPr>
      </p:sp>
      <p:sp>
        <p:nvSpPr>
          <p:cNvPr id="13" name="Shape 10"/>
          <p:cNvSpPr/>
          <p:nvPr/>
        </p:nvSpPr>
        <p:spPr>
          <a:xfrm>
            <a:off x="5600700" y="2560320"/>
            <a:ext cx="822960" cy="822960"/>
          </a:xfrm>
          <a:prstGeom prst="ellipse">
            <a:avLst/>
          </a:prstGeom>
          <a:solidFill>
            <a:srgbClr val="306998"/>
          </a:solidFill>
          <a:ln/>
        </p:spPr>
      </p:sp>
      <p:pic>
        <p:nvPicPr>
          <p:cNvPr id="14" name="Image 1" descr="/tmp/claude-0/-home-user-pythonSEM-intro/a422a649-6240-52ae-9445-beabcf08c9b3/scratchpad/jupyter/icons/terminal.png">    </p:cNvPr>
          <p:cNvPicPr>
            <a:picLocks noChangeAspect="1"/>
          </p:cNvPicPr>
          <p:nvPr/>
        </p:nvPicPr>
        <p:blipFill>
          <a:blip r:embed="rId2"/>
          <a:stretch>
            <a:fillRect/>
          </a:stretch>
        </p:blipFill>
        <p:spPr>
          <a:xfrm>
            <a:off x="5707685" y="2667305"/>
            <a:ext cx="608990" cy="608990"/>
          </a:xfrm>
          <a:prstGeom prst="rect">
            <a:avLst/>
          </a:prstGeom>
        </p:spPr>
      </p:pic>
      <p:sp>
        <p:nvSpPr>
          <p:cNvPr id="15" name="Text 11"/>
          <p:cNvSpPr txBox="1"/>
          <p:nvPr/>
        </p:nvSpPr>
        <p:spPr>
          <a:xfrm>
            <a:off x="45720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A working pip</a:t>
            </a:r>
            <a:endParaRPr lang="en-US" sz="1600" dirty="0"/>
          </a:p>
        </p:txBody>
      </p:sp>
      <p:sp>
        <p:nvSpPr>
          <p:cNvPr id="16" name="Text 12"/>
          <p:cNvSpPr txBox="1"/>
          <p:nvPr/>
        </p:nvSpPr>
        <p:spPr>
          <a:xfrm>
            <a:off x="45720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Confirm with pip --version, we used this in the last session</a:t>
            </a:r>
            <a:endParaRPr lang="en-US" sz="1250" dirty="0"/>
          </a:p>
        </p:txBody>
      </p:sp>
      <p:sp>
        <p:nvSpPr>
          <p:cNvPr id="17" name="Shape 13"/>
          <p:cNvSpPr/>
          <p:nvPr/>
        </p:nvSpPr>
        <p:spPr>
          <a:xfrm>
            <a:off x="7955280" y="2148840"/>
            <a:ext cx="3429000" cy="3108960"/>
          </a:xfrm>
          <a:prstGeom prst="roundRect">
            <a:avLst>
              <a:gd name="adj" fmla="val 2647"/>
            </a:avLst>
          </a:prstGeom>
          <a:solidFill>
            <a:srgbClr val="F4F6F9"/>
          </a:solidFill>
          <a:ln/>
        </p:spPr>
      </p:sp>
      <p:sp>
        <p:nvSpPr>
          <p:cNvPr id="18" name="Shape 14"/>
          <p:cNvSpPr/>
          <p:nvPr/>
        </p:nvSpPr>
        <p:spPr>
          <a:xfrm>
            <a:off x="9258300" y="2560320"/>
            <a:ext cx="822960" cy="822960"/>
          </a:xfrm>
          <a:prstGeom prst="ellipse">
            <a:avLst/>
          </a:prstGeom>
          <a:solidFill>
            <a:srgbClr val="306998"/>
          </a:solidFill>
          <a:ln/>
        </p:spPr>
      </p:sp>
      <p:pic>
        <p:nvPicPr>
          <p:cNvPr id="19" name="Image 2" descr="/tmp/claude-0/-home-user-pythonSEM-intro/a422a649-6240-52ae-9445-beabcf08c9b3/scratchpad/jupyter/icons/globe.png">    </p:cNvPr>
          <p:cNvPicPr>
            <a:picLocks noChangeAspect="1"/>
          </p:cNvPicPr>
          <p:nvPr/>
        </p:nvPicPr>
        <p:blipFill>
          <a:blip r:embed="rId3"/>
          <a:stretch>
            <a:fillRect/>
          </a:stretch>
        </p:blipFill>
        <p:spPr>
          <a:xfrm>
            <a:off x="9365285" y="2667305"/>
            <a:ext cx="608990" cy="608990"/>
          </a:xfrm>
          <a:prstGeom prst="rect">
            <a:avLst/>
          </a:prstGeom>
        </p:spPr>
      </p:pic>
      <p:sp>
        <p:nvSpPr>
          <p:cNvPr id="20" name="Text 15"/>
          <p:cNvSpPr txBox="1"/>
          <p:nvPr/>
        </p:nvSpPr>
        <p:spPr>
          <a:xfrm>
            <a:off x="8229600" y="3566160"/>
            <a:ext cx="2880360" cy="457200"/>
          </a:xfrm>
          <a:prstGeom prst="rect">
            <a:avLst/>
          </a:prstGeom>
          <a:noFill/>
          <a:ln/>
        </p:spPr>
        <p:txBody>
          <a:bodyPr wrap="square" lIns="0" tIns="0" rIns="0" bIns="0" rtlCol="0" anchor="ctr"/>
          <a:lstStyle/>
          <a:p>
            <a:pPr algn="ctr" indent="0" marL="0">
              <a:buNone/>
            </a:pPr>
            <a:r>
              <a:rPr lang="en-US" sz="1600" b="1" dirty="0">
                <a:solidFill>
                  <a:srgbClr val="1F2937"/>
                </a:solidFill>
                <a:latin typeface="Arial" pitchFamily="34" charset="0"/>
                <a:ea typeface="Arial" pitchFamily="34" charset="-122"/>
                <a:cs typeface="Arial" pitchFamily="34" charset="-120"/>
              </a:rPr>
              <a:t>A modern browser</a:t>
            </a:r>
            <a:endParaRPr lang="en-US" sz="1600" dirty="0"/>
          </a:p>
        </p:txBody>
      </p:sp>
      <p:sp>
        <p:nvSpPr>
          <p:cNvPr id="21" name="Text 16"/>
          <p:cNvSpPr txBox="1"/>
          <p:nvPr/>
        </p:nvSpPr>
        <p:spPr>
          <a:xfrm>
            <a:off x="8229600" y="4023360"/>
            <a:ext cx="2880360" cy="1005840"/>
          </a:xfrm>
          <a:prstGeom prst="rect">
            <a:avLst/>
          </a:prstGeom>
          <a:noFill/>
          <a:ln/>
        </p:spPr>
        <p:txBody>
          <a:bodyPr wrap="square" lIns="0" tIns="0" rIns="0" bIns="0" rtlCol="0" anchor="ctr"/>
          <a:lstStyle/>
          <a:p>
            <a:pPr algn="ctr" indent="0" marL="0">
              <a:buNone/>
            </a:pPr>
            <a:r>
              <a:rPr lang="en-US" sz="1250" dirty="0">
                <a:solidFill>
                  <a:srgbClr val="5B6472"/>
                </a:solidFill>
                <a:latin typeface="Calibri" pitchFamily="34" charset="0"/>
                <a:ea typeface="Calibri" pitchFamily="34" charset="-122"/>
                <a:cs typeface="Calibri" pitchFamily="34" charset="-120"/>
              </a:rPr>
              <a:t>Notebooks open and run inside Chrome, Edge, Firefox, or Safari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Two ways to get Jupyter</a:t>
            </a:r>
            <a:endParaRPr lang="en-US" sz="3200" dirty="0"/>
          </a:p>
        </p:txBody>
      </p:sp>
      <p:sp>
        <p:nvSpPr>
          <p:cNvPr id="6" name="Shape 4"/>
          <p:cNvSpPr/>
          <p:nvPr/>
        </p:nvSpPr>
        <p:spPr>
          <a:xfrm>
            <a:off x="640080" y="1554480"/>
            <a:ext cx="5120640" cy="3931920"/>
          </a:xfrm>
          <a:prstGeom prst="roundRect">
            <a:avLst>
              <a:gd name="adj" fmla="val 2093"/>
            </a:avLst>
          </a:prstGeom>
          <a:solidFill>
            <a:srgbClr val="F4F6F9"/>
          </a:solidFill>
          <a:ln/>
        </p:spPr>
      </p:sp>
      <p:sp>
        <p:nvSpPr>
          <p:cNvPr id="7" name="Shape 5"/>
          <p:cNvSpPr/>
          <p:nvPr/>
        </p:nvSpPr>
        <p:spPr>
          <a:xfrm>
            <a:off x="914400" y="1828800"/>
            <a:ext cx="640080" cy="640080"/>
          </a:xfrm>
          <a:prstGeom prst="ellipse">
            <a:avLst/>
          </a:prstGeom>
          <a:solidFill>
            <a:srgbClr val="306998"/>
          </a:solidFill>
          <a:ln/>
        </p:spPr>
      </p:sp>
      <p:pic>
        <p:nvPicPr>
          <p:cNvPr id="8" name="Image 0" descr="/tmp/claude-0/-home-user-pythonSEM-intro/a422a649-6240-52ae-9445-beabcf08c9b3/scratchpad/jupyter/icons/terminal.png">    </p:cNvPr>
          <p:cNvPicPr>
            <a:picLocks noChangeAspect="1"/>
          </p:cNvPicPr>
          <p:nvPr/>
        </p:nvPicPr>
        <p:blipFill>
          <a:blip r:embed="rId1"/>
          <a:stretch>
            <a:fillRect/>
          </a:stretch>
        </p:blipFill>
        <p:spPr>
          <a:xfrm>
            <a:off x="997610" y="1912010"/>
            <a:ext cx="473659" cy="473659"/>
          </a:xfrm>
          <a:prstGeom prst="rect">
            <a:avLst/>
          </a:prstGeom>
        </p:spPr>
      </p:pic>
      <p:sp>
        <p:nvSpPr>
          <p:cNvPr id="9" name="Text 6"/>
          <p:cNvSpPr txBox="1"/>
          <p:nvPr/>
        </p:nvSpPr>
        <p:spPr>
          <a:xfrm>
            <a:off x="1691640" y="1920240"/>
            <a:ext cx="3840480"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Install with pip</a:t>
            </a:r>
            <a:endParaRPr lang="en-US" sz="1700" dirty="0"/>
          </a:p>
        </p:txBody>
      </p:sp>
      <p:sp>
        <p:nvSpPr>
          <p:cNvPr id="10" name="Text 7"/>
          <p:cNvSpPr txBox="1"/>
          <p:nvPr/>
        </p:nvSpPr>
        <p:spPr>
          <a:xfrm>
            <a:off x="914400" y="2651760"/>
            <a:ext cx="4572000" cy="50292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Fastest option if Python is already set up. Open a terminal and run:</a:t>
            </a:r>
            <a:endParaRPr lang="en-US" sz="1250" dirty="0"/>
          </a:p>
        </p:txBody>
      </p:sp>
      <p:sp>
        <p:nvSpPr>
          <p:cNvPr id="11" name="Shape 8"/>
          <p:cNvSpPr/>
          <p:nvPr/>
        </p:nvSpPr>
        <p:spPr>
          <a:xfrm>
            <a:off x="914400" y="3246120"/>
            <a:ext cx="4572000" cy="786384"/>
          </a:xfrm>
          <a:prstGeom prst="roundRect">
            <a:avLst>
              <a:gd name="adj" fmla="val 9302"/>
            </a:avLst>
          </a:prstGeom>
          <a:solidFill>
            <a:srgbClr val="132038"/>
          </a:solidFill>
          <a:ln/>
        </p:spPr>
      </p:sp>
      <p:sp>
        <p:nvSpPr>
          <p:cNvPr id="12" name="Text 9"/>
          <p:cNvSpPr txBox="1"/>
          <p:nvPr/>
        </p:nvSpPr>
        <p:spPr>
          <a:xfrm>
            <a:off x="1234440" y="3447288"/>
            <a:ext cx="402336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pip install notebook</a:t>
            </a:r>
            <a:endParaRPr lang="en-US" sz="1500" dirty="0"/>
          </a:p>
        </p:txBody>
      </p:sp>
      <p:sp>
        <p:nvSpPr>
          <p:cNvPr id="13" name="Text 10"/>
          <p:cNvSpPr txBox="1"/>
          <p:nvPr/>
        </p:nvSpPr>
        <p:spPr>
          <a:xfrm>
            <a:off x="914400" y="4069080"/>
            <a:ext cx="4572000" cy="36576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Prefer the newer interface? Install JupyterLab instead:</a:t>
            </a:r>
            <a:endParaRPr lang="en-US" sz="1250" dirty="0"/>
          </a:p>
        </p:txBody>
      </p:sp>
      <p:sp>
        <p:nvSpPr>
          <p:cNvPr id="14" name="Shape 11"/>
          <p:cNvSpPr/>
          <p:nvPr/>
        </p:nvSpPr>
        <p:spPr>
          <a:xfrm>
            <a:off x="914400" y="4480560"/>
            <a:ext cx="4572000" cy="786384"/>
          </a:xfrm>
          <a:prstGeom prst="roundRect">
            <a:avLst>
              <a:gd name="adj" fmla="val 9302"/>
            </a:avLst>
          </a:prstGeom>
          <a:solidFill>
            <a:srgbClr val="132038"/>
          </a:solidFill>
          <a:ln/>
        </p:spPr>
      </p:sp>
      <p:sp>
        <p:nvSpPr>
          <p:cNvPr id="15" name="Text 12"/>
          <p:cNvSpPr txBox="1"/>
          <p:nvPr/>
        </p:nvSpPr>
        <p:spPr>
          <a:xfrm>
            <a:off x="1234440" y="4681728"/>
            <a:ext cx="402336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pip install jupyterlab</a:t>
            </a:r>
            <a:endParaRPr lang="en-US" sz="1500" dirty="0"/>
          </a:p>
        </p:txBody>
      </p:sp>
      <p:sp>
        <p:nvSpPr>
          <p:cNvPr id="16" name="Shape 13"/>
          <p:cNvSpPr/>
          <p:nvPr/>
        </p:nvSpPr>
        <p:spPr>
          <a:xfrm>
            <a:off x="6035040" y="1554480"/>
            <a:ext cx="5513832" cy="3931920"/>
          </a:xfrm>
          <a:prstGeom prst="roundRect">
            <a:avLst>
              <a:gd name="adj" fmla="val 2093"/>
            </a:avLst>
          </a:prstGeom>
          <a:solidFill>
            <a:srgbClr val="F4F6F9"/>
          </a:solidFill>
          <a:ln/>
        </p:spPr>
      </p:sp>
      <p:sp>
        <p:nvSpPr>
          <p:cNvPr id="17" name="Shape 14"/>
          <p:cNvSpPr/>
          <p:nvPr/>
        </p:nvSpPr>
        <p:spPr>
          <a:xfrm>
            <a:off x="6309360" y="1828800"/>
            <a:ext cx="640080" cy="640080"/>
          </a:xfrm>
          <a:prstGeom prst="ellipse">
            <a:avLst/>
          </a:prstGeom>
          <a:solidFill>
            <a:srgbClr val="306998"/>
          </a:solidFill>
          <a:ln/>
        </p:spPr>
      </p:sp>
      <p:pic>
        <p:nvPicPr>
          <p:cNvPr id="18" name="Image 1" descr="/tmp/claude-0/-home-user-pythonSEM-intro/a422a649-6240-52ae-9445-beabcf08c9b3/scratchpad/jupyter/icons/download.png">    </p:cNvPr>
          <p:cNvPicPr>
            <a:picLocks noChangeAspect="1"/>
          </p:cNvPicPr>
          <p:nvPr/>
        </p:nvPicPr>
        <p:blipFill>
          <a:blip r:embed="rId2"/>
          <a:stretch>
            <a:fillRect/>
          </a:stretch>
        </p:blipFill>
        <p:spPr>
          <a:xfrm>
            <a:off x="6392570" y="1912010"/>
            <a:ext cx="473659" cy="473659"/>
          </a:xfrm>
          <a:prstGeom prst="rect">
            <a:avLst/>
          </a:prstGeom>
        </p:spPr>
      </p:pic>
      <p:sp>
        <p:nvSpPr>
          <p:cNvPr id="19" name="Text 15"/>
          <p:cNvSpPr txBox="1"/>
          <p:nvPr/>
        </p:nvSpPr>
        <p:spPr>
          <a:xfrm>
            <a:off x="7086600" y="1920240"/>
            <a:ext cx="4233672" cy="457200"/>
          </a:xfrm>
          <a:prstGeom prst="rect">
            <a:avLst/>
          </a:prstGeom>
          <a:noFill/>
          <a:ln/>
        </p:spPr>
        <p:txBody>
          <a:bodyPr wrap="square" lIns="0" tIns="0" rIns="0" bIns="0" rtlCol="0" anchor="ctr"/>
          <a:lstStyle/>
          <a:p>
            <a:pPr indent="0" marL="0">
              <a:buNone/>
            </a:pPr>
            <a:r>
              <a:rPr lang="en-US" sz="1700" b="1" dirty="0">
                <a:solidFill>
                  <a:srgbClr val="1F2937"/>
                </a:solidFill>
                <a:latin typeface="Arial" pitchFamily="34" charset="0"/>
                <a:ea typeface="Arial" pitchFamily="34" charset="-122"/>
                <a:cs typeface="Arial" pitchFamily="34" charset="-120"/>
              </a:rPr>
              <a:t>Install with Anaconda</a:t>
            </a:r>
            <a:endParaRPr lang="en-US" sz="1700" dirty="0"/>
          </a:p>
        </p:txBody>
      </p:sp>
      <p:sp>
        <p:nvSpPr>
          <p:cNvPr id="20" name="Text 16"/>
          <p:cNvSpPr txBox="1"/>
          <p:nvPr/>
        </p:nvSpPr>
        <p:spPr>
          <a:xfrm>
            <a:off x="6309360" y="2651760"/>
            <a:ext cx="4965192" cy="914400"/>
          </a:xfrm>
          <a:prstGeom prst="rect">
            <a:avLst/>
          </a:prstGeom>
          <a:noFill/>
          <a:ln/>
        </p:spPr>
        <p:txBody>
          <a:bodyPr wrap="square" lIns="0" tIns="0" rIns="0" bIns="0" rtlCol="0" anchor="ctr"/>
          <a:lstStyle/>
          <a:p>
            <a:pPr indent="0" marL="0">
              <a:buNone/>
            </a:pPr>
            <a:r>
              <a:rPr lang="en-US" sz="1250" dirty="0">
                <a:solidFill>
                  <a:srgbClr val="5B6472"/>
                </a:solidFill>
                <a:latin typeface="Calibri" pitchFamily="34" charset="0"/>
                <a:ea typeface="Calibri" pitchFamily="34" charset="-122"/>
                <a:cs typeface="Calibri" pitchFamily="34" charset="-120"/>
              </a:rPr>
              <a:t>A beginner-friendly bundle: Python, Jupyter, and hundreds of data science libraries, all in one installer.</a:t>
            </a:r>
            <a:endParaRPr lang="en-US" sz="1250" dirty="0"/>
          </a:p>
        </p:txBody>
      </p:sp>
      <p:sp>
        <p:nvSpPr>
          <p:cNvPr id="21" name="Shape 17"/>
          <p:cNvSpPr/>
          <p:nvPr/>
        </p:nvSpPr>
        <p:spPr>
          <a:xfrm>
            <a:off x="6309360" y="3657600"/>
            <a:ext cx="365760" cy="365760"/>
          </a:xfrm>
          <a:prstGeom prst="ellipse">
            <a:avLst/>
          </a:prstGeom>
          <a:solidFill>
            <a:srgbClr val="306998"/>
          </a:solidFill>
          <a:ln/>
        </p:spPr>
      </p:sp>
      <p:sp>
        <p:nvSpPr>
          <p:cNvPr id="22" name="Text 18"/>
          <p:cNvSpPr txBox="1"/>
          <p:nvPr/>
        </p:nvSpPr>
        <p:spPr>
          <a:xfrm>
            <a:off x="6309360" y="36576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3" name="Text 19"/>
          <p:cNvSpPr txBox="1"/>
          <p:nvPr/>
        </p:nvSpPr>
        <p:spPr>
          <a:xfrm>
            <a:off x="6812280" y="3630168"/>
            <a:ext cx="4462272"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Download Anaconda from anaconda.com</a:t>
            </a:r>
            <a:endParaRPr lang="en-US" sz="1200" dirty="0"/>
          </a:p>
        </p:txBody>
      </p:sp>
      <p:sp>
        <p:nvSpPr>
          <p:cNvPr id="24" name="Shape 20"/>
          <p:cNvSpPr/>
          <p:nvPr/>
        </p:nvSpPr>
        <p:spPr>
          <a:xfrm>
            <a:off x="6309360" y="4187952"/>
            <a:ext cx="365760" cy="365760"/>
          </a:xfrm>
          <a:prstGeom prst="ellipse">
            <a:avLst/>
          </a:prstGeom>
          <a:solidFill>
            <a:srgbClr val="306998"/>
          </a:solidFill>
          <a:ln/>
        </p:spPr>
      </p:sp>
      <p:sp>
        <p:nvSpPr>
          <p:cNvPr id="25" name="Text 21"/>
          <p:cNvSpPr txBox="1"/>
          <p:nvPr/>
        </p:nvSpPr>
        <p:spPr>
          <a:xfrm>
            <a:off x="6309360" y="41879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6" name="Text 22"/>
          <p:cNvSpPr txBox="1"/>
          <p:nvPr/>
        </p:nvSpPr>
        <p:spPr>
          <a:xfrm>
            <a:off x="6812280" y="4160520"/>
            <a:ext cx="4462272"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Run the installer for your OS</a:t>
            </a:r>
            <a:endParaRPr lang="en-US" sz="1200" dirty="0"/>
          </a:p>
        </p:txBody>
      </p:sp>
      <p:sp>
        <p:nvSpPr>
          <p:cNvPr id="27" name="Shape 23"/>
          <p:cNvSpPr/>
          <p:nvPr/>
        </p:nvSpPr>
        <p:spPr>
          <a:xfrm>
            <a:off x="6309360" y="4718304"/>
            <a:ext cx="365760" cy="365760"/>
          </a:xfrm>
          <a:prstGeom prst="ellipse">
            <a:avLst/>
          </a:prstGeom>
          <a:solidFill>
            <a:srgbClr val="306998"/>
          </a:solidFill>
          <a:ln/>
        </p:spPr>
      </p:sp>
      <p:sp>
        <p:nvSpPr>
          <p:cNvPr id="28" name="Text 24"/>
          <p:cNvSpPr txBox="1"/>
          <p:nvPr/>
        </p:nvSpPr>
        <p:spPr>
          <a:xfrm>
            <a:off x="6309360" y="47183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9" name="Text 25"/>
          <p:cNvSpPr txBox="1"/>
          <p:nvPr/>
        </p:nvSpPr>
        <p:spPr>
          <a:xfrm>
            <a:off x="6812280" y="4690872"/>
            <a:ext cx="4462272"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Open "Anaconda Navigator" and launch Jupyter from there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1 · Installing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1</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Launching your first notebook</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However you installed it, starting Jupyter always works the same way.</a:t>
            </a:r>
            <a:endParaRPr lang="en-US" sz="1400" dirty="0"/>
          </a:p>
        </p:txBody>
      </p:sp>
      <p:sp>
        <p:nvSpPr>
          <p:cNvPr id="7" name="Shape 5"/>
          <p:cNvSpPr/>
          <p:nvPr/>
        </p:nvSpPr>
        <p:spPr>
          <a:xfrm>
            <a:off x="640080" y="2286000"/>
            <a:ext cx="457200" cy="457200"/>
          </a:xfrm>
          <a:prstGeom prst="ellipse">
            <a:avLst/>
          </a:prstGeom>
          <a:solidFill>
            <a:srgbClr val="306998"/>
          </a:solidFill>
          <a:ln/>
        </p:spPr>
      </p:sp>
      <p:sp>
        <p:nvSpPr>
          <p:cNvPr id="8" name="Text 6"/>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80160" y="2258568"/>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Open a terminal and navigate to a folder for your work</a:t>
            </a:r>
            <a:endParaRPr lang="en-US" sz="1450" dirty="0"/>
          </a:p>
        </p:txBody>
      </p:sp>
      <p:sp>
        <p:nvSpPr>
          <p:cNvPr id="10" name="Shape 8"/>
          <p:cNvSpPr/>
          <p:nvPr/>
        </p:nvSpPr>
        <p:spPr>
          <a:xfrm>
            <a:off x="640080" y="2907792"/>
            <a:ext cx="457200" cy="457200"/>
          </a:xfrm>
          <a:prstGeom prst="ellipse">
            <a:avLst/>
          </a:prstGeom>
          <a:solidFill>
            <a:srgbClr val="306998"/>
          </a:solidFill>
          <a:ln/>
        </p:spPr>
      </p:sp>
      <p:sp>
        <p:nvSpPr>
          <p:cNvPr id="11" name="Text 9"/>
          <p:cNvSpPr txBox="1"/>
          <p:nvPr/>
        </p:nvSpPr>
        <p:spPr>
          <a:xfrm>
            <a:off x="640080" y="2907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1280160" y="2880360"/>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Type jupyter notebook (or jupyter lab) and press Enter</a:t>
            </a:r>
            <a:endParaRPr lang="en-US" sz="1450" dirty="0"/>
          </a:p>
        </p:txBody>
      </p:sp>
      <p:sp>
        <p:nvSpPr>
          <p:cNvPr id="13" name="Shape 11"/>
          <p:cNvSpPr/>
          <p:nvPr/>
        </p:nvSpPr>
        <p:spPr>
          <a:xfrm>
            <a:off x="640080" y="3529584"/>
            <a:ext cx="457200" cy="457200"/>
          </a:xfrm>
          <a:prstGeom prst="ellipse">
            <a:avLst/>
          </a:prstGeom>
          <a:solidFill>
            <a:srgbClr val="306998"/>
          </a:solidFill>
          <a:ln/>
        </p:spPr>
      </p:sp>
      <p:sp>
        <p:nvSpPr>
          <p:cNvPr id="14" name="Text 12"/>
          <p:cNvSpPr txBox="1"/>
          <p:nvPr/>
        </p:nvSpPr>
        <p:spPr>
          <a:xfrm>
            <a:off x="640080" y="35295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txBox="1"/>
          <p:nvPr/>
        </p:nvSpPr>
        <p:spPr>
          <a:xfrm>
            <a:off x="1280160" y="3502152"/>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Your browser opens automatically to a file list at localhost:8888</a:t>
            </a:r>
            <a:endParaRPr lang="en-US" sz="1450" dirty="0"/>
          </a:p>
        </p:txBody>
      </p:sp>
      <p:sp>
        <p:nvSpPr>
          <p:cNvPr id="16" name="Shape 14"/>
          <p:cNvSpPr/>
          <p:nvPr/>
        </p:nvSpPr>
        <p:spPr>
          <a:xfrm>
            <a:off x="640080" y="4151376"/>
            <a:ext cx="457200" cy="457200"/>
          </a:xfrm>
          <a:prstGeom prst="ellipse">
            <a:avLst/>
          </a:prstGeom>
          <a:solidFill>
            <a:srgbClr val="306998"/>
          </a:solidFill>
          <a:ln/>
        </p:spPr>
      </p:sp>
      <p:sp>
        <p:nvSpPr>
          <p:cNvPr id="17" name="Text 15"/>
          <p:cNvSpPr txBox="1"/>
          <p:nvPr/>
        </p:nvSpPr>
        <p:spPr>
          <a:xfrm>
            <a:off x="640080" y="41513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8" name="Text 16"/>
          <p:cNvSpPr txBox="1"/>
          <p:nvPr/>
        </p:nvSpPr>
        <p:spPr>
          <a:xfrm>
            <a:off x="1280160" y="4123944"/>
            <a:ext cx="9875520" cy="5029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Click "New" in the top right, then choose "Python 3" to create a notebook</a:t>
            </a:r>
            <a:endParaRPr lang="en-US" sz="1450" dirty="0"/>
          </a:p>
        </p:txBody>
      </p:sp>
      <p:sp>
        <p:nvSpPr>
          <p:cNvPr id="19" name="Shape 17"/>
          <p:cNvSpPr/>
          <p:nvPr/>
        </p:nvSpPr>
        <p:spPr>
          <a:xfrm>
            <a:off x="640080" y="4910328"/>
            <a:ext cx="6035040" cy="786384"/>
          </a:xfrm>
          <a:prstGeom prst="roundRect">
            <a:avLst>
              <a:gd name="adj" fmla="val 9302"/>
            </a:avLst>
          </a:prstGeom>
          <a:solidFill>
            <a:srgbClr val="132038"/>
          </a:solidFill>
          <a:ln/>
        </p:spPr>
      </p:sp>
      <p:sp>
        <p:nvSpPr>
          <p:cNvPr id="20" name="Text 18"/>
          <p:cNvSpPr txBox="1"/>
          <p:nvPr/>
        </p:nvSpPr>
        <p:spPr>
          <a:xfrm>
            <a:off x="960120" y="5111496"/>
            <a:ext cx="548640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jupyter notebook</a:t>
            </a:r>
            <a:endParaRPr lang="en-US" sz="1500" dirty="0"/>
          </a:p>
        </p:txBody>
      </p:sp>
      <p:sp>
        <p:nvSpPr>
          <p:cNvPr id="21" name="Shape 19"/>
          <p:cNvSpPr/>
          <p:nvPr/>
        </p:nvSpPr>
        <p:spPr>
          <a:xfrm>
            <a:off x="6949440" y="4910328"/>
            <a:ext cx="4206240" cy="786384"/>
          </a:xfrm>
          <a:prstGeom prst="roundRect">
            <a:avLst>
              <a:gd name="adj" fmla="val 9302"/>
            </a:avLst>
          </a:prstGeom>
          <a:solidFill>
            <a:srgbClr val="F4F6F9"/>
          </a:solidFill>
          <a:ln/>
        </p:spPr>
      </p:sp>
      <p:sp>
        <p:nvSpPr>
          <p:cNvPr id="22" name="Shape 20"/>
          <p:cNvSpPr/>
          <p:nvPr/>
        </p:nvSpPr>
        <p:spPr>
          <a:xfrm>
            <a:off x="7086600" y="5074920"/>
            <a:ext cx="457200" cy="457200"/>
          </a:xfrm>
          <a:prstGeom prst="ellipse">
            <a:avLst/>
          </a:prstGeom>
          <a:solidFill>
            <a:srgbClr val="FFD43B"/>
          </a:solidFill>
          <a:ln/>
        </p:spPr>
      </p:sp>
      <p:pic>
        <p:nvPicPr>
          <p:cNvPr id="23" name="Image 0" descr="/tmp/claude-0/-home-user-pythonSEM-intro/a422a649-6240-52ae-9445-beabcf08c9b3/scratchpad/jupyter/icons/lightbulb.png">    </p:cNvPr>
          <p:cNvPicPr>
            <a:picLocks noChangeAspect="1"/>
          </p:cNvPicPr>
          <p:nvPr/>
        </p:nvPicPr>
        <p:blipFill>
          <a:blip r:embed="rId1"/>
          <a:stretch>
            <a:fillRect/>
          </a:stretch>
        </p:blipFill>
        <p:spPr>
          <a:xfrm>
            <a:off x="7146036" y="5134356"/>
            <a:ext cx="338328" cy="338328"/>
          </a:xfrm>
          <a:prstGeom prst="rect">
            <a:avLst/>
          </a:prstGeom>
        </p:spPr>
      </p:pic>
      <p:sp>
        <p:nvSpPr>
          <p:cNvPr id="24" name="Text 21"/>
          <p:cNvSpPr txBox="1"/>
          <p:nvPr/>
        </p:nvSpPr>
        <p:spPr>
          <a:xfrm>
            <a:off x="7635240" y="4910328"/>
            <a:ext cx="3429000" cy="786384"/>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The terminal window must stay open, closing it shuts down the server.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jupyter/icons/rocket.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TRY IT NOW</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Get a blank notebook on screen</a:t>
            </a:r>
            <a:endParaRPr lang="en-US" sz="2600" dirty="0"/>
          </a:p>
        </p:txBody>
      </p:sp>
      <p:sp>
        <p:nvSpPr>
          <p:cNvPr id="6" name="Shape 3"/>
          <p:cNvSpPr/>
          <p:nvPr/>
        </p:nvSpPr>
        <p:spPr>
          <a:xfrm>
            <a:off x="822960" y="1920240"/>
            <a:ext cx="10515600" cy="777240"/>
          </a:xfrm>
          <a:prstGeom prst="roundRect">
            <a:avLst>
              <a:gd name="adj" fmla="val 11765"/>
            </a:avLst>
          </a:prstGeom>
          <a:solidFill>
            <a:srgbClr val="1B2A4A"/>
          </a:solidFill>
          <a:ln/>
        </p:spPr>
      </p:sp>
      <p:sp>
        <p:nvSpPr>
          <p:cNvPr id="7" name="Shape 4"/>
          <p:cNvSpPr/>
          <p:nvPr/>
        </p:nvSpPr>
        <p:spPr>
          <a:xfrm>
            <a:off x="1051560" y="2075688"/>
            <a:ext cx="457200" cy="457200"/>
          </a:xfrm>
          <a:prstGeom prst="ellipse">
            <a:avLst/>
          </a:prstGeom>
          <a:solidFill>
            <a:srgbClr val="306998"/>
          </a:solidFill>
          <a:ln/>
        </p:spPr>
      </p:sp>
      <p:sp>
        <p:nvSpPr>
          <p:cNvPr id="8" name="Text 5"/>
          <p:cNvSpPr txBox="1"/>
          <p:nvPr/>
        </p:nvSpPr>
        <p:spPr>
          <a:xfrm>
            <a:off x="1051560" y="2075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6"/>
          <p:cNvSpPr txBox="1"/>
          <p:nvPr/>
        </p:nvSpPr>
        <p:spPr>
          <a:xfrm>
            <a:off x="1691640" y="1920240"/>
            <a:ext cx="95097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Open a terminal and run jupyter notebook</a:t>
            </a:r>
            <a:endParaRPr lang="en-US" sz="1400" dirty="0"/>
          </a:p>
        </p:txBody>
      </p:sp>
      <p:sp>
        <p:nvSpPr>
          <p:cNvPr id="10" name="Shape 7"/>
          <p:cNvSpPr/>
          <p:nvPr/>
        </p:nvSpPr>
        <p:spPr>
          <a:xfrm>
            <a:off x="822960" y="2834640"/>
            <a:ext cx="10515600" cy="777240"/>
          </a:xfrm>
          <a:prstGeom prst="roundRect">
            <a:avLst>
              <a:gd name="adj" fmla="val 11765"/>
            </a:avLst>
          </a:prstGeom>
          <a:solidFill>
            <a:srgbClr val="1B2A4A"/>
          </a:solidFill>
          <a:ln/>
        </p:spPr>
      </p:sp>
      <p:sp>
        <p:nvSpPr>
          <p:cNvPr id="11" name="Shape 8"/>
          <p:cNvSpPr/>
          <p:nvPr/>
        </p:nvSpPr>
        <p:spPr>
          <a:xfrm>
            <a:off x="1051560" y="2990088"/>
            <a:ext cx="457200" cy="457200"/>
          </a:xfrm>
          <a:prstGeom prst="ellipse">
            <a:avLst/>
          </a:prstGeom>
          <a:solidFill>
            <a:srgbClr val="306998"/>
          </a:solidFill>
          <a:ln/>
        </p:spPr>
      </p:sp>
      <p:sp>
        <p:nvSpPr>
          <p:cNvPr id="12" name="Text 9"/>
          <p:cNvSpPr txBox="1"/>
          <p:nvPr/>
        </p:nvSpPr>
        <p:spPr>
          <a:xfrm>
            <a:off x="1051560" y="29900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691640" y="2834640"/>
            <a:ext cx="95097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 the browser tab that opens, click New, then Python 3</a:t>
            </a:r>
            <a:endParaRPr lang="en-US" sz="1400" dirty="0"/>
          </a:p>
        </p:txBody>
      </p:sp>
      <p:sp>
        <p:nvSpPr>
          <p:cNvPr id="14" name="Shape 11"/>
          <p:cNvSpPr/>
          <p:nvPr/>
        </p:nvSpPr>
        <p:spPr>
          <a:xfrm>
            <a:off x="822960" y="3749040"/>
            <a:ext cx="10515600" cy="777240"/>
          </a:xfrm>
          <a:prstGeom prst="roundRect">
            <a:avLst>
              <a:gd name="adj" fmla="val 11765"/>
            </a:avLst>
          </a:prstGeom>
          <a:solidFill>
            <a:srgbClr val="1B2A4A"/>
          </a:solidFill>
          <a:ln/>
        </p:spPr>
      </p:sp>
      <p:sp>
        <p:nvSpPr>
          <p:cNvPr id="15" name="Shape 12"/>
          <p:cNvSpPr/>
          <p:nvPr/>
        </p:nvSpPr>
        <p:spPr>
          <a:xfrm>
            <a:off x="1051560" y="3904488"/>
            <a:ext cx="457200" cy="457200"/>
          </a:xfrm>
          <a:prstGeom prst="ellipse">
            <a:avLst/>
          </a:prstGeom>
          <a:solidFill>
            <a:srgbClr val="306998"/>
          </a:solidFill>
          <a:ln/>
        </p:spPr>
      </p:sp>
      <p:sp>
        <p:nvSpPr>
          <p:cNvPr id="16" name="Text 13"/>
          <p:cNvSpPr txBox="1"/>
          <p:nvPr/>
        </p:nvSpPr>
        <p:spPr>
          <a:xfrm>
            <a:off x="1051560" y="39044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691640" y="3749040"/>
            <a:ext cx="95097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You should see a blank notebook with one empty gray box, that is a cell</a:t>
            </a:r>
            <a:endParaRPr lang="en-US" sz="1400" dirty="0"/>
          </a:p>
        </p:txBody>
      </p:sp>
      <p:sp>
        <p:nvSpPr>
          <p:cNvPr id="18" name="Shape 15"/>
          <p:cNvSpPr/>
          <p:nvPr/>
        </p:nvSpPr>
        <p:spPr>
          <a:xfrm>
            <a:off x="822960" y="4663440"/>
            <a:ext cx="10515600" cy="777240"/>
          </a:xfrm>
          <a:prstGeom prst="roundRect">
            <a:avLst>
              <a:gd name="adj" fmla="val 11765"/>
            </a:avLst>
          </a:prstGeom>
          <a:solidFill>
            <a:srgbClr val="1B2A4A"/>
          </a:solidFill>
          <a:ln/>
        </p:spPr>
      </p:sp>
      <p:sp>
        <p:nvSpPr>
          <p:cNvPr id="19" name="Shape 16"/>
          <p:cNvSpPr/>
          <p:nvPr/>
        </p:nvSpPr>
        <p:spPr>
          <a:xfrm>
            <a:off x="1051560" y="4818888"/>
            <a:ext cx="457200" cy="457200"/>
          </a:xfrm>
          <a:prstGeom prst="ellipse">
            <a:avLst/>
          </a:prstGeom>
          <a:solidFill>
            <a:srgbClr val="306998"/>
          </a:solidFill>
          <a:ln/>
        </p:spPr>
      </p:sp>
      <p:sp>
        <p:nvSpPr>
          <p:cNvPr id="20" name="Text 17"/>
          <p:cNvSpPr txBox="1"/>
          <p:nvPr/>
        </p:nvSpPr>
        <p:spPr>
          <a:xfrm>
            <a:off x="1051560" y="4818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691640" y="4663440"/>
            <a:ext cx="95097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Rename it: click "Untitled" at the top and type my_first_notebook</a:t>
            </a:r>
            <a:endParaRPr lang="en-US" sz="1400" dirty="0"/>
          </a:p>
        </p:txBody>
      </p:sp>
      <p:sp>
        <p:nvSpPr>
          <p:cNvPr id="22" name="Text 19"/>
          <p:cNvSpPr txBox="1"/>
          <p:nvPr/>
        </p:nvSpPr>
        <p:spPr>
          <a:xfrm>
            <a:off x="822960" y="562356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Stuck? Raise a hand, we will pair up and fix it together before moving on.</a:t>
            </a:r>
            <a:endParaRPr lang="en-US" sz="1250" dirty="0"/>
          </a:p>
        </p:txBody>
      </p:sp>
      <p:sp>
        <p:nvSpPr>
          <p:cNvPr id="23"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1 · Installing Jupyter</a:t>
            </a:r>
            <a:endParaRPr lang="en-US" sz="1000" dirty="0"/>
          </a:p>
        </p:txBody>
      </p:sp>
      <p:sp>
        <p:nvSpPr>
          <p:cNvPr id="24"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2</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What is a Notebook?</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A little history and the ideas that make notebooks different from a plain script.</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question.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2</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a Notebook?</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is Jupyter Notebook, really?</a:t>
            </a:r>
            <a:endParaRPr lang="en-US" sz="3200" dirty="0"/>
          </a:p>
        </p:txBody>
      </p:sp>
      <p:sp>
        <p:nvSpPr>
          <p:cNvPr id="6" name="Text 4"/>
          <p:cNvSpPr txBox="1"/>
          <p:nvPr/>
        </p:nvSpPr>
        <p:spPr>
          <a:xfrm>
            <a:off x="640080" y="1417320"/>
            <a:ext cx="6309360" cy="137160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A Jupyter Notebook is a document that mixes live, runnable code with text, images, and the output of that code, all in one file you can read top to bottom like a report.</a:t>
            </a:r>
            <a:endParaRPr lang="en-US" sz="1500" dirty="0"/>
          </a:p>
        </p:txBody>
      </p:sp>
      <p:sp>
        <p:nvSpPr>
          <p:cNvPr id="7" name="Text 5"/>
          <p:cNvSpPr txBox="1"/>
          <p:nvPr/>
        </p:nvSpPr>
        <p:spPr>
          <a:xfrm>
            <a:off x="640080" y="2926080"/>
            <a:ext cx="6309360" cy="18288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It grew out of IPython, an enhanced interactive Python shell. In 2014, that interactive notebook piece split off into its own project named Jupyter, a name that nods to three languages it was built to support: Julia, Python, and R.</a:t>
            </a:r>
            <a:endParaRPr lang="en-US" sz="1400" dirty="0"/>
          </a:p>
        </p:txBody>
      </p:sp>
      <p:sp>
        <p:nvSpPr>
          <p:cNvPr id="8" name="Shape 6"/>
          <p:cNvSpPr/>
          <p:nvPr/>
        </p:nvSpPr>
        <p:spPr>
          <a:xfrm>
            <a:off x="7269480" y="1463040"/>
            <a:ext cx="4251960" cy="1325880"/>
          </a:xfrm>
          <a:prstGeom prst="roundRect">
            <a:avLst>
              <a:gd name="adj" fmla="val 6207"/>
            </a:avLst>
          </a:prstGeom>
          <a:solidFill>
            <a:srgbClr val="F4F6F9"/>
          </a:solidFill>
          <a:ln/>
        </p:spPr>
      </p:sp>
      <p:sp>
        <p:nvSpPr>
          <p:cNvPr id="9" name="Text 7"/>
          <p:cNvSpPr txBox="1"/>
          <p:nvPr/>
        </p:nvSpPr>
        <p:spPr>
          <a:xfrm>
            <a:off x="7498080" y="1600200"/>
            <a:ext cx="3840480" cy="822960"/>
          </a:xfrm>
          <a:prstGeom prst="rect">
            <a:avLst/>
          </a:prstGeom>
          <a:noFill/>
          <a:ln/>
        </p:spPr>
        <p:txBody>
          <a:bodyPr wrap="square" lIns="0" tIns="0" rIns="0" bIns="0" rtlCol="0" anchor="ctr"/>
          <a:lstStyle/>
          <a:p>
            <a:pPr indent="0" marL="0">
              <a:buNone/>
            </a:pPr>
            <a:r>
              <a:rPr lang="en-US" sz="3000" b="1" dirty="0">
                <a:solidFill>
                  <a:srgbClr val="306998"/>
                </a:solidFill>
                <a:latin typeface="Arial" pitchFamily="34" charset="0"/>
                <a:ea typeface="Arial" pitchFamily="34" charset="-122"/>
                <a:cs typeface="Arial" pitchFamily="34" charset="-120"/>
              </a:rPr>
              <a:t>2014</a:t>
            </a:r>
            <a:endParaRPr lang="en-US" sz="3000" dirty="0"/>
          </a:p>
        </p:txBody>
      </p:sp>
      <p:sp>
        <p:nvSpPr>
          <p:cNvPr id="10" name="Text 8"/>
          <p:cNvSpPr txBox="1"/>
          <p:nvPr/>
        </p:nvSpPr>
        <p:spPr>
          <a:xfrm>
            <a:off x="7498080" y="233172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Year Project Jupyter split off from IPython</a:t>
            </a:r>
            <a:endParaRPr lang="en-US" sz="1150" dirty="0"/>
          </a:p>
        </p:txBody>
      </p:sp>
      <p:sp>
        <p:nvSpPr>
          <p:cNvPr id="11" name="Shape 9"/>
          <p:cNvSpPr/>
          <p:nvPr/>
        </p:nvSpPr>
        <p:spPr>
          <a:xfrm>
            <a:off x="7269480" y="2971800"/>
            <a:ext cx="4251960" cy="1325880"/>
          </a:xfrm>
          <a:prstGeom prst="roundRect">
            <a:avLst>
              <a:gd name="adj" fmla="val 6207"/>
            </a:avLst>
          </a:prstGeom>
          <a:solidFill>
            <a:srgbClr val="F4F6F9"/>
          </a:solidFill>
          <a:ln/>
        </p:spPr>
      </p:sp>
      <p:sp>
        <p:nvSpPr>
          <p:cNvPr id="12" name="Text 10"/>
          <p:cNvSpPr txBox="1"/>
          <p:nvPr/>
        </p:nvSpPr>
        <p:spPr>
          <a:xfrm>
            <a:off x="7498080" y="3108960"/>
            <a:ext cx="3840480" cy="822960"/>
          </a:xfrm>
          <a:prstGeom prst="rect">
            <a:avLst/>
          </a:prstGeom>
          <a:noFill/>
          <a:ln/>
        </p:spPr>
        <p:txBody>
          <a:bodyPr wrap="square" lIns="0" tIns="0" rIns="0" bIns="0" rtlCol="0" anchor="ctr"/>
          <a:lstStyle/>
          <a:p>
            <a:pPr indent="0" marL="0">
              <a:buNone/>
            </a:pPr>
            <a:r>
              <a:rPr lang="en-US" sz="3000" b="1" dirty="0">
                <a:solidFill>
                  <a:srgbClr val="306998"/>
                </a:solidFill>
                <a:latin typeface="Arial" pitchFamily="34" charset="0"/>
                <a:ea typeface="Arial" pitchFamily="34" charset="-122"/>
                <a:cs typeface="Arial" pitchFamily="34" charset="-120"/>
              </a:rPr>
              <a:t>.ipynb</a:t>
            </a:r>
            <a:endParaRPr lang="en-US" sz="3000" dirty="0"/>
          </a:p>
        </p:txBody>
      </p:sp>
      <p:sp>
        <p:nvSpPr>
          <p:cNvPr id="13" name="Text 11"/>
          <p:cNvSpPr txBox="1"/>
          <p:nvPr/>
        </p:nvSpPr>
        <p:spPr>
          <a:xfrm>
            <a:off x="7498080" y="384048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The file extension every notebook is saved as</a:t>
            </a:r>
            <a:endParaRPr lang="en-US" sz="1150" dirty="0"/>
          </a:p>
        </p:txBody>
      </p:sp>
      <p:sp>
        <p:nvSpPr>
          <p:cNvPr id="14" name="Shape 12"/>
          <p:cNvSpPr/>
          <p:nvPr/>
        </p:nvSpPr>
        <p:spPr>
          <a:xfrm>
            <a:off x="7269480" y="4480560"/>
            <a:ext cx="4251960" cy="1325880"/>
          </a:xfrm>
          <a:prstGeom prst="roundRect">
            <a:avLst>
              <a:gd name="adj" fmla="val 6207"/>
            </a:avLst>
          </a:prstGeom>
          <a:solidFill>
            <a:srgbClr val="F4F6F9"/>
          </a:solidFill>
          <a:ln/>
        </p:spPr>
      </p:sp>
      <p:sp>
        <p:nvSpPr>
          <p:cNvPr id="15" name="Text 13"/>
          <p:cNvSpPr txBox="1"/>
          <p:nvPr/>
        </p:nvSpPr>
        <p:spPr>
          <a:xfrm>
            <a:off x="7498080" y="4617720"/>
            <a:ext cx="3840480" cy="822960"/>
          </a:xfrm>
          <a:prstGeom prst="rect">
            <a:avLst/>
          </a:prstGeom>
          <a:noFill/>
          <a:ln/>
        </p:spPr>
        <p:txBody>
          <a:bodyPr wrap="square" lIns="0" tIns="0" rIns="0" bIns="0" rtlCol="0" anchor="ctr"/>
          <a:lstStyle/>
          <a:p>
            <a:pPr indent="0" marL="0">
              <a:buNone/>
            </a:pPr>
            <a:r>
              <a:rPr lang="en-US" sz="3000" b="1" dirty="0">
                <a:solidFill>
                  <a:srgbClr val="306998"/>
                </a:solidFill>
                <a:latin typeface="Arial" pitchFamily="34" charset="0"/>
                <a:ea typeface="Arial" pitchFamily="34" charset="-122"/>
                <a:cs typeface="Arial" pitchFamily="34" charset="-120"/>
              </a:rPr>
              <a:t>40+</a:t>
            </a:r>
            <a:endParaRPr lang="en-US" sz="3000" dirty="0"/>
          </a:p>
        </p:txBody>
      </p:sp>
      <p:sp>
        <p:nvSpPr>
          <p:cNvPr id="16" name="Text 14"/>
          <p:cNvSpPr txBox="1"/>
          <p:nvPr/>
        </p:nvSpPr>
        <p:spPr>
          <a:xfrm>
            <a:off x="7498080" y="5349240"/>
            <a:ext cx="3840480" cy="41148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Programming languages Jupyter kernels support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a Notebook?</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Four traits worth knowing</a:t>
            </a:r>
            <a:endParaRPr lang="en-US" sz="3200" dirty="0"/>
          </a:p>
        </p:txBody>
      </p:sp>
      <p:sp>
        <p:nvSpPr>
          <p:cNvPr id="6" name="Shape 4"/>
          <p:cNvSpPr/>
          <p:nvPr/>
        </p:nvSpPr>
        <p:spPr>
          <a:xfrm>
            <a:off x="640080" y="1508760"/>
            <a:ext cx="5257800" cy="1920240"/>
          </a:xfrm>
          <a:prstGeom prst="roundRect">
            <a:avLst>
              <a:gd name="adj" fmla="val 4286"/>
            </a:avLst>
          </a:prstGeom>
          <a:solidFill>
            <a:srgbClr val="F4F6F9"/>
          </a:solidFill>
          <a:ln/>
        </p:spPr>
      </p:sp>
      <p:sp>
        <p:nvSpPr>
          <p:cNvPr id="7" name="Shape 5"/>
          <p:cNvSpPr/>
          <p:nvPr/>
        </p:nvSpPr>
        <p:spPr>
          <a:xfrm>
            <a:off x="914400" y="1783080"/>
            <a:ext cx="640080" cy="640080"/>
          </a:xfrm>
          <a:prstGeom prst="ellipse">
            <a:avLst/>
          </a:prstGeom>
          <a:solidFill>
            <a:srgbClr val="306998"/>
          </a:solidFill>
          <a:ln/>
        </p:spPr>
      </p:sp>
      <p:pic>
        <p:nvPicPr>
          <p:cNvPr id="8" name="Image 0" descr="/tmp/claude-0/-home-user-pythonSEM-intro/a422a649-6240-52ae-9445-beabcf08c9b3/scratchpad/jupyter/icons/layout.png">    </p:cNvPr>
          <p:cNvPicPr>
            <a:picLocks noChangeAspect="1"/>
          </p:cNvPicPr>
          <p:nvPr/>
        </p:nvPicPr>
        <p:blipFill>
          <a:blip r:embed="rId1"/>
          <a:stretch>
            <a:fillRect/>
          </a:stretch>
        </p:blipFill>
        <p:spPr>
          <a:xfrm>
            <a:off x="997610" y="1866290"/>
            <a:ext cx="473659" cy="473659"/>
          </a:xfrm>
          <a:prstGeom prst="rect">
            <a:avLst/>
          </a:prstGeom>
        </p:spPr>
      </p:pic>
      <p:sp>
        <p:nvSpPr>
          <p:cNvPr id="9" name="Text 6"/>
          <p:cNvSpPr txBox="1"/>
          <p:nvPr/>
        </p:nvSpPr>
        <p:spPr>
          <a:xfrm>
            <a:off x="1737360" y="180136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Cell-based</a:t>
            </a:r>
            <a:endParaRPr lang="en-US" sz="1600" dirty="0"/>
          </a:p>
        </p:txBody>
      </p:sp>
      <p:sp>
        <p:nvSpPr>
          <p:cNvPr id="10" name="Text 7"/>
          <p:cNvSpPr txBox="1"/>
          <p:nvPr/>
        </p:nvSpPr>
        <p:spPr>
          <a:xfrm>
            <a:off x="914400" y="246888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Code is broken into small, runnable chunks called cells, instead of one long file.</a:t>
            </a:r>
            <a:endParaRPr lang="en-US" sz="1200" dirty="0"/>
          </a:p>
        </p:txBody>
      </p:sp>
      <p:sp>
        <p:nvSpPr>
          <p:cNvPr id="11" name="Shape 8"/>
          <p:cNvSpPr/>
          <p:nvPr/>
        </p:nvSpPr>
        <p:spPr>
          <a:xfrm>
            <a:off x="6172200" y="1508760"/>
            <a:ext cx="5257800" cy="1920240"/>
          </a:xfrm>
          <a:prstGeom prst="roundRect">
            <a:avLst>
              <a:gd name="adj" fmla="val 4286"/>
            </a:avLst>
          </a:prstGeom>
          <a:solidFill>
            <a:srgbClr val="F4F6F9"/>
          </a:solidFill>
          <a:ln/>
        </p:spPr>
      </p:sp>
      <p:sp>
        <p:nvSpPr>
          <p:cNvPr id="12" name="Shape 9"/>
          <p:cNvSpPr/>
          <p:nvPr/>
        </p:nvSpPr>
        <p:spPr>
          <a:xfrm>
            <a:off x="6446520" y="1783080"/>
            <a:ext cx="640080" cy="640080"/>
          </a:xfrm>
          <a:prstGeom prst="ellipse">
            <a:avLst/>
          </a:prstGeom>
          <a:solidFill>
            <a:srgbClr val="306998"/>
          </a:solidFill>
          <a:ln/>
        </p:spPr>
      </p:sp>
      <p:pic>
        <p:nvPicPr>
          <p:cNvPr id="13" name="Image 1" descr="/tmp/claude-0/-home-user-pythonSEM-intro/a422a649-6240-52ae-9445-beabcf08c9b3/scratchpad/jupyter/icons/restart.png">    </p:cNvPr>
          <p:cNvPicPr>
            <a:picLocks noChangeAspect="1"/>
          </p:cNvPicPr>
          <p:nvPr/>
        </p:nvPicPr>
        <p:blipFill>
          <a:blip r:embed="rId2"/>
          <a:stretch>
            <a:fillRect/>
          </a:stretch>
        </p:blipFill>
        <p:spPr>
          <a:xfrm>
            <a:off x="6529730" y="1866290"/>
            <a:ext cx="473659" cy="473659"/>
          </a:xfrm>
          <a:prstGeom prst="rect">
            <a:avLst/>
          </a:prstGeom>
        </p:spPr>
      </p:pic>
      <p:sp>
        <p:nvSpPr>
          <p:cNvPr id="14" name="Text 10"/>
          <p:cNvSpPr txBox="1"/>
          <p:nvPr/>
        </p:nvSpPr>
        <p:spPr>
          <a:xfrm>
            <a:off x="7269480" y="180136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Interactive</a:t>
            </a:r>
            <a:endParaRPr lang="en-US" sz="1600" dirty="0"/>
          </a:p>
        </p:txBody>
      </p:sp>
      <p:sp>
        <p:nvSpPr>
          <p:cNvPr id="15" name="Text 11"/>
          <p:cNvSpPr txBox="1"/>
          <p:nvPr/>
        </p:nvSpPr>
        <p:spPr>
          <a:xfrm>
            <a:off x="6446520" y="246888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Run a cell, see the result immediately, tweak it, and run it again, without restarting everything.</a:t>
            </a:r>
            <a:endParaRPr lang="en-US" sz="1200" dirty="0"/>
          </a:p>
        </p:txBody>
      </p:sp>
      <p:sp>
        <p:nvSpPr>
          <p:cNvPr id="16" name="Shape 12"/>
          <p:cNvSpPr/>
          <p:nvPr/>
        </p:nvSpPr>
        <p:spPr>
          <a:xfrm>
            <a:off x="640080" y="3703320"/>
            <a:ext cx="5257800" cy="1920240"/>
          </a:xfrm>
          <a:prstGeom prst="roundRect">
            <a:avLst>
              <a:gd name="adj" fmla="val 4286"/>
            </a:avLst>
          </a:prstGeom>
          <a:solidFill>
            <a:srgbClr val="F4F6F9"/>
          </a:solidFill>
          <a:ln/>
        </p:spPr>
      </p:sp>
      <p:sp>
        <p:nvSpPr>
          <p:cNvPr id="17" name="Shape 13"/>
          <p:cNvSpPr/>
          <p:nvPr/>
        </p:nvSpPr>
        <p:spPr>
          <a:xfrm>
            <a:off x="914400" y="3977640"/>
            <a:ext cx="640080" cy="640080"/>
          </a:xfrm>
          <a:prstGeom prst="ellipse">
            <a:avLst/>
          </a:prstGeom>
          <a:solidFill>
            <a:srgbClr val="306998"/>
          </a:solidFill>
          <a:ln/>
        </p:spPr>
      </p:sp>
      <p:pic>
        <p:nvPicPr>
          <p:cNvPr id="18" name="Image 2" descr="/tmp/claude-0/-home-user-pythonSEM-intro/a422a649-6240-52ae-9445-beabcf08c9b3/scratchpad/jupyter/icons/markdown.png">    </p:cNvPr>
          <p:cNvPicPr>
            <a:picLocks noChangeAspect="1"/>
          </p:cNvPicPr>
          <p:nvPr/>
        </p:nvPicPr>
        <p:blipFill>
          <a:blip r:embed="rId3"/>
          <a:stretch>
            <a:fillRect/>
          </a:stretch>
        </p:blipFill>
        <p:spPr>
          <a:xfrm>
            <a:off x="997610" y="4060850"/>
            <a:ext cx="473659" cy="473659"/>
          </a:xfrm>
          <a:prstGeom prst="rect">
            <a:avLst/>
          </a:prstGeom>
        </p:spPr>
      </p:pic>
      <p:sp>
        <p:nvSpPr>
          <p:cNvPr id="19" name="Text 14"/>
          <p:cNvSpPr txBox="1"/>
          <p:nvPr/>
        </p:nvSpPr>
        <p:spPr>
          <a:xfrm>
            <a:off x="1737360" y="399592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Mixes text and code</a:t>
            </a:r>
            <a:endParaRPr lang="en-US" sz="1600" dirty="0"/>
          </a:p>
        </p:txBody>
      </p:sp>
      <p:sp>
        <p:nvSpPr>
          <p:cNvPr id="20" name="Text 15"/>
          <p:cNvSpPr txBox="1"/>
          <p:nvPr/>
        </p:nvSpPr>
        <p:spPr>
          <a:xfrm>
            <a:off x="914400" y="466344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Markdown cells let you explain your thinking right next to the code that does the work.</a:t>
            </a:r>
            <a:endParaRPr lang="en-US" sz="1200" dirty="0"/>
          </a:p>
        </p:txBody>
      </p:sp>
      <p:sp>
        <p:nvSpPr>
          <p:cNvPr id="21" name="Shape 16"/>
          <p:cNvSpPr/>
          <p:nvPr/>
        </p:nvSpPr>
        <p:spPr>
          <a:xfrm>
            <a:off x="6172200" y="3703320"/>
            <a:ext cx="5257800" cy="1920240"/>
          </a:xfrm>
          <a:prstGeom prst="roundRect">
            <a:avLst>
              <a:gd name="adj" fmla="val 4286"/>
            </a:avLst>
          </a:prstGeom>
          <a:solidFill>
            <a:srgbClr val="F4F6F9"/>
          </a:solidFill>
          <a:ln/>
        </p:spPr>
      </p:sp>
      <p:sp>
        <p:nvSpPr>
          <p:cNvPr id="22" name="Shape 17"/>
          <p:cNvSpPr/>
          <p:nvPr/>
        </p:nvSpPr>
        <p:spPr>
          <a:xfrm>
            <a:off x="6446520" y="3977640"/>
            <a:ext cx="640080" cy="640080"/>
          </a:xfrm>
          <a:prstGeom prst="ellipse">
            <a:avLst/>
          </a:prstGeom>
          <a:solidFill>
            <a:srgbClr val="306998"/>
          </a:solidFill>
          <a:ln/>
        </p:spPr>
      </p:sp>
      <p:pic>
        <p:nvPicPr>
          <p:cNvPr id="23" name="Image 3" descr="/tmp/claude-0/-home-user-pythonSEM-intro/a422a649-6240-52ae-9445-beabcf08c9b3/scratchpad/jupyter/icons/kernel.png">    </p:cNvPr>
          <p:cNvPicPr>
            <a:picLocks noChangeAspect="1"/>
          </p:cNvPicPr>
          <p:nvPr/>
        </p:nvPicPr>
        <p:blipFill>
          <a:blip r:embed="rId4"/>
          <a:stretch>
            <a:fillRect/>
          </a:stretch>
        </p:blipFill>
        <p:spPr>
          <a:xfrm>
            <a:off x="6529730" y="4060850"/>
            <a:ext cx="473659" cy="473659"/>
          </a:xfrm>
          <a:prstGeom prst="rect">
            <a:avLst/>
          </a:prstGeom>
        </p:spPr>
      </p:pic>
      <p:sp>
        <p:nvSpPr>
          <p:cNvPr id="24" name="Text 18"/>
          <p:cNvSpPr txBox="1"/>
          <p:nvPr/>
        </p:nvSpPr>
        <p:spPr>
          <a:xfrm>
            <a:off x="7269480" y="3995928"/>
            <a:ext cx="388620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Kernel-powered</a:t>
            </a:r>
            <a:endParaRPr lang="en-US" sz="1600" dirty="0"/>
          </a:p>
        </p:txBody>
      </p:sp>
      <p:sp>
        <p:nvSpPr>
          <p:cNvPr id="25" name="Text 19"/>
          <p:cNvSpPr txBox="1"/>
          <p:nvPr/>
        </p:nvSpPr>
        <p:spPr>
          <a:xfrm>
            <a:off x="6446520" y="4663440"/>
            <a:ext cx="4709160" cy="86868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A background process called the kernel actually runs your code and remembers your variables.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2 · What is a Notebook?</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2</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notebooks show up at work</a:t>
            </a:r>
            <a:endParaRPr lang="en-US" sz="3200" dirty="0"/>
          </a:p>
        </p:txBody>
      </p:sp>
      <p:sp>
        <p:nvSpPr>
          <p:cNvPr id="6" name="Text 4"/>
          <p:cNvSpPr txBox="1"/>
          <p:nvPr/>
        </p:nvSpPr>
        <p:spPr>
          <a:xfrm>
            <a:off x="640080" y="1417320"/>
            <a:ext cx="91440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The same cell-by-cell workflow shows up across these everyday tasks.</a:t>
            </a:r>
            <a:endParaRPr lang="en-US" sz="1400" dirty="0"/>
          </a:p>
        </p:txBody>
      </p:sp>
      <p:sp>
        <p:nvSpPr>
          <p:cNvPr id="7" name="Shape 5"/>
          <p:cNvSpPr/>
          <p:nvPr/>
        </p:nvSpPr>
        <p:spPr>
          <a:xfrm>
            <a:off x="640080" y="1965960"/>
            <a:ext cx="3429000" cy="1828800"/>
          </a:xfrm>
          <a:prstGeom prst="roundRect">
            <a:avLst>
              <a:gd name="adj" fmla="val 4500"/>
            </a:avLst>
          </a:prstGeom>
          <a:solidFill>
            <a:srgbClr val="F4F6F9"/>
          </a:solidFill>
          <a:ln/>
        </p:spPr>
      </p:sp>
      <p:sp>
        <p:nvSpPr>
          <p:cNvPr id="8" name="Shape 6"/>
          <p:cNvSpPr/>
          <p:nvPr/>
        </p:nvSpPr>
        <p:spPr>
          <a:xfrm>
            <a:off x="896112" y="2221992"/>
            <a:ext cx="594360" cy="594360"/>
          </a:xfrm>
          <a:prstGeom prst="ellipse">
            <a:avLst/>
          </a:prstGeom>
          <a:solidFill>
            <a:srgbClr val="306998"/>
          </a:solidFill>
          <a:ln/>
        </p:spPr>
      </p:sp>
      <p:pic>
        <p:nvPicPr>
          <p:cNvPr id="9" name="Image 0" descr="/tmp/claude-0/-home-user-pythonSEM-intro/a422a649-6240-52ae-9445-beabcf08c9b3/scratchpad/jupyter/icons/chart.png">    </p:cNvPr>
          <p:cNvPicPr>
            <a:picLocks noChangeAspect="1"/>
          </p:cNvPicPr>
          <p:nvPr/>
        </p:nvPicPr>
        <p:blipFill>
          <a:blip r:embed="rId1"/>
          <a:stretch>
            <a:fillRect/>
          </a:stretch>
        </p:blipFill>
        <p:spPr>
          <a:xfrm>
            <a:off x="973379" y="2299259"/>
            <a:ext cx="439826" cy="439826"/>
          </a:xfrm>
          <a:prstGeom prst="rect">
            <a:avLst/>
          </a:prstGeom>
        </p:spPr>
      </p:pic>
      <p:sp>
        <p:nvSpPr>
          <p:cNvPr id="10" name="Text 7"/>
          <p:cNvSpPr txBox="1"/>
          <p:nvPr/>
        </p:nvSpPr>
        <p:spPr>
          <a:xfrm>
            <a:off x="896112" y="29260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Exploring data</a:t>
            </a:r>
            <a:endParaRPr lang="en-US" sz="1400" dirty="0"/>
          </a:p>
        </p:txBody>
      </p:sp>
      <p:sp>
        <p:nvSpPr>
          <p:cNvPr id="11" name="Text 8"/>
          <p:cNvSpPr txBox="1"/>
          <p:nvPr/>
        </p:nvSpPr>
        <p:spPr>
          <a:xfrm>
            <a:off x="8961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Poke at a dataset, chart it, and adjust without starting over</a:t>
            </a:r>
            <a:endParaRPr lang="en-US" sz="1100" dirty="0"/>
          </a:p>
        </p:txBody>
      </p:sp>
      <p:sp>
        <p:nvSpPr>
          <p:cNvPr id="12" name="Shape 9"/>
          <p:cNvSpPr/>
          <p:nvPr/>
        </p:nvSpPr>
        <p:spPr>
          <a:xfrm>
            <a:off x="4297680" y="1965960"/>
            <a:ext cx="3429000" cy="1828800"/>
          </a:xfrm>
          <a:prstGeom prst="roundRect">
            <a:avLst>
              <a:gd name="adj" fmla="val 4500"/>
            </a:avLst>
          </a:prstGeom>
          <a:solidFill>
            <a:srgbClr val="F4F6F9"/>
          </a:solidFill>
          <a:ln/>
        </p:spPr>
      </p:sp>
      <p:sp>
        <p:nvSpPr>
          <p:cNvPr id="13" name="Shape 10"/>
          <p:cNvSpPr/>
          <p:nvPr/>
        </p:nvSpPr>
        <p:spPr>
          <a:xfrm>
            <a:off x="4553712" y="2221992"/>
            <a:ext cx="594360" cy="594360"/>
          </a:xfrm>
          <a:prstGeom prst="ellipse">
            <a:avLst/>
          </a:prstGeom>
          <a:solidFill>
            <a:srgbClr val="306998"/>
          </a:solidFill>
          <a:ln/>
        </p:spPr>
      </p:sp>
      <p:pic>
        <p:nvPicPr>
          <p:cNvPr id="14" name="Image 1" descr="/tmp/claude-0/-home-user-pythonSEM-intro/a422a649-6240-52ae-9445-beabcf08c9b3/scratchpad/jupyter/icons/robot.png">    </p:cNvPr>
          <p:cNvPicPr>
            <a:picLocks noChangeAspect="1"/>
          </p:cNvPicPr>
          <p:nvPr/>
        </p:nvPicPr>
        <p:blipFill>
          <a:blip r:embed="rId2"/>
          <a:stretch>
            <a:fillRect/>
          </a:stretch>
        </p:blipFill>
        <p:spPr>
          <a:xfrm>
            <a:off x="4630979" y="2299259"/>
            <a:ext cx="439826" cy="439826"/>
          </a:xfrm>
          <a:prstGeom prst="rect">
            <a:avLst/>
          </a:prstGeom>
        </p:spPr>
      </p:pic>
      <p:sp>
        <p:nvSpPr>
          <p:cNvPr id="15" name="Text 11"/>
          <p:cNvSpPr txBox="1"/>
          <p:nvPr/>
        </p:nvSpPr>
        <p:spPr>
          <a:xfrm>
            <a:off x="4553712" y="29260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Building AI models</a:t>
            </a:r>
            <a:endParaRPr lang="en-US" sz="1400" dirty="0"/>
          </a:p>
        </p:txBody>
      </p:sp>
      <p:sp>
        <p:nvSpPr>
          <p:cNvPr id="16" name="Text 12"/>
          <p:cNvSpPr txBox="1"/>
          <p:nvPr/>
        </p:nvSpPr>
        <p:spPr>
          <a:xfrm>
            <a:off x="45537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Train, test, and tweak machine learning models step by step</a:t>
            </a:r>
            <a:endParaRPr lang="en-US" sz="1100" dirty="0"/>
          </a:p>
        </p:txBody>
      </p:sp>
      <p:sp>
        <p:nvSpPr>
          <p:cNvPr id="17" name="Shape 13"/>
          <p:cNvSpPr/>
          <p:nvPr/>
        </p:nvSpPr>
        <p:spPr>
          <a:xfrm>
            <a:off x="7955280" y="1965960"/>
            <a:ext cx="3429000" cy="1828800"/>
          </a:xfrm>
          <a:prstGeom prst="roundRect">
            <a:avLst>
              <a:gd name="adj" fmla="val 4500"/>
            </a:avLst>
          </a:prstGeom>
          <a:solidFill>
            <a:srgbClr val="F4F6F9"/>
          </a:solidFill>
          <a:ln/>
        </p:spPr>
      </p:sp>
      <p:sp>
        <p:nvSpPr>
          <p:cNvPr id="18" name="Shape 14"/>
          <p:cNvSpPr/>
          <p:nvPr/>
        </p:nvSpPr>
        <p:spPr>
          <a:xfrm>
            <a:off x="8211312" y="2221992"/>
            <a:ext cx="594360" cy="594360"/>
          </a:xfrm>
          <a:prstGeom prst="ellipse">
            <a:avLst/>
          </a:prstGeom>
          <a:solidFill>
            <a:srgbClr val="306998"/>
          </a:solidFill>
          <a:ln/>
        </p:spPr>
      </p:sp>
      <p:pic>
        <p:nvPicPr>
          <p:cNvPr id="19" name="Image 2" descr="/tmp/claude-0/-home-user-pythonSEM-intro/a422a649-6240-52ae-9445-beabcf08c9b3/scratchpad/jupyter/icons/gradcap.png">    </p:cNvPr>
          <p:cNvPicPr>
            <a:picLocks noChangeAspect="1"/>
          </p:cNvPicPr>
          <p:nvPr/>
        </p:nvPicPr>
        <p:blipFill>
          <a:blip r:embed="rId3"/>
          <a:stretch>
            <a:fillRect/>
          </a:stretch>
        </p:blipFill>
        <p:spPr>
          <a:xfrm>
            <a:off x="8288579" y="2299259"/>
            <a:ext cx="439826" cy="439826"/>
          </a:xfrm>
          <a:prstGeom prst="rect">
            <a:avLst/>
          </a:prstGeom>
        </p:spPr>
      </p:pic>
      <p:sp>
        <p:nvSpPr>
          <p:cNvPr id="20" name="Text 15"/>
          <p:cNvSpPr txBox="1"/>
          <p:nvPr/>
        </p:nvSpPr>
        <p:spPr>
          <a:xfrm>
            <a:off x="8211312" y="29260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Teaching and tutorials</a:t>
            </a:r>
            <a:endParaRPr lang="en-US" sz="1400" dirty="0"/>
          </a:p>
        </p:txBody>
      </p:sp>
      <p:sp>
        <p:nvSpPr>
          <p:cNvPr id="21" name="Text 16"/>
          <p:cNvSpPr txBox="1"/>
          <p:nvPr/>
        </p:nvSpPr>
        <p:spPr>
          <a:xfrm>
            <a:off x="8211312" y="32644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Explain an idea, then let students run the code right there</a:t>
            </a:r>
            <a:endParaRPr lang="en-US" sz="1100" dirty="0"/>
          </a:p>
        </p:txBody>
      </p:sp>
      <p:sp>
        <p:nvSpPr>
          <p:cNvPr id="22" name="Shape 17"/>
          <p:cNvSpPr/>
          <p:nvPr/>
        </p:nvSpPr>
        <p:spPr>
          <a:xfrm>
            <a:off x="640080" y="4023360"/>
            <a:ext cx="3429000" cy="1828800"/>
          </a:xfrm>
          <a:prstGeom prst="roundRect">
            <a:avLst>
              <a:gd name="adj" fmla="val 4500"/>
            </a:avLst>
          </a:prstGeom>
          <a:solidFill>
            <a:srgbClr val="F4F6F9"/>
          </a:solidFill>
          <a:ln/>
        </p:spPr>
      </p:sp>
      <p:sp>
        <p:nvSpPr>
          <p:cNvPr id="23" name="Shape 18"/>
          <p:cNvSpPr/>
          <p:nvPr/>
        </p:nvSpPr>
        <p:spPr>
          <a:xfrm>
            <a:off x="896112" y="4279392"/>
            <a:ext cx="594360" cy="594360"/>
          </a:xfrm>
          <a:prstGeom prst="ellipse">
            <a:avLst/>
          </a:prstGeom>
          <a:solidFill>
            <a:srgbClr val="306998"/>
          </a:solidFill>
          <a:ln/>
        </p:spPr>
      </p:sp>
      <p:pic>
        <p:nvPicPr>
          <p:cNvPr id="24" name="Image 3" descr="/tmp/claude-0/-home-user-pythonSEM-intro/a422a649-6240-52ae-9445-beabcf08c9b3/scratchpad/jupyter/icons/flask.png">    </p:cNvPr>
          <p:cNvPicPr>
            <a:picLocks noChangeAspect="1"/>
          </p:cNvPicPr>
          <p:nvPr/>
        </p:nvPicPr>
        <p:blipFill>
          <a:blip r:embed="rId4"/>
          <a:stretch>
            <a:fillRect/>
          </a:stretch>
        </p:blipFill>
        <p:spPr>
          <a:xfrm>
            <a:off x="973379" y="4356659"/>
            <a:ext cx="439826" cy="439826"/>
          </a:xfrm>
          <a:prstGeom prst="rect">
            <a:avLst/>
          </a:prstGeom>
        </p:spPr>
      </p:pic>
      <p:sp>
        <p:nvSpPr>
          <p:cNvPr id="25" name="Text 19"/>
          <p:cNvSpPr txBox="1"/>
          <p:nvPr/>
        </p:nvSpPr>
        <p:spPr>
          <a:xfrm>
            <a:off x="896112" y="49834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Research</a:t>
            </a:r>
            <a:endParaRPr lang="en-US" sz="1400" dirty="0"/>
          </a:p>
        </p:txBody>
      </p:sp>
      <p:sp>
        <p:nvSpPr>
          <p:cNvPr id="26" name="Text 20"/>
          <p:cNvSpPr txBox="1"/>
          <p:nvPr/>
        </p:nvSpPr>
        <p:spPr>
          <a:xfrm>
            <a:off x="8961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Keep notes, code, and results together for reproducible work</a:t>
            </a:r>
            <a:endParaRPr lang="en-US" sz="1100" dirty="0"/>
          </a:p>
        </p:txBody>
      </p:sp>
      <p:sp>
        <p:nvSpPr>
          <p:cNvPr id="27" name="Shape 21"/>
          <p:cNvSpPr/>
          <p:nvPr/>
        </p:nvSpPr>
        <p:spPr>
          <a:xfrm>
            <a:off x="4297680" y="4023360"/>
            <a:ext cx="3429000" cy="1828800"/>
          </a:xfrm>
          <a:prstGeom prst="roundRect">
            <a:avLst>
              <a:gd name="adj" fmla="val 4500"/>
            </a:avLst>
          </a:prstGeom>
          <a:solidFill>
            <a:srgbClr val="F4F6F9"/>
          </a:solidFill>
          <a:ln/>
        </p:spPr>
      </p:sp>
      <p:sp>
        <p:nvSpPr>
          <p:cNvPr id="28" name="Shape 22"/>
          <p:cNvSpPr/>
          <p:nvPr/>
        </p:nvSpPr>
        <p:spPr>
          <a:xfrm>
            <a:off x="4553712" y="4279392"/>
            <a:ext cx="594360" cy="594360"/>
          </a:xfrm>
          <a:prstGeom prst="ellipse">
            <a:avLst/>
          </a:prstGeom>
          <a:solidFill>
            <a:srgbClr val="306998"/>
          </a:solidFill>
          <a:ln/>
        </p:spPr>
      </p:sp>
      <p:pic>
        <p:nvPicPr>
          <p:cNvPr id="29" name="Image 4" descr="/tmp/claude-0/-home-user-pythonSEM-intro/a422a649-6240-52ae-9445-beabcf08c9b3/scratchpad/jupyter/icons/share.png">    </p:cNvPr>
          <p:cNvPicPr>
            <a:picLocks noChangeAspect="1"/>
          </p:cNvPicPr>
          <p:nvPr/>
        </p:nvPicPr>
        <p:blipFill>
          <a:blip r:embed="rId5"/>
          <a:stretch>
            <a:fillRect/>
          </a:stretch>
        </p:blipFill>
        <p:spPr>
          <a:xfrm>
            <a:off x="4630979" y="4356659"/>
            <a:ext cx="439826" cy="439826"/>
          </a:xfrm>
          <a:prstGeom prst="rect">
            <a:avLst/>
          </a:prstGeom>
        </p:spPr>
      </p:pic>
      <p:sp>
        <p:nvSpPr>
          <p:cNvPr id="30" name="Text 23"/>
          <p:cNvSpPr txBox="1"/>
          <p:nvPr/>
        </p:nvSpPr>
        <p:spPr>
          <a:xfrm>
            <a:off x="4553712" y="49834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Sharing findings</a:t>
            </a:r>
            <a:endParaRPr lang="en-US" sz="1400" dirty="0"/>
          </a:p>
        </p:txBody>
      </p:sp>
      <p:sp>
        <p:nvSpPr>
          <p:cNvPr id="31" name="Text 24"/>
          <p:cNvSpPr txBox="1"/>
          <p:nvPr/>
        </p:nvSpPr>
        <p:spPr>
          <a:xfrm>
            <a:off x="45537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Send a colleague one file with your analysis and your reasoning</a:t>
            </a:r>
            <a:endParaRPr lang="en-US" sz="1100" dirty="0"/>
          </a:p>
        </p:txBody>
      </p:sp>
      <p:sp>
        <p:nvSpPr>
          <p:cNvPr id="32" name="Shape 25"/>
          <p:cNvSpPr/>
          <p:nvPr/>
        </p:nvSpPr>
        <p:spPr>
          <a:xfrm>
            <a:off x="7955280" y="4023360"/>
            <a:ext cx="3429000" cy="1828800"/>
          </a:xfrm>
          <a:prstGeom prst="roundRect">
            <a:avLst>
              <a:gd name="adj" fmla="val 4500"/>
            </a:avLst>
          </a:prstGeom>
          <a:solidFill>
            <a:srgbClr val="F4F6F9"/>
          </a:solidFill>
          <a:ln/>
        </p:spPr>
      </p:sp>
      <p:sp>
        <p:nvSpPr>
          <p:cNvPr id="33" name="Shape 26"/>
          <p:cNvSpPr/>
          <p:nvPr/>
        </p:nvSpPr>
        <p:spPr>
          <a:xfrm>
            <a:off x="8211312" y="4279392"/>
            <a:ext cx="594360" cy="594360"/>
          </a:xfrm>
          <a:prstGeom prst="ellipse">
            <a:avLst/>
          </a:prstGeom>
          <a:solidFill>
            <a:srgbClr val="306998"/>
          </a:solidFill>
          <a:ln/>
        </p:spPr>
      </p:sp>
      <p:pic>
        <p:nvPicPr>
          <p:cNvPr id="34" name="Image 5" descr="/tmp/claude-0/-home-user-pythonSEM-intro/a422a649-6240-52ae-9445-beabcf08c9b3/scratchpad/jupyter/icons/puzzle.png">    </p:cNvPr>
          <p:cNvPicPr>
            <a:picLocks noChangeAspect="1"/>
          </p:cNvPicPr>
          <p:nvPr/>
        </p:nvPicPr>
        <p:blipFill>
          <a:blip r:embed="rId6"/>
          <a:stretch>
            <a:fillRect/>
          </a:stretch>
        </p:blipFill>
        <p:spPr>
          <a:xfrm>
            <a:off x="8288579" y="4356659"/>
            <a:ext cx="439826" cy="439826"/>
          </a:xfrm>
          <a:prstGeom prst="rect">
            <a:avLst/>
          </a:prstGeom>
        </p:spPr>
      </p:pic>
      <p:sp>
        <p:nvSpPr>
          <p:cNvPr id="35" name="Text 27"/>
          <p:cNvSpPr txBox="1"/>
          <p:nvPr/>
        </p:nvSpPr>
        <p:spPr>
          <a:xfrm>
            <a:off x="8211312" y="498348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Prototyping</a:t>
            </a:r>
            <a:endParaRPr lang="en-US" sz="1400" dirty="0"/>
          </a:p>
        </p:txBody>
      </p:sp>
      <p:sp>
        <p:nvSpPr>
          <p:cNvPr id="36" name="Text 28"/>
          <p:cNvSpPr txBox="1"/>
          <p:nvPr/>
        </p:nvSpPr>
        <p:spPr>
          <a:xfrm>
            <a:off x="8211312" y="532180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Try an idea quickly before turning it into a full application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jupyter/icons/clipboard.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QUICK QUIZ</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Which of these run on notebooks?</a:t>
            </a:r>
            <a:endParaRPr lang="en-US" sz="2600" dirty="0"/>
          </a:p>
        </p:txBody>
      </p:sp>
      <p:sp>
        <p:nvSpPr>
          <p:cNvPr id="6" name="Shape 3"/>
          <p:cNvSpPr/>
          <p:nvPr/>
        </p:nvSpPr>
        <p:spPr>
          <a:xfrm>
            <a:off x="822960" y="1874520"/>
            <a:ext cx="5120640" cy="1051560"/>
          </a:xfrm>
          <a:prstGeom prst="roundRect">
            <a:avLst>
              <a:gd name="adj" fmla="val 8696"/>
            </a:avLst>
          </a:prstGeom>
          <a:solidFill>
            <a:srgbClr val="1B2A4A"/>
          </a:solidFill>
          <a:ln w="12700">
            <a:solidFill>
              <a:srgbClr val="1F4B70"/>
            </a:solidFill>
            <a:prstDash val="solid"/>
          </a:ln>
        </p:spPr>
      </p:sp>
      <p:sp>
        <p:nvSpPr>
          <p:cNvPr id="7" name="Text 4"/>
          <p:cNvSpPr txBox="1"/>
          <p:nvPr/>
        </p:nvSpPr>
        <p:spPr>
          <a:xfrm>
            <a:off x="822960" y="187452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Google Colab</a:t>
            </a:r>
            <a:endParaRPr lang="en-US" sz="1900" dirty="0"/>
          </a:p>
        </p:txBody>
      </p:sp>
      <p:sp>
        <p:nvSpPr>
          <p:cNvPr id="8" name="Shape 5"/>
          <p:cNvSpPr/>
          <p:nvPr/>
        </p:nvSpPr>
        <p:spPr>
          <a:xfrm>
            <a:off x="6217920" y="1874520"/>
            <a:ext cx="5120640" cy="1051560"/>
          </a:xfrm>
          <a:prstGeom prst="roundRect">
            <a:avLst>
              <a:gd name="adj" fmla="val 8696"/>
            </a:avLst>
          </a:prstGeom>
          <a:solidFill>
            <a:srgbClr val="1B2A4A"/>
          </a:solidFill>
          <a:ln w="12700">
            <a:solidFill>
              <a:srgbClr val="1F4B70"/>
            </a:solidFill>
            <a:prstDash val="solid"/>
          </a:ln>
        </p:spPr>
      </p:sp>
      <p:sp>
        <p:nvSpPr>
          <p:cNvPr id="9" name="Text 6"/>
          <p:cNvSpPr txBox="1"/>
          <p:nvPr/>
        </p:nvSpPr>
        <p:spPr>
          <a:xfrm>
            <a:off x="6217920" y="187452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Kaggle</a:t>
            </a:r>
            <a:endParaRPr lang="en-US" sz="1900" dirty="0"/>
          </a:p>
        </p:txBody>
      </p:sp>
      <p:sp>
        <p:nvSpPr>
          <p:cNvPr id="10" name="Shape 7"/>
          <p:cNvSpPr/>
          <p:nvPr/>
        </p:nvSpPr>
        <p:spPr>
          <a:xfrm>
            <a:off x="822960" y="3200400"/>
            <a:ext cx="5120640" cy="1051560"/>
          </a:xfrm>
          <a:prstGeom prst="roundRect">
            <a:avLst>
              <a:gd name="adj" fmla="val 8696"/>
            </a:avLst>
          </a:prstGeom>
          <a:solidFill>
            <a:srgbClr val="1B2A4A"/>
          </a:solidFill>
          <a:ln w="12700">
            <a:solidFill>
              <a:srgbClr val="1F4B70"/>
            </a:solidFill>
            <a:prstDash val="solid"/>
          </a:ln>
        </p:spPr>
      </p:sp>
      <p:sp>
        <p:nvSpPr>
          <p:cNvPr id="11" name="Text 8"/>
          <p:cNvSpPr txBox="1"/>
          <p:nvPr/>
        </p:nvSpPr>
        <p:spPr>
          <a:xfrm>
            <a:off x="822960" y="320040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JupyterHub</a:t>
            </a:r>
            <a:endParaRPr lang="en-US" sz="1900" dirty="0"/>
          </a:p>
        </p:txBody>
      </p:sp>
      <p:sp>
        <p:nvSpPr>
          <p:cNvPr id="12" name="Shape 9"/>
          <p:cNvSpPr/>
          <p:nvPr/>
        </p:nvSpPr>
        <p:spPr>
          <a:xfrm>
            <a:off x="6217920" y="3200400"/>
            <a:ext cx="5120640" cy="1051560"/>
          </a:xfrm>
          <a:prstGeom prst="roundRect">
            <a:avLst>
              <a:gd name="adj" fmla="val 8696"/>
            </a:avLst>
          </a:prstGeom>
          <a:solidFill>
            <a:srgbClr val="1B2A4A"/>
          </a:solidFill>
          <a:ln w="12700">
            <a:solidFill>
              <a:srgbClr val="1F4B70"/>
            </a:solidFill>
            <a:prstDash val="solid"/>
          </a:ln>
        </p:spPr>
      </p:sp>
      <p:sp>
        <p:nvSpPr>
          <p:cNvPr id="13" name="Text 10"/>
          <p:cNvSpPr txBox="1"/>
          <p:nvPr/>
        </p:nvSpPr>
        <p:spPr>
          <a:xfrm>
            <a:off x="6217920" y="3200400"/>
            <a:ext cx="5120640" cy="105156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VS Code</a:t>
            </a:r>
            <a:endParaRPr lang="en-US" sz="1900" dirty="0"/>
          </a:p>
        </p:txBody>
      </p:sp>
      <p:sp>
        <p:nvSpPr>
          <p:cNvPr id="14" name="Shape 11"/>
          <p:cNvSpPr/>
          <p:nvPr/>
        </p:nvSpPr>
        <p:spPr>
          <a:xfrm>
            <a:off x="822960" y="4434840"/>
            <a:ext cx="10058400" cy="822960"/>
          </a:xfrm>
          <a:prstGeom prst="roundRect">
            <a:avLst>
              <a:gd name="adj" fmla="val 11111"/>
            </a:avLst>
          </a:prstGeom>
          <a:solidFill>
            <a:srgbClr val="1F4B70"/>
          </a:solidFill>
          <a:ln/>
        </p:spPr>
      </p:sp>
      <p:sp>
        <p:nvSpPr>
          <p:cNvPr id="15" name="Text 12"/>
          <p:cNvSpPr txBox="1"/>
          <p:nvPr/>
        </p:nvSpPr>
        <p:spPr>
          <a:xfrm>
            <a:off x="822960" y="4434840"/>
            <a:ext cx="10058400" cy="822960"/>
          </a:xfrm>
          <a:prstGeom prst="rect">
            <a:avLst/>
          </a:prstGeom>
          <a:noFill/>
          <a:ln/>
        </p:spPr>
        <p:txBody>
          <a:bodyPr wrap="square" lIns="0" tIns="0" rIns="0" bIns="0" rtlCol="0" anchor="ctr"/>
          <a:lstStyle/>
          <a:p>
            <a:pPr algn="ctr" indent="0" marL="0">
              <a:buNone/>
            </a:pPr>
            <a:r>
              <a:rPr lang="en-US" sz="1350" b="1" dirty="0">
                <a:solidFill>
                  <a:srgbClr val="FFD43B"/>
                </a:solidFill>
                <a:latin typeface="Calibri" pitchFamily="34" charset="0"/>
                <a:ea typeface="Calibri" pitchFamily="34" charset="-122"/>
                <a:cs typeface="Calibri" pitchFamily="34" charset="-120"/>
              </a:rPr>
              <a:t>Answer: all four! Colab and Kaggle run notebooks in the cloud, JupyterHub shares them across a team, and VS Code can open and run .ipynb files too.</a:t>
            </a:r>
            <a:endParaRPr lang="en-US" sz="1350" dirty="0"/>
          </a:p>
        </p:txBody>
      </p:sp>
      <p:sp>
        <p:nvSpPr>
          <p:cNvPr id="16" name="Text 13"/>
          <p:cNvSpPr txBox="1"/>
          <p:nvPr/>
        </p:nvSpPr>
        <p:spPr>
          <a:xfrm>
            <a:off x="822960" y="5532120"/>
            <a:ext cx="10058400" cy="365760"/>
          </a:xfrm>
          <a:prstGeom prst="rect">
            <a:avLst/>
          </a:prstGeom>
          <a:noFill/>
          <a:ln/>
        </p:spPr>
        <p:txBody>
          <a:bodyPr wrap="square" lIns="0" tIns="0" rIns="0" bIns="0" rtlCol="0" anchor="ctr"/>
          <a:lstStyle/>
          <a:p>
            <a:pPr algn="ctr" indent="0" marL="0">
              <a:buNone/>
            </a:pPr>
            <a:r>
              <a:rPr lang="en-US" sz="1200" i="1" dirty="0">
                <a:solidFill>
                  <a:srgbClr val="AEB9CC"/>
                </a:solidFill>
                <a:latin typeface="Calibri" pitchFamily="34" charset="0"/>
                <a:ea typeface="Calibri" pitchFamily="34" charset="-122"/>
                <a:cs typeface="Calibri" pitchFamily="34" charset="-120"/>
              </a:rPr>
              <a:t>Anyone here already used one of these without realizing it was Jupyter underneath?</a:t>
            </a:r>
            <a:endParaRPr lang="en-US" sz="1200" dirty="0"/>
          </a:p>
        </p:txBody>
      </p:sp>
      <p:sp>
        <p:nvSpPr>
          <p:cNvPr id="17" name="Text 1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2 · What is a Notebook?</a:t>
            </a:r>
            <a:endParaRPr lang="en-US" sz="1000" dirty="0"/>
          </a:p>
        </p:txBody>
      </p:sp>
      <p:sp>
        <p:nvSpPr>
          <p:cNvPr id="18" name="Text 1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3</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Cells: Code and Markdown</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Everything in a notebook lives inside a cell. There are two kinds worth knowing.</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layout.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3</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Cells: Code and Markdown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Two kinds of cells</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A notebook is just a stack of cells, run in whatever order you choose.</a:t>
            </a:r>
            <a:endParaRPr lang="en-US" sz="1400" dirty="0"/>
          </a:p>
        </p:txBody>
      </p:sp>
      <p:sp>
        <p:nvSpPr>
          <p:cNvPr id="7" name="Shape 5"/>
          <p:cNvSpPr/>
          <p:nvPr/>
        </p:nvSpPr>
        <p:spPr>
          <a:xfrm>
            <a:off x="640080" y="2057400"/>
            <a:ext cx="5212080" cy="3291840"/>
          </a:xfrm>
          <a:prstGeom prst="roundRect">
            <a:avLst>
              <a:gd name="adj" fmla="val 2500"/>
            </a:avLst>
          </a:prstGeom>
          <a:solidFill>
            <a:srgbClr val="F4F6F9"/>
          </a:solidFill>
          <a:ln/>
        </p:spPr>
      </p:sp>
      <p:sp>
        <p:nvSpPr>
          <p:cNvPr id="8" name="Shape 6"/>
          <p:cNvSpPr/>
          <p:nvPr/>
        </p:nvSpPr>
        <p:spPr>
          <a:xfrm>
            <a:off x="868680" y="2240280"/>
            <a:ext cx="502920" cy="502920"/>
          </a:xfrm>
          <a:prstGeom prst="ellipse">
            <a:avLst/>
          </a:prstGeom>
          <a:solidFill>
            <a:srgbClr val="306998"/>
          </a:solidFill>
          <a:ln/>
        </p:spPr>
      </p:sp>
      <p:pic>
        <p:nvPicPr>
          <p:cNvPr id="9" name="Image 0" descr="/tmp/claude-0/-home-user-pythonSEM-intro/a422a649-6240-52ae-9445-beabcf08c9b3/scratchpad/jupyter/icons/code.png">    </p:cNvPr>
          <p:cNvPicPr>
            <a:picLocks noChangeAspect="1"/>
          </p:cNvPicPr>
          <p:nvPr/>
        </p:nvPicPr>
        <p:blipFill>
          <a:blip r:embed="rId1"/>
          <a:stretch>
            <a:fillRect/>
          </a:stretch>
        </p:blipFill>
        <p:spPr>
          <a:xfrm>
            <a:off x="934060" y="2305660"/>
            <a:ext cx="372161" cy="372161"/>
          </a:xfrm>
          <a:prstGeom prst="rect">
            <a:avLst/>
          </a:prstGeom>
        </p:spPr>
      </p:pic>
      <p:sp>
        <p:nvSpPr>
          <p:cNvPr id="10" name="Text 7"/>
          <p:cNvSpPr txBox="1"/>
          <p:nvPr/>
        </p:nvSpPr>
        <p:spPr>
          <a:xfrm>
            <a:off x="1508760" y="2313432"/>
            <a:ext cx="4114800" cy="365760"/>
          </a:xfrm>
          <a:prstGeom prst="rect">
            <a:avLst/>
          </a:prstGeom>
          <a:noFill/>
          <a:ln/>
        </p:spPr>
        <p:txBody>
          <a:bodyPr wrap="square" lIns="0" tIns="0" rIns="0" bIns="0" rtlCol="0" anchor="ctr"/>
          <a:lstStyle/>
          <a:p>
            <a:pPr indent="0" marL="0">
              <a:buNone/>
            </a:pPr>
            <a:r>
              <a:rPr lang="en-US" sz="1500" b="1" dirty="0">
                <a:solidFill>
                  <a:srgbClr val="306998"/>
                </a:solidFill>
                <a:latin typeface="Arial" pitchFamily="34" charset="0"/>
                <a:ea typeface="Arial" pitchFamily="34" charset="-122"/>
                <a:cs typeface="Arial" pitchFamily="34" charset="-120"/>
              </a:rPr>
              <a:t>Code cell</a:t>
            </a:r>
            <a:endParaRPr lang="en-US" sz="1500" dirty="0"/>
          </a:p>
        </p:txBody>
      </p:sp>
      <p:sp>
        <p:nvSpPr>
          <p:cNvPr id="11" name="Shape 8"/>
          <p:cNvSpPr/>
          <p:nvPr/>
        </p:nvSpPr>
        <p:spPr>
          <a:xfrm>
            <a:off x="868680" y="2880360"/>
            <a:ext cx="4754880" cy="1170432"/>
          </a:xfrm>
          <a:prstGeom prst="roundRect">
            <a:avLst>
              <a:gd name="adj" fmla="val 6250"/>
            </a:avLst>
          </a:prstGeom>
          <a:solidFill>
            <a:srgbClr val="132038"/>
          </a:solidFill>
          <a:ln/>
        </p:spPr>
      </p:sp>
      <p:sp>
        <p:nvSpPr>
          <p:cNvPr id="12" name="Text 9"/>
          <p:cNvSpPr txBox="1"/>
          <p:nvPr/>
        </p:nvSpPr>
        <p:spPr>
          <a:xfrm>
            <a:off x="1188720" y="3081528"/>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total = 4 + 5</a:t>
            </a:r>
            <a:endParaRPr lang="en-US" sz="1500" dirty="0"/>
          </a:p>
        </p:txBody>
      </p:sp>
      <p:sp>
        <p:nvSpPr>
          <p:cNvPr id="13" name="Text 10"/>
          <p:cNvSpPr txBox="1"/>
          <p:nvPr/>
        </p:nvSpPr>
        <p:spPr>
          <a:xfrm>
            <a:off x="1188720" y="3465576"/>
            <a:ext cx="420624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print(total)</a:t>
            </a:r>
            <a:endParaRPr lang="en-US" sz="1500" dirty="0"/>
          </a:p>
        </p:txBody>
      </p:sp>
      <p:sp>
        <p:nvSpPr>
          <p:cNvPr id="14" name="Text 11"/>
          <p:cNvSpPr txBox="1"/>
          <p:nvPr/>
        </p:nvSpPr>
        <p:spPr>
          <a:xfrm>
            <a:off x="868680" y="4187952"/>
            <a:ext cx="475488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Runs as real Python. The result prints directly beneath the cell.</a:t>
            </a:r>
            <a:endParaRPr lang="en-US" sz="1200" dirty="0"/>
          </a:p>
        </p:txBody>
      </p:sp>
      <p:sp>
        <p:nvSpPr>
          <p:cNvPr id="15" name="Shape 12"/>
          <p:cNvSpPr/>
          <p:nvPr/>
        </p:nvSpPr>
        <p:spPr>
          <a:xfrm>
            <a:off x="6126480" y="2057400"/>
            <a:ext cx="5422392" cy="3291840"/>
          </a:xfrm>
          <a:prstGeom prst="roundRect">
            <a:avLst>
              <a:gd name="adj" fmla="val 2500"/>
            </a:avLst>
          </a:prstGeom>
          <a:solidFill>
            <a:srgbClr val="F4F6F9"/>
          </a:solidFill>
          <a:ln/>
        </p:spPr>
      </p:sp>
      <p:sp>
        <p:nvSpPr>
          <p:cNvPr id="16" name="Shape 13"/>
          <p:cNvSpPr/>
          <p:nvPr/>
        </p:nvSpPr>
        <p:spPr>
          <a:xfrm>
            <a:off x="6355080" y="2240280"/>
            <a:ext cx="502920" cy="502920"/>
          </a:xfrm>
          <a:prstGeom prst="ellipse">
            <a:avLst/>
          </a:prstGeom>
          <a:solidFill>
            <a:srgbClr val="306998"/>
          </a:solidFill>
          <a:ln/>
        </p:spPr>
      </p:sp>
      <p:pic>
        <p:nvPicPr>
          <p:cNvPr id="17" name="Image 1" descr="/tmp/claude-0/-home-user-pythonSEM-intro/a422a649-6240-52ae-9445-beabcf08c9b3/scratchpad/jupyter/icons/markdown.png">    </p:cNvPr>
          <p:cNvPicPr>
            <a:picLocks noChangeAspect="1"/>
          </p:cNvPicPr>
          <p:nvPr/>
        </p:nvPicPr>
        <p:blipFill>
          <a:blip r:embed="rId2"/>
          <a:stretch>
            <a:fillRect/>
          </a:stretch>
        </p:blipFill>
        <p:spPr>
          <a:xfrm>
            <a:off x="6420460" y="2305660"/>
            <a:ext cx="372161" cy="372161"/>
          </a:xfrm>
          <a:prstGeom prst="rect">
            <a:avLst/>
          </a:prstGeom>
        </p:spPr>
      </p:pic>
      <p:sp>
        <p:nvSpPr>
          <p:cNvPr id="18" name="Text 14"/>
          <p:cNvSpPr txBox="1"/>
          <p:nvPr/>
        </p:nvSpPr>
        <p:spPr>
          <a:xfrm>
            <a:off x="6995160" y="2313432"/>
            <a:ext cx="4114800" cy="365760"/>
          </a:xfrm>
          <a:prstGeom prst="rect">
            <a:avLst/>
          </a:prstGeom>
          <a:noFill/>
          <a:ln/>
        </p:spPr>
        <p:txBody>
          <a:bodyPr wrap="square" lIns="0" tIns="0" rIns="0" bIns="0" rtlCol="0" anchor="ctr"/>
          <a:lstStyle/>
          <a:p>
            <a:pPr indent="0" marL="0">
              <a:buNone/>
            </a:pPr>
            <a:r>
              <a:rPr lang="en-US" sz="1500" b="1" dirty="0">
                <a:solidFill>
                  <a:srgbClr val="306998"/>
                </a:solidFill>
                <a:latin typeface="Arial" pitchFamily="34" charset="0"/>
                <a:ea typeface="Arial" pitchFamily="34" charset="-122"/>
                <a:cs typeface="Arial" pitchFamily="34" charset="-120"/>
              </a:rPr>
              <a:t>Markdown cell</a:t>
            </a:r>
            <a:endParaRPr lang="en-US" sz="1500" dirty="0"/>
          </a:p>
        </p:txBody>
      </p:sp>
      <p:sp>
        <p:nvSpPr>
          <p:cNvPr id="19" name="Shape 15"/>
          <p:cNvSpPr/>
          <p:nvPr/>
        </p:nvSpPr>
        <p:spPr>
          <a:xfrm>
            <a:off x="6355080" y="2880360"/>
            <a:ext cx="4937760" cy="1554480"/>
          </a:xfrm>
          <a:prstGeom prst="roundRect">
            <a:avLst>
              <a:gd name="adj" fmla="val 4706"/>
            </a:avLst>
          </a:prstGeom>
          <a:solidFill>
            <a:srgbClr val="132038"/>
          </a:solidFill>
          <a:ln/>
        </p:spPr>
      </p:sp>
      <p:sp>
        <p:nvSpPr>
          <p:cNvPr id="20" name="Text 16"/>
          <p:cNvSpPr txBox="1"/>
          <p:nvPr/>
        </p:nvSpPr>
        <p:spPr>
          <a:xfrm>
            <a:off x="6675120" y="3081528"/>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Step 1: Load the data</a:t>
            </a:r>
            <a:endParaRPr lang="en-US" sz="1500" dirty="0"/>
          </a:p>
        </p:txBody>
      </p:sp>
      <p:sp>
        <p:nvSpPr>
          <p:cNvPr id="21" name="Text 17"/>
          <p:cNvSpPr txBox="1"/>
          <p:nvPr/>
        </p:nvSpPr>
        <p:spPr>
          <a:xfrm>
            <a:off x="6675120" y="3465576"/>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We start by reading the</a:t>
            </a:r>
            <a:endParaRPr lang="en-US" sz="1500" dirty="0"/>
          </a:p>
        </p:txBody>
      </p:sp>
      <p:sp>
        <p:nvSpPr>
          <p:cNvPr id="22" name="Text 18"/>
          <p:cNvSpPr txBox="1"/>
          <p:nvPr/>
        </p:nvSpPr>
        <p:spPr>
          <a:xfrm>
            <a:off x="6675120" y="3849624"/>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file into memory.</a:t>
            </a:r>
            <a:endParaRPr lang="en-US" sz="1500" dirty="0"/>
          </a:p>
        </p:txBody>
      </p:sp>
      <p:sp>
        <p:nvSpPr>
          <p:cNvPr id="23" name="Text 19"/>
          <p:cNvSpPr txBox="1"/>
          <p:nvPr/>
        </p:nvSpPr>
        <p:spPr>
          <a:xfrm>
            <a:off x="6355080" y="4572000"/>
            <a:ext cx="493776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Formatted text, headings, and notes. Explains the "why" beside the code.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Cells: Code and Markdown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15</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Running a cell</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Click a cell, then use one of these to run it:</a:t>
            </a:r>
            <a:endParaRPr lang="en-US" sz="1400" dirty="0"/>
          </a:p>
        </p:txBody>
      </p:sp>
      <p:sp>
        <p:nvSpPr>
          <p:cNvPr id="7" name="Text 5"/>
          <p:cNvSpPr txBox="1"/>
          <p:nvPr/>
        </p:nvSpPr>
        <p:spPr>
          <a:xfrm>
            <a:off x="640080" y="1965960"/>
            <a:ext cx="3291840" cy="27432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SHORTCUT</a:t>
            </a:r>
            <a:endParaRPr lang="en-US" sz="1100" dirty="0"/>
          </a:p>
        </p:txBody>
      </p:sp>
      <p:sp>
        <p:nvSpPr>
          <p:cNvPr id="8" name="Text 6"/>
          <p:cNvSpPr txBox="1"/>
          <p:nvPr/>
        </p:nvSpPr>
        <p:spPr>
          <a:xfrm>
            <a:off x="4206240" y="1965960"/>
            <a:ext cx="5486400" cy="27432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WHAT IT DOES</a:t>
            </a:r>
            <a:endParaRPr lang="en-US" sz="1100" dirty="0"/>
          </a:p>
        </p:txBody>
      </p:sp>
      <p:sp>
        <p:nvSpPr>
          <p:cNvPr id="9" name="Shape 7"/>
          <p:cNvSpPr/>
          <p:nvPr/>
        </p:nvSpPr>
        <p:spPr>
          <a:xfrm>
            <a:off x="640080" y="2377440"/>
            <a:ext cx="10881360" cy="777240"/>
          </a:xfrm>
          <a:prstGeom prst="rect">
            <a:avLst/>
          </a:prstGeom>
          <a:solidFill>
            <a:srgbClr val="F4F6F9"/>
          </a:solidFill>
          <a:ln/>
        </p:spPr>
      </p:sp>
      <p:sp>
        <p:nvSpPr>
          <p:cNvPr id="10" name="Shape 8"/>
          <p:cNvSpPr/>
          <p:nvPr/>
        </p:nvSpPr>
        <p:spPr>
          <a:xfrm>
            <a:off x="822960" y="2496312"/>
            <a:ext cx="3108960" cy="548640"/>
          </a:xfrm>
          <a:prstGeom prst="roundRect">
            <a:avLst>
              <a:gd name="adj" fmla="val 10000"/>
            </a:avLst>
          </a:prstGeom>
          <a:solidFill>
            <a:srgbClr val="132038"/>
          </a:solidFill>
          <a:ln/>
        </p:spPr>
      </p:sp>
      <p:sp>
        <p:nvSpPr>
          <p:cNvPr id="11" name="Text 9"/>
          <p:cNvSpPr txBox="1"/>
          <p:nvPr/>
        </p:nvSpPr>
        <p:spPr>
          <a:xfrm>
            <a:off x="960120" y="2496312"/>
            <a:ext cx="283464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Shift + Enter</a:t>
            </a:r>
            <a:endParaRPr lang="en-US" sz="1250" dirty="0"/>
          </a:p>
        </p:txBody>
      </p:sp>
      <p:sp>
        <p:nvSpPr>
          <p:cNvPr id="12" name="Text 10"/>
          <p:cNvSpPr txBox="1"/>
          <p:nvPr/>
        </p:nvSpPr>
        <p:spPr>
          <a:xfrm>
            <a:off x="4206240" y="2377440"/>
            <a:ext cx="640080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Run this cell, then jump to the next one</a:t>
            </a:r>
            <a:endParaRPr lang="en-US" sz="1350" dirty="0"/>
          </a:p>
        </p:txBody>
      </p:sp>
      <p:sp>
        <p:nvSpPr>
          <p:cNvPr id="13" name="Shape 11"/>
          <p:cNvSpPr/>
          <p:nvPr/>
        </p:nvSpPr>
        <p:spPr>
          <a:xfrm>
            <a:off x="822960" y="3273552"/>
            <a:ext cx="3108960" cy="548640"/>
          </a:xfrm>
          <a:prstGeom prst="roundRect">
            <a:avLst>
              <a:gd name="adj" fmla="val 10000"/>
            </a:avLst>
          </a:prstGeom>
          <a:solidFill>
            <a:srgbClr val="132038"/>
          </a:solidFill>
          <a:ln/>
        </p:spPr>
      </p:sp>
      <p:sp>
        <p:nvSpPr>
          <p:cNvPr id="14" name="Text 12"/>
          <p:cNvSpPr txBox="1"/>
          <p:nvPr/>
        </p:nvSpPr>
        <p:spPr>
          <a:xfrm>
            <a:off x="960120" y="3273552"/>
            <a:ext cx="283464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Ctrl + Enter</a:t>
            </a:r>
            <a:endParaRPr lang="en-US" sz="1250" dirty="0"/>
          </a:p>
        </p:txBody>
      </p:sp>
      <p:sp>
        <p:nvSpPr>
          <p:cNvPr id="15" name="Text 13"/>
          <p:cNvSpPr txBox="1"/>
          <p:nvPr/>
        </p:nvSpPr>
        <p:spPr>
          <a:xfrm>
            <a:off x="4206240" y="3154680"/>
            <a:ext cx="640080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Run this cell, and stay right here</a:t>
            </a:r>
            <a:endParaRPr lang="en-US" sz="1350" dirty="0"/>
          </a:p>
        </p:txBody>
      </p:sp>
      <p:sp>
        <p:nvSpPr>
          <p:cNvPr id="16" name="Shape 14"/>
          <p:cNvSpPr/>
          <p:nvPr/>
        </p:nvSpPr>
        <p:spPr>
          <a:xfrm>
            <a:off x="640080" y="3931920"/>
            <a:ext cx="10881360" cy="777240"/>
          </a:xfrm>
          <a:prstGeom prst="rect">
            <a:avLst/>
          </a:prstGeom>
          <a:solidFill>
            <a:srgbClr val="F4F6F9"/>
          </a:solidFill>
          <a:ln/>
        </p:spPr>
      </p:sp>
      <p:sp>
        <p:nvSpPr>
          <p:cNvPr id="17" name="Shape 15"/>
          <p:cNvSpPr/>
          <p:nvPr/>
        </p:nvSpPr>
        <p:spPr>
          <a:xfrm>
            <a:off x="822960" y="4050792"/>
            <a:ext cx="3108960" cy="548640"/>
          </a:xfrm>
          <a:prstGeom prst="roundRect">
            <a:avLst>
              <a:gd name="adj" fmla="val 10000"/>
            </a:avLst>
          </a:prstGeom>
          <a:solidFill>
            <a:srgbClr val="132038"/>
          </a:solidFill>
          <a:ln/>
        </p:spPr>
      </p:sp>
      <p:sp>
        <p:nvSpPr>
          <p:cNvPr id="18" name="Text 16"/>
          <p:cNvSpPr txBox="1"/>
          <p:nvPr/>
        </p:nvSpPr>
        <p:spPr>
          <a:xfrm>
            <a:off x="960120" y="4050792"/>
            <a:ext cx="2834640" cy="548640"/>
          </a:xfrm>
          <a:prstGeom prst="rect">
            <a:avLst/>
          </a:prstGeom>
          <a:noFill/>
          <a:ln/>
        </p:spPr>
        <p:txBody>
          <a:bodyPr wrap="square" lIns="0" tIns="0" rIns="0" bIns="0" rtlCol="0" anchor="ctr"/>
          <a:lstStyle/>
          <a:p>
            <a:pPr indent="0" marL="0">
              <a:buNone/>
            </a:pPr>
            <a:r>
              <a:rPr lang="en-US" sz="1250" dirty="0">
                <a:solidFill>
                  <a:srgbClr val="FFD43B"/>
                </a:solidFill>
                <a:latin typeface="Courier New" pitchFamily="34" charset="0"/>
                <a:ea typeface="Courier New" pitchFamily="34" charset="-122"/>
                <a:cs typeface="Courier New" pitchFamily="34" charset="-120"/>
              </a:rPr>
              <a:t>Alt + Enter</a:t>
            </a:r>
            <a:endParaRPr lang="en-US" sz="1250" dirty="0"/>
          </a:p>
        </p:txBody>
      </p:sp>
      <p:sp>
        <p:nvSpPr>
          <p:cNvPr id="19" name="Text 17"/>
          <p:cNvSpPr txBox="1"/>
          <p:nvPr/>
        </p:nvSpPr>
        <p:spPr>
          <a:xfrm>
            <a:off x="4206240" y="3931920"/>
            <a:ext cx="6400800" cy="77724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Run this cell, then insert a new one below it</a:t>
            </a:r>
            <a:endParaRPr lang="en-US" sz="1350" dirty="0"/>
          </a:p>
        </p:txBody>
      </p:sp>
      <p:sp>
        <p:nvSpPr>
          <p:cNvPr id="20" name="Shape 18"/>
          <p:cNvSpPr/>
          <p:nvPr/>
        </p:nvSpPr>
        <p:spPr>
          <a:xfrm>
            <a:off x="640080" y="4892040"/>
            <a:ext cx="10881360" cy="868680"/>
          </a:xfrm>
          <a:prstGeom prst="roundRect">
            <a:avLst>
              <a:gd name="adj" fmla="val 8421"/>
            </a:avLst>
          </a:prstGeom>
          <a:solidFill>
            <a:srgbClr val="132038"/>
          </a:solidFill>
          <a:ln/>
        </p:spPr>
      </p:sp>
      <p:sp>
        <p:nvSpPr>
          <p:cNvPr id="21" name="Shape 19"/>
          <p:cNvSpPr/>
          <p:nvPr/>
        </p:nvSpPr>
        <p:spPr>
          <a:xfrm>
            <a:off x="822960" y="5029200"/>
            <a:ext cx="594360" cy="594360"/>
          </a:xfrm>
          <a:prstGeom prst="ellipse">
            <a:avLst/>
          </a:prstGeom>
          <a:solidFill>
            <a:srgbClr val="FFD43B"/>
          </a:solidFill>
          <a:ln/>
        </p:spPr>
      </p:sp>
      <p:pic>
        <p:nvPicPr>
          <p:cNvPr id="22" name="Image 0" descr="/tmp/claude-0/-home-user-pythonSEM-intro/a422a649-6240-52ae-9445-beabcf08c9b3/scratchpad/jupyter/icons/play.png">    </p:cNvPr>
          <p:cNvPicPr>
            <a:picLocks noChangeAspect="1"/>
          </p:cNvPicPr>
          <p:nvPr/>
        </p:nvPicPr>
        <p:blipFill>
          <a:blip r:embed="rId1"/>
          <a:stretch>
            <a:fillRect/>
          </a:stretch>
        </p:blipFill>
        <p:spPr>
          <a:xfrm>
            <a:off x="900227" y="5106467"/>
            <a:ext cx="439826" cy="439826"/>
          </a:xfrm>
          <a:prstGeom prst="rect">
            <a:avLst/>
          </a:prstGeom>
        </p:spPr>
      </p:pic>
      <p:sp>
        <p:nvSpPr>
          <p:cNvPr id="23" name="Text 20"/>
          <p:cNvSpPr txBox="1"/>
          <p:nvPr/>
        </p:nvSpPr>
        <p:spPr>
          <a:xfrm>
            <a:off x="1554480" y="4892040"/>
            <a:ext cx="9692640" cy="8686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Watch the brackets: </a:t>
            </a:r>
            <a:pPr indent="0" marL="0">
              <a:buNone/>
            </a:pPr>
            <a:r>
              <a:rPr lang="en-US" sz="1250" dirty="0">
                <a:solidFill>
                  <a:srgbClr val="AEB9CC"/>
                </a:solidFill>
                <a:latin typeface="Calibri" pitchFamily="34" charset="0"/>
                <a:ea typeface="Calibri" pitchFamily="34" charset="-122"/>
                <a:cs typeface="Calibri" pitchFamily="34" charset="-120"/>
              </a:rPr>
              <a:t>In [1]: means this was the first cell run, In [*]: means it is still working. The number tells you the order cells actually ran in, which is not always top to bottom.</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3 · Cells: Code and Markdown</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16</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3</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Writing markdown that reads well</a:t>
            </a:r>
            <a:endParaRPr lang="en-US" sz="3200" dirty="0"/>
          </a:p>
        </p:txBody>
      </p:sp>
      <p:sp>
        <p:nvSpPr>
          <p:cNvPr id="6" name="Text 4"/>
          <p:cNvSpPr txBox="1"/>
          <p:nvPr/>
        </p:nvSpPr>
        <p:spPr>
          <a:xfrm>
            <a:off x="640080" y="1417320"/>
            <a:ext cx="10515600" cy="45720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Markdown is a simple way to format text using plain characters, no clicking through menus.</a:t>
            </a:r>
            <a:endParaRPr lang="en-US" sz="1400" dirty="0"/>
          </a:p>
        </p:txBody>
      </p:sp>
      <p:sp>
        <p:nvSpPr>
          <p:cNvPr id="7" name="Shape 5"/>
          <p:cNvSpPr/>
          <p:nvPr/>
        </p:nvSpPr>
        <p:spPr>
          <a:xfrm>
            <a:off x="640080" y="2148840"/>
            <a:ext cx="5212080" cy="3200400"/>
          </a:xfrm>
          <a:prstGeom prst="roundRect">
            <a:avLst>
              <a:gd name="adj" fmla="val 2571"/>
            </a:avLst>
          </a:prstGeom>
          <a:solidFill>
            <a:srgbClr val="132038"/>
          </a:solidFill>
          <a:ln/>
        </p:spPr>
      </p:sp>
      <p:sp>
        <p:nvSpPr>
          <p:cNvPr id="8" name="Text 6"/>
          <p:cNvSpPr txBox="1"/>
          <p:nvPr/>
        </p:nvSpPr>
        <p:spPr>
          <a:xfrm>
            <a:off x="914400" y="2377440"/>
            <a:ext cx="4663440" cy="320040"/>
          </a:xfrm>
          <a:prstGeom prst="rect">
            <a:avLst/>
          </a:prstGeom>
          <a:noFill/>
          <a:ln/>
        </p:spPr>
        <p:txBody>
          <a:bodyPr wrap="square" lIns="0" tIns="0" rIns="0" bIns="0" rtlCol="0" anchor="ctr"/>
          <a:lstStyle/>
          <a:p>
            <a:pPr indent="0" marL="0">
              <a:buNone/>
            </a:pPr>
            <a:r>
              <a:rPr lang="en-US" sz="1300" b="1" dirty="0">
                <a:solidFill>
                  <a:srgbClr val="AEB9CC"/>
                </a:solidFill>
                <a:latin typeface="Arial" pitchFamily="34" charset="0"/>
                <a:ea typeface="Arial" pitchFamily="34" charset="-122"/>
                <a:cs typeface="Arial" pitchFamily="34" charset="-120"/>
              </a:rPr>
              <a:t>You type this</a:t>
            </a:r>
            <a:endParaRPr lang="en-US" sz="1300" dirty="0"/>
          </a:p>
        </p:txBody>
      </p:sp>
      <p:sp>
        <p:nvSpPr>
          <p:cNvPr id="9" name="Shape 7"/>
          <p:cNvSpPr/>
          <p:nvPr/>
        </p:nvSpPr>
        <p:spPr>
          <a:xfrm>
            <a:off x="914400" y="2743200"/>
            <a:ext cx="4663440" cy="1938528"/>
          </a:xfrm>
          <a:prstGeom prst="roundRect">
            <a:avLst>
              <a:gd name="adj" fmla="val 3774"/>
            </a:avLst>
          </a:prstGeom>
          <a:solidFill>
            <a:srgbClr val="132038"/>
          </a:solidFill>
          <a:ln/>
        </p:spPr>
      </p:sp>
      <p:sp>
        <p:nvSpPr>
          <p:cNvPr id="10" name="Text 8"/>
          <p:cNvSpPr txBox="1"/>
          <p:nvPr/>
        </p:nvSpPr>
        <p:spPr>
          <a:xfrm>
            <a:off x="1234440" y="2944368"/>
            <a:ext cx="411480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Data Cleaning</a:t>
            </a:r>
            <a:endParaRPr lang="en-US" sz="1500" dirty="0"/>
          </a:p>
        </p:txBody>
      </p:sp>
      <p:sp>
        <p:nvSpPr>
          <p:cNvPr id="11" name="Text 9"/>
          <p:cNvSpPr txBox="1"/>
          <p:nvPr/>
        </p:nvSpPr>
        <p:spPr>
          <a:xfrm>
            <a:off x="1234440" y="3328416"/>
            <a:ext cx="411480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**Step 1**: remove blanks</a:t>
            </a:r>
            <a:endParaRPr lang="en-US" sz="1500" dirty="0"/>
          </a:p>
        </p:txBody>
      </p:sp>
      <p:sp>
        <p:nvSpPr>
          <p:cNvPr id="12" name="Text 10"/>
          <p:cNvSpPr txBox="1"/>
          <p:nvPr/>
        </p:nvSpPr>
        <p:spPr>
          <a:xfrm>
            <a:off x="1234440" y="3712464"/>
            <a:ext cx="411480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drop duplicates</a:t>
            </a:r>
            <a:endParaRPr lang="en-US" sz="1500" dirty="0"/>
          </a:p>
        </p:txBody>
      </p:sp>
      <p:sp>
        <p:nvSpPr>
          <p:cNvPr id="13" name="Text 11"/>
          <p:cNvSpPr txBox="1"/>
          <p:nvPr/>
        </p:nvSpPr>
        <p:spPr>
          <a:xfrm>
            <a:off x="1234440" y="4096512"/>
            <a:ext cx="411480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fix column names</a:t>
            </a:r>
            <a:endParaRPr lang="en-US" sz="1500" dirty="0"/>
          </a:p>
        </p:txBody>
      </p:sp>
      <p:sp>
        <p:nvSpPr>
          <p:cNvPr id="14" name="Shape 12"/>
          <p:cNvSpPr/>
          <p:nvPr/>
        </p:nvSpPr>
        <p:spPr>
          <a:xfrm>
            <a:off x="6126480" y="2148840"/>
            <a:ext cx="5422392" cy="3200400"/>
          </a:xfrm>
          <a:prstGeom prst="roundRect">
            <a:avLst>
              <a:gd name="adj" fmla="val 2571"/>
            </a:avLst>
          </a:prstGeom>
          <a:solidFill>
            <a:srgbClr val="F4F6F9"/>
          </a:solidFill>
          <a:ln/>
        </p:spPr>
      </p:sp>
      <p:sp>
        <p:nvSpPr>
          <p:cNvPr id="15" name="Text 13"/>
          <p:cNvSpPr txBox="1"/>
          <p:nvPr/>
        </p:nvSpPr>
        <p:spPr>
          <a:xfrm>
            <a:off x="6400800" y="2377440"/>
            <a:ext cx="4846320" cy="320040"/>
          </a:xfrm>
          <a:prstGeom prst="rect">
            <a:avLst/>
          </a:prstGeom>
          <a:noFill/>
          <a:ln/>
        </p:spPr>
        <p:txBody>
          <a:bodyPr wrap="square" lIns="0" tIns="0" rIns="0" bIns="0" rtlCol="0" anchor="ctr"/>
          <a:lstStyle/>
          <a:p>
            <a:pPr indent="0" marL="0">
              <a:buNone/>
            </a:pPr>
            <a:r>
              <a:rPr lang="en-US" sz="1300" b="1" dirty="0">
                <a:solidFill>
                  <a:srgbClr val="5B6472"/>
                </a:solidFill>
                <a:latin typeface="Arial" pitchFamily="34" charset="0"/>
                <a:ea typeface="Arial" pitchFamily="34" charset="-122"/>
                <a:cs typeface="Arial" pitchFamily="34" charset="-120"/>
              </a:rPr>
              <a:t>You see this</a:t>
            </a:r>
            <a:endParaRPr lang="en-US" sz="1300" dirty="0"/>
          </a:p>
        </p:txBody>
      </p:sp>
      <p:sp>
        <p:nvSpPr>
          <p:cNvPr id="16" name="Text 14"/>
          <p:cNvSpPr txBox="1"/>
          <p:nvPr/>
        </p:nvSpPr>
        <p:spPr>
          <a:xfrm>
            <a:off x="6400800" y="2788920"/>
            <a:ext cx="4846320" cy="457200"/>
          </a:xfrm>
          <a:prstGeom prst="rect">
            <a:avLst/>
          </a:prstGeom>
          <a:noFill/>
          <a:ln/>
        </p:spPr>
        <p:txBody>
          <a:bodyPr wrap="square" lIns="0" tIns="0" rIns="0" bIns="0" rtlCol="0" anchor="ctr"/>
          <a:lstStyle/>
          <a:p>
            <a:pPr indent="0" marL="0">
              <a:buNone/>
            </a:pPr>
            <a:r>
              <a:rPr lang="en-US" sz="2200" b="1" dirty="0">
                <a:solidFill>
                  <a:srgbClr val="1F2937"/>
                </a:solidFill>
                <a:latin typeface="Arial" pitchFamily="34" charset="0"/>
                <a:ea typeface="Arial" pitchFamily="34" charset="-122"/>
                <a:cs typeface="Arial" pitchFamily="34" charset="-120"/>
              </a:rPr>
              <a:t>Data Cleaning</a:t>
            </a:r>
            <a:endParaRPr lang="en-US" sz="2200" dirty="0"/>
          </a:p>
        </p:txBody>
      </p:sp>
      <p:sp>
        <p:nvSpPr>
          <p:cNvPr id="17" name="Text 15"/>
          <p:cNvSpPr txBox="1"/>
          <p:nvPr/>
        </p:nvSpPr>
        <p:spPr>
          <a:xfrm>
            <a:off x="6400800" y="3337560"/>
            <a:ext cx="4846320" cy="548640"/>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Step 1</a:t>
            </a:r>
            <a:pPr indent="0" marL="0">
              <a:buNone/>
            </a:pPr>
            <a:r>
              <a:rPr lang="en-US" sz="1400" dirty="0">
                <a:solidFill>
                  <a:srgbClr val="1F2937"/>
                </a:solidFill>
                <a:latin typeface="Calibri" pitchFamily="34" charset="0"/>
                <a:ea typeface="Calibri" pitchFamily="34" charset="-122"/>
                <a:cs typeface="Calibri" pitchFamily="34" charset="-120"/>
              </a:rPr>
              <a:t>: remove blanks</a:t>
            </a:r>
            <a:endParaRPr lang="en-US" sz="1400" dirty="0"/>
          </a:p>
        </p:txBody>
      </p:sp>
      <p:sp>
        <p:nvSpPr>
          <p:cNvPr id="18" name="Text 16"/>
          <p:cNvSpPr txBox="1"/>
          <p:nvPr/>
        </p:nvSpPr>
        <p:spPr>
          <a:xfrm>
            <a:off x="6400800" y="3977640"/>
            <a:ext cx="4846320" cy="7315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 drop duplicates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 fix column names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jupyter/icons/rocket.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TRY IT YOURSELF</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Build a two-cell notebook</a:t>
            </a:r>
            <a:endParaRPr lang="en-US" sz="2600" dirty="0"/>
          </a:p>
        </p:txBody>
      </p:sp>
      <p:sp>
        <p:nvSpPr>
          <p:cNvPr id="6" name="Shape 3"/>
          <p:cNvSpPr/>
          <p:nvPr/>
        </p:nvSpPr>
        <p:spPr>
          <a:xfrm>
            <a:off x="822960" y="1874520"/>
            <a:ext cx="10515600" cy="1051560"/>
          </a:xfrm>
          <a:prstGeom prst="roundRect">
            <a:avLst>
              <a:gd name="adj" fmla="val 6957"/>
            </a:avLst>
          </a:prstGeom>
          <a:solidFill>
            <a:srgbClr val="1B2A4A"/>
          </a:solidFill>
          <a:ln/>
        </p:spPr>
      </p:sp>
      <p:sp>
        <p:nvSpPr>
          <p:cNvPr id="7" name="Text 4"/>
          <p:cNvSpPr txBox="1"/>
          <p:nvPr/>
        </p:nvSpPr>
        <p:spPr>
          <a:xfrm>
            <a:off x="1097280" y="2057400"/>
            <a:ext cx="9966960" cy="77724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My First Notebook</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name = "Your Name"</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print("Hello from", name)</a:t>
            </a:r>
            <a:endParaRPr lang="en-US" sz="1500" dirty="0"/>
          </a:p>
        </p:txBody>
      </p:sp>
      <p:sp>
        <p:nvSpPr>
          <p:cNvPr id="8" name="Shape 5"/>
          <p:cNvSpPr/>
          <p:nvPr/>
        </p:nvSpPr>
        <p:spPr>
          <a:xfrm>
            <a:off x="822960" y="3246120"/>
            <a:ext cx="384048" cy="384048"/>
          </a:xfrm>
          <a:prstGeom prst="ellipse">
            <a:avLst/>
          </a:prstGeom>
          <a:solidFill>
            <a:srgbClr val="306998"/>
          </a:solidFill>
          <a:ln/>
        </p:spPr>
      </p:sp>
      <p:sp>
        <p:nvSpPr>
          <p:cNvPr id="9" name="Text 6"/>
          <p:cNvSpPr txBox="1"/>
          <p:nvPr/>
        </p:nvSpPr>
        <p:spPr>
          <a:xfrm>
            <a:off x="82296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7"/>
          <p:cNvSpPr txBox="1"/>
          <p:nvPr/>
        </p:nvSpPr>
        <p:spPr>
          <a:xfrm>
            <a:off x="1353312" y="3209544"/>
            <a:ext cx="987552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 your open notebook, type ## My First Notebook into the first cell</a:t>
            </a:r>
            <a:endParaRPr lang="en-US" sz="1300" dirty="0"/>
          </a:p>
        </p:txBody>
      </p:sp>
      <p:sp>
        <p:nvSpPr>
          <p:cNvPr id="11" name="Shape 8"/>
          <p:cNvSpPr/>
          <p:nvPr/>
        </p:nvSpPr>
        <p:spPr>
          <a:xfrm>
            <a:off x="822960" y="3776472"/>
            <a:ext cx="384048" cy="384048"/>
          </a:xfrm>
          <a:prstGeom prst="ellipse">
            <a:avLst/>
          </a:prstGeom>
          <a:solidFill>
            <a:srgbClr val="306998"/>
          </a:solidFill>
          <a:ln/>
        </p:spPr>
      </p:sp>
      <p:sp>
        <p:nvSpPr>
          <p:cNvPr id="12" name="Text 9"/>
          <p:cNvSpPr txBox="1"/>
          <p:nvPr/>
        </p:nvSpPr>
        <p:spPr>
          <a:xfrm>
            <a:off x="82296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0"/>
          <p:cNvSpPr txBox="1"/>
          <p:nvPr/>
        </p:nvSpPr>
        <p:spPr>
          <a:xfrm>
            <a:off x="1353312" y="3739896"/>
            <a:ext cx="987552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Change that cell to Markdown (press Esc, then M), then run it with Shift + Enter</a:t>
            </a:r>
            <a:endParaRPr lang="en-US" sz="1300" dirty="0"/>
          </a:p>
        </p:txBody>
      </p:sp>
      <p:sp>
        <p:nvSpPr>
          <p:cNvPr id="14" name="Shape 11"/>
          <p:cNvSpPr/>
          <p:nvPr/>
        </p:nvSpPr>
        <p:spPr>
          <a:xfrm>
            <a:off x="822960" y="4306824"/>
            <a:ext cx="384048" cy="384048"/>
          </a:xfrm>
          <a:prstGeom prst="ellipse">
            <a:avLst/>
          </a:prstGeom>
          <a:solidFill>
            <a:srgbClr val="306998"/>
          </a:solidFill>
          <a:ln/>
        </p:spPr>
      </p:sp>
      <p:sp>
        <p:nvSpPr>
          <p:cNvPr id="15" name="Text 12"/>
          <p:cNvSpPr txBox="1"/>
          <p:nvPr/>
        </p:nvSpPr>
        <p:spPr>
          <a:xfrm>
            <a:off x="822960" y="4306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3"/>
          <p:cNvSpPr txBox="1"/>
          <p:nvPr/>
        </p:nvSpPr>
        <p:spPr>
          <a:xfrm>
            <a:off x="1353312" y="4270248"/>
            <a:ext cx="987552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 the new cell, type the two print lines above, swapping in your name</a:t>
            </a:r>
            <a:endParaRPr lang="en-US" sz="1300" dirty="0"/>
          </a:p>
        </p:txBody>
      </p:sp>
      <p:sp>
        <p:nvSpPr>
          <p:cNvPr id="17" name="Shape 14"/>
          <p:cNvSpPr/>
          <p:nvPr/>
        </p:nvSpPr>
        <p:spPr>
          <a:xfrm>
            <a:off x="822960" y="4837176"/>
            <a:ext cx="384048" cy="384048"/>
          </a:xfrm>
          <a:prstGeom prst="ellipse">
            <a:avLst/>
          </a:prstGeom>
          <a:solidFill>
            <a:srgbClr val="306998"/>
          </a:solidFill>
          <a:ln/>
        </p:spPr>
      </p:sp>
      <p:sp>
        <p:nvSpPr>
          <p:cNvPr id="18" name="Text 15"/>
          <p:cNvSpPr txBox="1"/>
          <p:nvPr/>
        </p:nvSpPr>
        <p:spPr>
          <a:xfrm>
            <a:off x="82296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6"/>
          <p:cNvSpPr txBox="1"/>
          <p:nvPr/>
        </p:nvSpPr>
        <p:spPr>
          <a:xfrm>
            <a:off x="1353312" y="4800600"/>
            <a:ext cx="987552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Run it, and check your name appears in the output below the cell</a:t>
            </a:r>
            <a:endParaRPr lang="en-US" sz="1300" dirty="0"/>
          </a:p>
        </p:txBody>
      </p:sp>
      <p:sp>
        <p:nvSpPr>
          <p:cNvPr id="20" name="Text 17"/>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3 · Cells: Code and Markdown</a:t>
            </a:r>
            <a:endParaRPr lang="en-US" sz="1000" dirty="0"/>
          </a:p>
        </p:txBody>
      </p:sp>
      <p:sp>
        <p:nvSpPr>
          <p:cNvPr id="21" name="Text 1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4</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Interface and the Kernel</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A quick tour of the screen in front of you, and the engine running underneath it.</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kernel.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4</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Interface and the Kernel</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A quick tour of the toolbar</a:t>
            </a:r>
            <a:endParaRPr lang="en-US" sz="3200" dirty="0"/>
          </a:p>
        </p:txBody>
      </p:sp>
      <p:sp>
        <p:nvSpPr>
          <p:cNvPr id="6" name="Shape 4"/>
          <p:cNvSpPr/>
          <p:nvPr/>
        </p:nvSpPr>
        <p:spPr>
          <a:xfrm>
            <a:off x="640080" y="1554480"/>
            <a:ext cx="3429000" cy="1828800"/>
          </a:xfrm>
          <a:prstGeom prst="roundRect">
            <a:avLst>
              <a:gd name="adj" fmla="val 4500"/>
            </a:avLst>
          </a:prstGeom>
          <a:solidFill>
            <a:srgbClr val="F4F6F9"/>
          </a:solidFill>
          <a:ln/>
        </p:spPr>
      </p:sp>
      <p:sp>
        <p:nvSpPr>
          <p:cNvPr id="7" name="Shape 5"/>
          <p:cNvSpPr/>
          <p:nvPr/>
        </p:nvSpPr>
        <p:spPr>
          <a:xfrm>
            <a:off x="896112" y="1810512"/>
            <a:ext cx="594360" cy="594360"/>
          </a:xfrm>
          <a:prstGeom prst="ellipse">
            <a:avLst/>
          </a:prstGeom>
          <a:solidFill>
            <a:srgbClr val="306998"/>
          </a:solidFill>
          <a:ln/>
        </p:spPr>
      </p:sp>
      <p:pic>
        <p:nvPicPr>
          <p:cNvPr id="8" name="Image 0" descr="/tmp/claude-0/-home-user-pythonSEM-intro/a422a649-6240-52ae-9445-beabcf08c9b3/scratchpad/jupyter/icons/play.png">    </p:cNvPr>
          <p:cNvPicPr>
            <a:picLocks noChangeAspect="1"/>
          </p:cNvPicPr>
          <p:nvPr/>
        </p:nvPicPr>
        <p:blipFill>
          <a:blip r:embed="rId1"/>
          <a:stretch>
            <a:fillRect/>
          </a:stretch>
        </p:blipFill>
        <p:spPr>
          <a:xfrm>
            <a:off x="973379" y="1887779"/>
            <a:ext cx="439826" cy="439826"/>
          </a:xfrm>
          <a:prstGeom prst="rect">
            <a:avLst/>
          </a:prstGeom>
        </p:spPr>
      </p:pic>
      <p:sp>
        <p:nvSpPr>
          <p:cNvPr id="9" name="Text 6"/>
          <p:cNvSpPr txBox="1"/>
          <p:nvPr/>
        </p:nvSpPr>
        <p:spPr>
          <a:xfrm>
            <a:off x="896112" y="25146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Run</a:t>
            </a:r>
            <a:endParaRPr lang="en-US" sz="1400" dirty="0"/>
          </a:p>
        </p:txBody>
      </p:sp>
      <p:sp>
        <p:nvSpPr>
          <p:cNvPr id="10" name="Text 7"/>
          <p:cNvSpPr txBox="1"/>
          <p:nvPr/>
        </p:nvSpPr>
        <p:spPr>
          <a:xfrm>
            <a:off x="896112" y="28529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Executes the current cell and moves to the next</a:t>
            </a:r>
            <a:endParaRPr lang="en-US" sz="1100" dirty="0"/>
          </a:p>
        </p:txBody>
      </p:sp>
      <p:sp>
        <p:nvSpPr>
          <p:cNvPr id="11" name="Shape 8"/>
          <p:cNvSpPr/>
          <p:nvPr/>
        </p:nvSpPr>
        <p:spPr>
          <a:xfrm>
            <a:off x="4297680" y="1554480"/>
            <a:ext cx="3429000" cy="1828800"/>
          </a:xfrm>
          <a:prstGeom prst="roundRect">
            <a:avLst>
              <a:gd name="adj" fmla="val 4500"/>
            </a:avLst>
          </a:prstGeom>
          <a:solidFill>
            <a:srgbClr val="F4F6F9"/>
          </a:solidFill>
          <a:ln/>
        </p:spPr>
      </p:sp>
      <p:sp>
        <p:nvSpPr>
          <p:cNvPr id="12" name="Shape 9"/>
          <p:cNvSpPr/>
          <p:nvPr/>
        </p:nvSpPr>
        <p:spPr>
          <a:xfrm>
            <a:off x="4553712" y="1810512"/>
            <a:ext cx="594360" cy="594360"/>
          </a:xfrm>
          <a:prstGeom prst="ellipse">
            <a:avLst/>
          </a:prstGeom>
          <a:solidFill>
            <a:srgbClr val="306998"/>
          </a:solidFill>
          <a:ln/>
        </p:spPr>
      </p:sp>
      <p:pic>
        <p:nvPicPr>
          <p:cNvPr id="13" name="Image 1" descr="/tmp/claude-0/-home-user-pythonSEM-intro/a422a649-6240-52ae-9445-beabcf08c9b3/scratchpad/jupyter/icons/restart.png">    </p:cNvPr>
          <p:cNvPicPr>
            <a:picLocks noChangeAspect="1"/>
          </p:cNvPicPr>
          <p:nvPr/>
        </p:nvPicPr>
        <p:blipFill>
          <a:blip r:embed="rId2"/>
          <a:stretch>
            <a:fillRect/>
          </a:stretch>
        </p:blipFill>
        <p:spPr>
          <a:xfrm>
            <a:off x="4630979" y="1887779"/>
            <a:ext cx="439826" cy="439826"/>
          </a:xfrm>
          <a:prstGeom prst="rect">
            <a:avLst/>
          </a:prstGeom>
        </p:spPr>
      </p:pic>
      <p:sp>
        <p:nvSpPr>
          <p:cNvPr id="14" name="Text 10"/>
          <p:cNvSpPr txBox="1"/>
          <p:nvPr/>
        </p:nvSpPr>
        <p:spPr>
          <a:xfrm>
            <a:off x="4553712" y="25146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Restart kernel</a:t>
            </a:r>
            <a:endParaRPr lang="en-US" sz="1400" dirty="0"/>
          </a:p>
        </p:txBody>
      </p:sp>
      <p:sp>
        <p:nvSpPr>
          <p:cNvPr id="15" name="Text 11"/>
          <p:cNvSpPr txBox="1"/>
          <p:nvPr/>
        </p:nvSpPr>
        <p:spPr>
          <a:xfrm>
            <a:off x="4553712" y="28529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Clears all memory and starts the kernel fresh</a:t>
            </a:r>
            <a:endParaRPr lang="en-US" sz="1100" dirty="0"/>
          </a:p>
        </p:txBody>
      </p:sp>
      <p:sp>
        <p:nvSpPr>
          <p:cNvPr id="16" name="Shape 12"/>
          <p:cNvSpPr/>
          <p:nvPr/>
        </p:nvSpPr>
        <p:spPr>
          <a:xfrm>
            <a:off x="7955280" y="1554480"/>
            <a:ext cx="3429000" cy="1828800"/>
          </a:xfrm>
          <a:prstGeom prst="roundRect">
            <a:avLst>
              <a:gd name="adj" fmla="val 4500"/>
            </a:avLst>
          </a:prstGeom>
          <a:solidFill>
            <a:srgbClr val="F4F6F9"/>
          </a:solidFill>
          <a:ln/>
        </p:spPr>
      </p:sp>
      <p:sp>
        <p:nvSpPr>
          <p:cNvPr id="17" name="Shape 13"/>
          <p:cNvSpPr/>
          <p:nvPr/>
        </p:nvSpPr>
        <p:spPr>
          <a:xfrm>
            <a:off x="8211312" y="1810512"/>
            <a:ext cx="594360" cy="594360"/>
          </a:xfrm>
          <a:prstGeom prst="ellipse">
            <a:avLst/>
          </a:prstGeom>
          <a:solidFill>
            <a:srgbClr val="306998"/>
          </a:solidFill>
          <a:ln/>
        </p:spPr>
      </p:sp>
      <p:pic>
        <p:nvPicPr>
          <p:cNvPr id="18" name="Image 2" descr="/tmp/claude-0/-home-user-pythonSEM-intro/a422a649-6240-52ae-9445-beabcf08c9b3/scratchpad/jupyter/icons/layout.png">    </p:cNvPr>
          <p:cNvPicPr>
            <a:picLocks noChangeAspect="1"/>
          </p:cNvPicPr>
          <p:nvPr/>
        </p:nvPicPr>
        <p:blipFill>
          <a:blip r:embed="rId3"/>
          <a:stretch>
            <a:fillRect/>
          </a:stretch>
        </p:blipFill>
        <p:spPr>
          <a:xfrm>
            <a:off x="8288579" y="1887779"/>
            <a:ext cx="439826" cy="439826"/>
          </a:xfrm>
          <a:prstGeom prst="rect">
            <a:avLst/>
          </a:prstGeom>
        </p:spPr>
      </p:pic>
      <p:sp>
        <p:nvSpPr>
          <p:cNvPr id="19" name="Text 14"/>
          <p:cNvSpPr txBox="1"/>
          <p:nvPr/>
        </p:nvSpPr>
        <p:spPr>
          <a:xfrm>
            <a:off x="8211312" y="25146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Cell type</a:t>
            </a:r>
            <a:endParaRPr lang="en-US" sz="1400" dirty="0"/>
          </a:p>
        </p:txBody>
      </p:sp>
      <p:sp>
        <p:nvSpPr>
          <p:cNvPr id="20" name="Text 15"/>
          <p:cNvSpPr txBox="1"/>
          <p:nvPr/>
        </p:nvSpPr>
        <p:spPr>
          <a:xfrm>
            <a:off x="8211312" y="28529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Switches the current cell between Code and Markdown</a:t>
            </a:r>
            <a:endParaRPr lang="en-US" sz="1100" dirty="0"/>
          </a:p>
        </p:txBody>
      </p:sp>
      <p:sp>
        <p:nvSpPr>
          <p:cNvPr id="21" name="Shape 16"/>
          <p:cNvSpPr/>
          <p:nvPr/>
        </p:nvSpPr>
        <p:spPr>
          <a:xfrm>
            <a:off x="640080" y="3611880"/>
            <a:ext cx="3429000" cy="1828800"/>
          </a:xfrm>
          <a:prstGeom prst="roundRect">
            <a:avLst>
              <a:gd name="adj" fmla="val 4500"/>
            </a:avLst>
          </a:prstGeom>
          <a:solidFill>
            <a:srgbClr val="F4F6F9"/>
          </a:solidFill>
          <a:ln/>
        </p:spPr>
      </p:sp>
      <p:sp>
        <p:nvSpPr>
          <p:cNvPr id="22" name="Shape 17"/>
          <p:cNvSpPr/>
          <p:nvPr/>
        </p:nvSpPr>
        <p:spPr>
          <a:xfrm>
            <a:off x="896112" y="3867912"/>
            <a:ext cx="594360" cy="594360"/>
          </a:xfrm>
          <a:prstGeom prst="ellipse">
            <a:avLst/>
          </a:prstGeom>
          <a:solidFill>
            <a:srgbClr val="306998"/>
          </a:solidFill>
          <a:ln/>
        </p:spPr>
      </p:sp>
      <p:pic>
        <p:nvPicPr>
          <p:cNvPr id="23" name="Image 3" descr="/tmp/claude-0/-home-user-pythonSEM-intro/a422a649-6240-52ae-9445-beabcf08c9b3/scratchpad/jupyter/icons/save.png">    </p:cNvPr>
          <p:cNvPicPr>
            <a:picLocks noChangeAspect="1"/>
          </p:cNvPicPr>
          <p:nvPr/>
        </p:nvPicPr>
        <p:blipFill>
          <a:blip r:embed="rId4"/>
          <a:stretch>
            <a:fillRect/>
          </a:stretch>
        </p:blipFill>
        <p:spPr>
          <a:xfrm>
            <a:off x="973379" y="3945179"/>
            <a:ext cx="439826" cy="439826"/>
          </a:xfrm>
          <a:prstGeom prst="rect">
            <a:avLst/>
          </a:prstGeom>
        </p:spPr>
      </p:pic>
      <p:sp>
        <p:nvSpPr>
          <p:cNvPr id="24" name="Text 18"/>
          <p:cNvSpPr txBox="1"/>
          <p:nvPr/>
        </p:nvSpPr>
        <p:spPr>
          <a:xfrm>
            <a:off x="896112" y="45720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Save</a:t>
            </a:r>
            <a:endParaRPr lang="en-US" sz="1400" dirty="0"/>
          </a:p>
        </p:txBody>
      </p:sp>
      <p:sp>
        <p:nvSpPr>
          <p:cNvPr id="25" name="Text 19"/>
          <p:cNvSpPr txBox="1"/>
          <p:nvPr/>
        </p:nvSpPr>
        <p:spPr>
          <a:xfrm>
            <a:off x="896112" y="49103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Writes your progress to the .ipynb file on disk</a:t>
            </a:r>
            <a:endParaRPr lang="en-US" sz="1100" dirty="0"/>
          </a:p>
        </p:txBody>
      </p:sp>
      <p:sp>
        <p:nvSpPr>
          <p:cNvPr id="26" name="Shape 20"/>
          <p:cNvSpPr/>
          <p:nvPr/>
        </p:nvSpPr>
        <p:spPr>
          <a:xfrm>
            <a:off x="4297680" y="3611880"/>
            <a:ext cx="3429000" cy="1828800"/>
          </a:xfrm>
          <a:prstGeom prst="roundRect">
            <a:avLst>
              <a:gd name="adj" fmla="val 4500"/>
            </a:avLst>
          </a:prstGeom>
          <a:solidFill>
            <a:srgbClr val="F4F6F9"/>
          </a:solidFill>
          <a:ln/>
        </p:spPr>
      </p:sp>
      <p:sp>
        <p:nvSpPr>
          <p:cNvPr id="27" name="Shape 21"/>
          <p:cNvSpPr/>
          <p:nvPr/>
        </p:nvSpPr>
        <p:spPr>
          <a:xfrm>
            <a:off x="4553712" y="3867912"/>
            <a:ext cx="594360" cy="594360"/>
          </a:xfrm>
          <a:prstGeom prst="ellipse">
            <a:avLst/>
          </a:prstGeom>
          <a:solidFill>
            <a:srgbClr val="306998"/>
          </a:solidFill>
          <a:ln/>
        </p:spPr>
      </p:sp>
      <p:pic>
        <p:nvPicPr>
          <p:cNvPr id="28" name="Image 4" descr="/tmp/claude-0/-home-user-pythonSEM-intro/a422a649-6240-52ae-9445-beabcf08c9b3/scratchpad/jupyter/icons/export.png">    </p:cNvPr>
          <p:cNvPicPr>
            <a:picLocks noChangeAspect="1"/>
          </p:cNvPicPr>
          <p:nvPr/>
        </p:nvPicPr>
        <p:blipFill>
          <a:blip r:embed="rId5"/>
          <a:stretch>
            <a:fillRect/>
          </a:stretch>
        </p:blipFill>
        <p:spPr>
          <a:xfrm>
            <a:off x="4630979" y="3945179"/>
            <a:ext cx="439826" cy="439826"/>
          </a:xfrm>
          <a:prstGeom prst="rect">
            <a:avLst/>
          </a:prstGeom>
        </p:spPr>
      </p:pic>
      <p:sp>
        <p:nvSpPr>
          <p:cNvPr id="29" name="Text 22"/>
          <p:cNvSpPr txBox="1"/>
          <p:nvPr/>
        </p:nvSpPr>
        <p:spPr>
          <a:xfrm>
            <a:off x="4553712" y="45720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Download as</a:t>
            </a:r>
            <a:endParaRPr lang="en-US" sz="1400" dirty="0"/>
          </a:p>
        </p:txBody>
      </p:sp>
      <p:sp>
        <p:nvSpPr>
          <p:cNvPr id="30" name="Text 23"/>
          <p:cNvSpPr txBox="1"/>
          <p:nvPr/>
        </p:nvSpPr>
        <p:spPr>
          <a:xfrm>
            <a:off x="4553712" y="49103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Exports the notebook to .py, .html, or .pdf</a:t>
            </a:r>
            <a:endParaRPr lang="en-US" sz="1100" dirty="0"/>
          </a:p>
        </p:txBody>
      </p:sp>
      <p:sp>
        <p:nvSpPr>
          <p:cNvPr id="31" name="Shape 24"/>
          <p:cNvSpPr/>
          <p:nvPr/>
        </p:nvSpPr>
        <p:spPr>
          <a:xfrm>
            <a:off x="7955280" y="3611880"/>
            <a:ext cx="3429000" cy="1828800"/>
          </a:xfrm>
          <a:prstGeom prst="roundRect">
            <a:avLst>
              <a:gd name="adj" fmla="val 4500"/>
            </a:avLst>
          </a:prstGeom>
          <a:solidFill>
            <a:srgbClr val="F4F6F9"/>
          </a:solidFill>
          <a:ln/>
        </p:spPr>
      </p:sp>
      <p:sp>
        <p:nvSpPr>
          <p:cNvPr id="32" name="Shape 25"/>
          <p:cNvSpPr/>
          <p:nvPr/>
        </p:nvSpPr>
        <p:spPr>
          <a:xfrm>
            <a:off x="8211312" y="3867912"/>
            <a:ext cx="594360" cy="594360"/>
          </a:xfrm>
          <a:prstGeom prst="ellipse">
            <a:avLst/>
          </a:prstGeom>
          <a:solidFill>
            <a:srgbClr val="306998"/>
          </a:solidFill>
          <a:ln/>
        </p:spPr>
      </p:sp>
      <p:pic>
        <p:nvPicPr>
          <p:cNvPr id="33" name="Image 5" descr="/tmp/claude-0/-home-user-pythonSEM-intro/a422a649-6240-52ae-9445-beabcf08c9b3/scratchpad/jupyter/icons/question.png">    </p:cNvPr>
          <p:cNvPicPr>
            <a:picLocks noChangeAspect="1"/>
          </p:cNvPicPr>
          <p:nvPr/>
        </p:nvPicPr>
        <p:blipFill>
          <a:blip r:embed="rId6"/>
          <a:stretch>
            <a:fillRect/>
          </a:stretch>
        </p:blipFill>
        <p:spPr>
          <a:xfrm>
            <a:off x="8288579" y="3945179"/>
            <a:ext cx="439826" cy="439826"/>
          </a:xfrm>
          <a:prstGeom prst="rect">
            <a:avLst/>
          </a:prstGeom>
        </p:spPr>
      </p:pic>
      <p:sp>
        <p:nvSpPr>
          <p:cNvPr id="34" name="Text 26"/>
          <p:cNvSpPr txBox="1"/>
          <p:nvPr/>
        </p:nvSpPr>
        <p:spPr>
          <a:xfrm>
            <a:off x="8211312" y="4572000"/>
            <a:ext cx="2916936" cy="36576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Command palette</a:t>
            </a:r>
            <a:endParaRPr lang="en-US" sz="1400" dirty="0"/>
          </a:p>
        </p:txBody>
      </p:sp>
      <p:sp>
        <p:nvSpPr>
          <p:cNvPr id="35" name="Text 27"/>
          <p:cNvSpPr txBox="1"/>
          <p:nvPr/>
        </p:nvSpPr>
        <p:spPr>
          <a:xfrm>
            <a:off x="8211312" y="4910328"/>
            <a:ext cx="2916936" cy="50292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Search every action by name, handy while learning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Interface and the Kernel</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20</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is "the kernel"?</a:t>
            </a:r>
            <a:endParaRPr lang="en-US" sz="3200" dirty="0"/>
          </a:p>
        </p:txBody>
      </p:sp>
      <p:sp>
        <p:nvSpPr>
          <p:cNvPr id="6" name="Text 4"/>
          <p:cNvSpPr txBox="1"/>
          <p:nvPr/>
        </p:nvSpPr>
        <p:spPr>
          <a:xfrm>
            <a:off x="640080" y="1417320"/>
            <a:ext cx="6309360" cy="10972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The kernel is the separate process that actually runs your code. Your notebook is just the page you type on, the kernel is what reads it and does the work.</a:t>
            </a:r>
            <a:endParaRPr lang="en-US" sz="1500" dirty="0"/>
          </a:p>
        </p:txBody>
      </p:sp>
      <p:sp>
        <p:nvSpPr>
          <p:cNvPr id="7" name="Text 5"/>
          <p:cNvSpPr txBox="1"/>
          <p:nvPr/>
        </p:nvSpPr>
        <p:spPr>
          <a:xfrm>
            <a:off x="640080" y="2606040"/>
            <a:ext cx="6309360" cy="1371600"/>
          </a:xfrm>
          <a:prstGeom prst="rect">
            <a:avLst/>
          </a:prstGeom>
          <a:noFill/>
          <a:ln/>
        </p:spPr>
        <p:txBody>
          <a:bodyPr wrap="square" lIns="0" tIns="0" rIns="0" bIns="0" rtlCol="0" anchor="ctr"/>
          <a:lstStyle/>
          <a:p>
            <a:pPr indent="0" marL="0">
              <a:buNone/>
            </a:pPr>
            <a:r>
              <a:rPr lang="en-US" sz="1350" dirty="0">
                <a:solidFill>
                  <a:srgbClr val="5B6472"/>
                </a:solidFill>
                <a:latin typeface="Calibri" pitchFamily="34" charset="0"/>
                <a:ea typeface="Calibri" pitchFamily="34" charset="-122"/>
                <a:cs typeface="Calibri" pitchFamily="34" charset="-120"/>
              </a:rPr>
              <a:t>It keeps every variable you have defined in memory, in the order the cells were run, not the order they appear on the page. That is powerful, and it is also the single most common source of confusion for beginners.</a:t>
            </a:r>
            <a:endParaRPr lang="en-US" sz="1350" dirty="0"/>
          </a:p>
        </p:txBody>
      </p:sp>
      <p:sp>
        <p:nvSpPr>
          <p:cNvPr id="8" name="Shape 6"/>
          <p:cNvSpPr/>
          <p:nvPr/>
        </p:nvSpPr>
        <p:spPr>
          <a:xfrm>
            <a:off x="640080" y="4114800"/>
            <a:ext cx="6309360" cy="914400"/>
          </a:xfrm>
          <a:prstGeom prst="roundRect">
            <a:avLst>
              <a:gd name="adj" fmla="val 8000"/>
            </a:avLst>
          </a:prstGeom>
          <a:solidFill>
            <a:srgbClr val="F4F6F9"/>
          </a:solidFill>
          <a:ln/>
        </p:spPr>
      </p:sp>
      <p:sp>
        <p:nvSpPr>
          <p:cNvPr id="9" name="Shape 7"/>
          <p:cNvSpPr/>
          <p:nvPr/>
        </p:nvSpPr>
        <p:spPr>
          <a:xfrm>
            <a:off x="822960" y="4270248"/>
            <a:ext cx="548640" cy="548640"/>
          </a:xfrm>
          <a:prstGeom prst="ellipse">
            <a:avLst/>
          </a:prstGeom>
          <a:solidFill>
            <a:srgbClr val="FFD43B"/>
          </a:solidFill>
          <a:ln/>
        </p:spPr>
      </p:sp>
      <p:pic>
        <p:nvPicPr>
          <p:cNvPr id="10" name="Image 0" descr="/tmp/claude-0/-home-user-pythonSEM-intro/a422a649-6240-52ae-9445-beabcf08c9b3/scratchpad/jupyter/icons/restart.png">    </p:cNvPr>
          <p:cNvPicPr>
            <a:picLocks noChangeAspect="1"/>
          </p:cNvPicPr>
          <p:nvPr/>
        </p:nvPicPr>
        <p:blipFill>
          <a:blip r:embed="rId1"/>
          <a:stretch>
            <a:fillRect/>
          </a:stretch>
        </p:blipFill>
        <p:spPr>
          <a:xfrm>
            <a:off x="894283" y="4341571"/>
            <a:ext cx="405994" cy="405994"/>
          </a:xfrm>
          <a:prstGeom prst="rect">
            <a:avLst/>
          </a:prstGeom>
        </p:spPr>
      </p:pic>
      <p:sp>
        <p:nvSpPr>
          <p:cNvPr id="11" name="Text 8"/>
          <p:cNvSpPr txBox="1"/>
          <p:nvPr/>
        </p:nvSpPr>
        <p:spPr>
          <a:xfrm>
            <a:off x="1508760" y="4114800"/>
            <a:ext cx="5303520" cy="914400"/>
          </a:xfrm>
          <a:prstGeom prst="rect">
            <a:avLst/>
          </a:prstGeom>
          <a:noFill/>
          <a:ln/>
        </p:spPr>
        <p:txBody>
          <a:bodyPr wrap="square" lIns="0" tIns="0" rIns="0" bIns="0" rtlCol="0" anchor="ctr"/>
          <a:lstStyle/>
          <a:p>
            <a:pPr indent="0" marL="0">
              <a:buNone/>
            </a:pPr>
            <a:r>
              <a:rPr lang="en-US" sz="1200" i="1" dirty="0">
                <a:solidFill>
                  <a:srgbClr val="5B6472"/>
                </a:solidFill>
                <a:latin typeface="Calibri" pitchFamily="34" charset="0"/>
                <a:ea typeface="Calibri" pitchFamily="34" charset="-122"/>
                <a:cs typeface="Calibri" pitchFamily="34" charset="-120"/>
              </a:rPr>
              <a:t>When things feel broken or a variable seems "stuck," restart the kernel and run all cells again from the top.</a:t>
            </a:r>
            <a:endParaRPr lang="en-US" sz="1200" dirty="0"/>
          </a:p>
        </p:txBody>
      </p:sp>
      <p:sp>
        <p:nvSpPr>
          <p:cNvPr id="12" name="Shape 9"/>
          <p:cNvSpPr/>
          <p:nvPr/>
        </p:nvSpPr>
        <p:spPr>
          <a:xfrm>
            <a:off x="7269480" y="1417320"/>
            <a:ext cx="4251960" cy="3611880"/>
          </a:xfrm>
          <a:prstGeom prst="roundRect">
            <a:avLst>
              <a:gd name="adj" fmla="val 2278"/>
            </a:avLst>
          </a:prstGeom>
          <a:solidFill>
            <a:srgbClr val="132038"/>
          </a:solidFill>
          <a:ln/>
        </p:spPr>
      </p:sp>
      <p:sp>
        <p:nvSpPr>
          <p:cNvPr id="13" name="Text 10"/>
          <p:cNvSpPr txBox="1"/>
          <p:nvPr/>
        </p:nvSpPr>
        <p:spPr>
          <a:xfrm>
            <a:off x="7543800" y="1645920"/>
            <a:ext cx="3749040" cy="320040"/>
          </a:xfrm>
          <a:prstGeom prst="rect">
            <a:avLst/>
          </a:prstGeom>
          <a:noFill/>
          <a:ln/>
        </p:spPr>
        <p:txBody>
          <a:bodyPr wrap="square" lIns="0" tIns="0" rIns="0" bIns="0" rtlCol="0" anchor="ctr"/>
          <a:lstStyle/>
          <a:p>
            <a:pPr indent="0" marL="0">
              <a:buNone/>
            </a:pPr>
            <a:r>
              <a:rPr lang="en-US" sz="1400" b="1" dirty="0">
                <a:solidFill>
                  <a:srgbClr val="AEB9CC"/>
                </a:solidFill>
                <a:latin typeface="Arial" pitchFamily="34" charset="0"/>
                <a:ea typeface="Arial" pitchFamily="34" charset="-122"/>
                <a:cs typeface="Arial" pitchFamily="34" charset="-120"/>
              </a:rPr>
              <a:t>One kernel, many cells</a:t>
            </a:r>
            <a:endParaRPr lang="en-US" sz="1400" dirty="0"/>
          </a:p>
        </p:txBody>
      </p:sp>
      <p:sp>
        <p:nvSpPr>
          <p:cNvPr id="14" name="Shape 11"/>
          <p:cNvSpPr/>
          <p:nvPr/>
        </p:nvSpPr>
        <p:spPr>
          <a:xfrm>
            <a:off x="7543800" y="2011680"/>
            <a:ext cx="3703320" cy="2706624"/>
          </a:xfrm>
          <a:prstGeom prst="roundRect">
            <a:avLst>
              <a:gd name="adj" fmla="val 2703"/>
            </a:avLst>
          </a:prstGeom>
          <a:solidFill>
            <a:srgbClr val="132038"/>
          </a:solidFill>
          <a:ln/>
        </p:spPr>
      </p:sp>
      <p:sp>
        <p:nvSpPr>
          <p:cNvPr id="15" name="Text 12"/>
          <p:cNvSpPr txBox="1"/>
          <p:nvPr/>
        </p:nvSpPr>
        <p:spPr>
          <a:xfrm>
            <a:off x="7863840" y="2212848"/>
            <a:ext cx="31546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x = 10</a:t>
            </a:r>
            <a:endParaRPr lang="en-US" sz="1500" dirty="0"/>
          </a:p>
        </p:txBody>
      </p:sp>
      <p:sp>
        <p:nvSpPr>
          <p:cNvPr id="16" name="Text 13"/>
          <p:cNvSpPr txBox="1"/>
          <p:nvPr/>
        </p:nvSpPr>
        <p:spPr>
          <a:xfrm>
            <a:off x="7863840" y="2596896"/>
            <a:ext cx="3154680" cy="365760"/>
          </a:xfrm>
          <a:prstGeom prst="rect">
            <a:avLst/>
          </a:prstGeom>
          <a:noFill/>
          <a:ln/>
        </p:spPr>
        <p:txBody>
          <a:bodyPr wrap="square" lIns="0" tIns="0" rIns="0" bIns="0" rtlCol="0" anchor="ctr"/>
          <a:lstStyle/>
          <a:p>
            <a:pPr indent="0" marL="0">
              <a:buNone/>
            </a:pPr>
            <a:endParaRPr lang="en-US" sz="1500" dirty="0"/>
          </a:p>
        </p:txBody>
      </p:sp>
      <p:sp>
        <p:nvSpPr>
          <p:cNvPr id="17" name="Text 14"/>
          <p:cNvSpPr txBox="1"/>
          <p:nvPr/>
        </p:nvSpPr>
        <p:spPr>
          <a:xfrm>
            <a:off x="7863840" y="2980944"/>
            <a:ext cx="31546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y = x * 2</a:t>
            </a:r>
            <a:endParaRPr lang="en-US" sz="1500" dirty="0"/>
          </a:p>
        </p:txBody>
      </p:sp>
      <p:sp>
        <p:nvSpPr>
          <p:cNvPr id="18" name="Text 15"/>
          <p:cNvSpPr txBox="1"/>
          <p:nvPr/>
        </p:nvSpPr>
        <p:spPr>
          <a:xfrm>
            <a:off x="7863840" y="3364992"/>
            <a:ext cx="3154680" cy="365760"/>
          </a:xfrm>
          <a:prstGeom prst="rect">
            <a:avLst/>
          </a:prstGeom>
          <a:noFill/>
          <a:ln/>
        </p:spPr>
        <p:txBody>
          <a:bodyPr wrap="square" lIns="0" tIns="0" rIns="0" bIns="0" rtlCol="0" anchor="ctr"/>
          <a:lstStyle/>
          <a:p>
            <a:pPr indent="0" marL="0">
              <a:buNone/>
            </a:pPr>
            <a:endParaRPr lang="en-US" sz="1500" dirty="0"/>
          </a:p>
        </p:txBody>
      </p:sp>
      <p:sp>
        <p:nvSpPr>
          <p:cNvPr id="19" name="Text 16"/>
          <p:cNvSpPr txBox="1"/>
          <p:nvPr/>
        </p:nvSpPr>
        <p:spPr>
          <a:xfrm>
            <a:off x="7863840" y="3749040"/>
            <a:ext cx="31546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print(y)</a:t>
            </a:r>
            <a:endParaRPr lang="en-US" sz="1500" dirty="0"/>
          </a:p>
        </p:txBody>
      </p:sp>
      <p:sp>
        <p:nvSpPr>
          <p:cNvPr id="20" name="Text 17"/>
          <p:cNvSpPr txBox="1"/>
          <p:nvPr/>
        </p:nvSpPr>
        <p:spPr>
          <a:xfrm>
            <a:off x="7863840" y="4133088"/>
            <a:ext cx="315468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 20</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4 · Interface and the Kernel</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21</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4</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Handy keyboard shortcuts</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Press Esc to leave a cell (blue border, "command mode"), then use these:</a:t>
            </a:r>
            <a:endParaRPr lang="en-US" sz="1400" dirty="0"/>
          </a:p>
        </p:txBody>
      </p:sp>
      <p:sp>
        <p:nvSpPr>
          <p:cNvPr id="7" name="Shape 5"/>
          <p:cNvSpPr/>
          <p:nvPr/>
        </p:nvSpPr>
        <p:spPr>
          <a:xfrm>
            <a:off x="640080" y="1965960"/>
            <a:ext cx="5257800" cy="960120"/>
          </a:xfrm>
          <a:prstGeom prst="roundRect">
            <a:avLst>
              <a:gd name="adj" fmla="val 7619"/>
            </a:avLst>
          </a:prstGeom>
          <a:solidFill>
            <a:srgbClr val="F4F6F9"/>
          </a:solidFill>
          <a:ln/>
        </p:spPr>
      </p:sp>
      <p:sp>
        <p:nvSpPr>
          <p:cNvPr id="8" name="Shape 6"/>
          <p:cNvSpPr/>
          <p:nvPr/>
        </p:nvSpPr>
        <p:spPr>
          <a:xfrm>
            <a:off x="822960" y="2194560"/>
            <a:ext cx="1188720" cy="502920"/>
          </a:xfrm>
          <a:prstGeom prst="roundRect">
            <a:avLst>
              <a:gd name="adj" fmla="val 10909"/>
            </a:avLst>
          </a:prstGeom>
          <a:solidFill>
            <a:srgbClr val="132038"/>
          </a:solidFill>
          <a:ln/>
        </p:spPr>
      </p:sp>
      <p:sp>
        <p:nvSpPr>
          <p:cNvPr id="9" name="Text 7"/>
          <p:cNvSpPr txBox="1"/>
          <p:nvPr/>
        </p:nvSpPr>
        <p:spPr>
          <a:xfrm>
            <a:off x="822960" y="2194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A</a:t>
            </a:r>
            <a:endParaRPr lang="en-US" sz="1400" dirty="0"/>
          </a:p>
        </p:txBody>
      </p:sp>
      <p:sp>
        <p:nvSpPr>
          <p:cNvPr id="10" name="Text 8"/>
          <p:cNvSpPr txBox="1"/>
          <p:nvPr/>
        </p:nvSpPr>
        <p:spPr>
          <a:xfrm>
            <a:off x="2240280" y="1965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Insert a new cell above</a:t>
            </a:r>
            <a:endParaRPr lang="en-US" sz="1300" dirty="0"/>
          </a:p>
        </p:txBody>
      </p:sp>
      <p:sp>
        <p:nvSpPr>
          <p:cNvPr id="11" name="Shape 9"/>
          <p:cNvSpPr/>
          <p:nvPr/>
        </p:nvSpPr>
        <p:spPr>
          <a:xfrm>
            <a:off x="6172200" y="1965960"/>
            <a:ext cx="5257800" cy="960120"/>
          </a:xfrm>
          <a:prstGeom prst="roundRect">
            <a:avLst>
              <a:gd name="adj" fmla="val 7619"/>
            </a:avLst>
          </a:prstGeom>
          <a:solidFill>
            <a:srgbClr val="F4F6F9"/>
          </a:solidFill>
          <a:ln/>
        </p:spPr>
      </p:sp>
      <p:sp>
        <p:nvSpPr>
          <p:cNvPr id="12" name="Shape 10"/>
          <p:cNvSpPr/>
          <p:nvPr/>
        </p:nvSpPr>
        <p:spPr>
          <a:xfrm>
            <a:off x="6355080" y="2194560"/>
            <a:ext cx="1188720" cy="502920"/>
          </a:xfrm>
          <a:prstGeom prst="roundRect">
            <a:avLst>
              <a:gd name="adj" fmla="val 10909"/>
            </a:avLst>
          </a:prstGeom>
          <a:solidFill>
            <a:srgbClr val="132038"/>
          </a:solidFill>
          <a:ln/>
        </p:spPr>
      </p:sp>
      <p:sp>
        <p:nvSpPr>
          <p:cNvPr id="13" name="Text 11"/>
          <p:cNvSpPr txBox="1"/>
          <p:nvPr/>
        </p:nvSpPr>
        <p:spPr>
          <a:xfrm>
            <a:off x="6355080" y="2194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B</a:t>
            </a:r>
            <a:endParaRPr lang="en-US" sz="1400" dirty="0"/>
          </a:p>
        </p:txBody>
      </p:sp>
      <p:sp>
        <p:nvSpPr>
          <p:cNvPr id="14" name="Text 12"/>
          <p:cNvSpPr txBox="1"/>
          <p:nvPr/>
        </p:nvSpPr>
        <p:spPr>
          <a:xfrm>
            <a:off x="7772400" y="1965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Insert a new cell below</a:t>
            </a:r>
            <a:endParaRPr lang="en-US" sz="1300" dirty="0"/>
          </a:p>
        </p:txBody>
      </p:sp>
      <p:sp>
        <p:nvSpPr>
          <p:cNvPr id="15" name="Shape 13"/>
          <p:cNvSpPr/>
          <p:nvPr/>
        </p:nvSpPr>
        <p:spPr>
          <a:xfrm>
            <a:off x="640080" y="3108960"/>
            <a:ext cx="5257800" cy="960120"/>
          </a:xfrm>
          <a:prstGeom prst="roundRect">
            <a:avLst>
              <a:gd name="adj" fmla="val 7619"/>
            </a:avLst>
          </a:prstGeom>
          <a:solidFill>
            <a:srgbClr val="F4F6F9"/>
          </a:solidFill>
          <a:ln/>
        </p:spPr>
      </p:sp>
      <p:sp>
        <p:nvSpPr>
          <p:cNvPr id="16" name="Shape 14"/>
          <p:cNvSpPr/>
          <p:nvPr/>
        </p:nvSpPr>
        <p:spPr>
          <a:xfrm>
            <a:off x="822960" y="3337560"/>
            <a:ext cx="1188720" cy="502920"/>
          </a:xfrm>
          <a:prstGeom prst="roundRect">
            <a:avLst>
              <a:gd name="adj" fmla="val 10909"/>
            </a:avLst>
          </a:prstGeom>
          <a:solidFill>
            <a:srgbClr val="132038"/>
          </a:solidFill>
          <a:ln/>
        </p:spPr>
      </p:sp>
      <p:sp>
        <p:nvSpPr>
          <p:cNvPr id="17" name="Text 15"/>
          <p:cNvSpPr txBox="1"/>
          <p:nvPr/>
        </p:nvSpPr>
        <p:spPr>
          <a:xfrm>
            <a:off x="822960" y="3337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D, D</a:t>
            </a:r>
            <a:endParaRPr lang="en-US" sz="1400" dirty="0"/>
          </a:p>
        </p:txBody>
      </p:sp>
      <p:sp>
        <p:nvSpPr>
          <p:cNvPr id="18" name="Text 16"/>
          <p:cNvSpPr txBox="1"/>
          <p:nvPr/>
        </p:nvSpPr>
        <p:spPr>
          <a:xfrm>
            <a:off x="2240280" y="3108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Delete the selected cell</a:t>
            </a:r>
            <a:endParaRPr lang="en-US" sz="1300" dirty="0"/>
          </a:p>
        </p:txBody>
      </p:sp>
      <p:sp>
        <p:nvSpPr>
          <p:cNvPr id="19" name="Shape 17"/>
          <p:cNvSpPr/>
          <p:nvPr/>
        </p:nvSpPr>
        <p:spPr>
          <a:xfrm>
            <a:off x="6172200" y="3108960"/>
            <a:ext cx="5257800" cy="960120"/>
          </a:xfrm>
          <a:prstGeom prst="roundRect">
            <a:avLst>
              <a:gd name="adj" fmla="val 7619"/>
            </a:avLst>
          </a:prstGeom>
          <a:solidFill>
            <a:srgbClr val="F4F6F9"/>
          </a:solidFill>
          <a:ln/>
        </p:spPr>
      </p:sp>
      <p:sp>
        <p:nvSpPr>
          <p:cNvPr id="20" name="Shape 18"/>
          <p:cNvSpPr/>
          <p:nvPr/>
        </p:nvSpPr>
        <p:spPr>
          <a:xfrm>
            <a:off x="6355080" y="3337560"/>
            <a:ext cx="1188720" cy="502920"/>
          </a:xfrm>
          <a:prstGeom prst="roundRect">
            <a:avLst>
              <a:gd name="adj" fmla="val 10909"/>
            </a:avLst>
          </a:prstGeom>
          <a:solidFill>
            <a:srgbClr val="132038"/>
          </a:solidFill>
          <a:ln/>
        </p:spPr>
      </p:sp>
      <p:sp>
        <p:nvSpPr>
          <p:cNvPr id="21" name="Text 19"/>
          <p:cNvSpPr txBox="1"/>
          <p:nvPr/>
        </p:nvSpPr>
        <p:spPr>
          <a:xfrm>
            <a:off x="6355080" y="3337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M</a:t>
            </a:r>
            <a:endParaRPr lang="en-US" sz="1400" dirty="0"/>
          </a:p>
        </p:txBody>
      </p:sp>
      <p:sp>
        <p:nvSpPr>
          <p:cNvPr id="22" name="Text 20"/>
          <p:cNvSpPr txBox="1"/>
          <p:nvPr/>
        </p:nvSpPr>
        <p:spPr>
          <a:xfrm>
            <a:off x="7772400" y="3108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Turn the cell into Markdown</a:t>
            </a:r>
            <a:endParaRPr lang="en-US" sz="1300" dirty="0"/>
          </a:p>
        </p:txBody>
      </p:sp>
      <p:sp>
        <p:nvSpPr>
          <p:cNvPr id="23" name="Shape 21"/>
          <p:cNvSpPr/>
          <p:nvPr/>
        </p:nvSpPr>
        <p:spPr>
          <a:xfrm>
            <a:off x="640080" y="4251960"/>
            <a:ext cx="5257800" cy="960120"/>
          </a:xfrm>
          <a:prstGeom prst="roundRect">
            <a:avLst>
              <a:gd name="adj" fmla="val 7619"/>
            </a:avLst>
          </a:prstGeom>
          <a:solidFill>
            <a:srgbClr val="F4F6F9"/>
          </a:solidFill>
          <a:ln/>
        </p:spPr>
      </p:sp>
      <p:sp>
        <p:nvSpPr>
          <p:cNvPr id="24" name="Shape 22"/>
          <p:cNvSpPr/>
          <p:nvPr/>
        </p:nvSpPr>
        <p:spPr>
          <a:xfrm>
            <a:off x="822960" y="4480560"/>
            <a:ext cx="1188720" cy="502920"/>
          </a:xfrm>
          <a:prstGeom prst="roundRect">
            <a:avLst>
              <a:gd name="adj" fmla="val 10909"/>
            </a:avLst>
          </a:prstGeom>
          <a:solidFill>
            <a:srgbClr val="132038"/>
          </a:solidFill>
          <a:ln/>
        </p:spPr>
      </p:sp>
      <p:sp>
        <p:nvSpPr>
          <p:cNvPr id="25" name="Text 23"/>
          <p:cNvSpPr txBox="1"/>
          <p:nvPr/>
        </p:nvSpPr>
        <p:spPr>
          <a:xfrm>
            <a:off x="822960" y="4480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Y</a:t>
            </a:r>
            <a:endParaRPr lang="en-US" sz="1400" dirty="0"/>
          </a:p>
        </p:txBody>
      </p:sp>
      <p:sp>
        <p:nvSpPr>
          <p:cNvPr id="26" name="Text 24"/>
          <p:cNvSpPr txBox="1"/>
          <p:nvPr/>
        </p:nvSpPr>
        <p:spPr>
          <a:xfrm>
            <a:off x="2240280" y="4251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Turn the cell back into Code</a:t>
            </a:r>
            <a:endParaRPr lang="en-US" sz="1300" dirty="0"/>
          </a:p>
        </p:txBody>
      </p:sp>
      <p:sp>
        <p:nvSpPr>
          <p:cNvPr id="27" name="Shape 25"/>
          <p:cNvSpPr/>
          <p:nvPr/>
        </p:nvSpPr>
        <p:spPr>
          <a:xfrm>
            <a:off x="6172200" y="4251960"/>
            <a:ext cx="5257800" cy="960120"/>
          </a:xfrm>
          <a:prstGeom prst="roundRect">
            <a:avLst>
              <a:gd name="adj" fmla="val 7619"/>
            </a:avLst>
          </a:prstGeom>
          <a:solidFill>
            <a:srgbClr val="F4F6F9"/>
          </a:solidFill>
          <a:ln/>
        </p:spPr>
      </p:sp>
      <p:sp>
        <p:nvSpPr>
          <p:cNvPr id="28" name="Shape 26"/>
          <p:cNvSpPr/>
          <p:nvPr/>
        </p:nvSpPr>
        <p:spPr>
          <a:xfrm>
            <a:off x="6355080" y="4480560"/>
            <a:ext cx="1188720" cy="502920"/>
          </a:xfrm>
          <a:prstGeom prst="roundRect">
            <a:avLst>
              <a:gd name="adj" fmla="val 10909"/>
            </a:avLst>
          </a:prstGeom>
          <a:solidFill>
            <a:srgbClr val="132038"/>
          </a:solidFill>
          <a:ln/>
        </p:spPr>
      </p:sp>
      <p:sp>
        <p:nvSpPr>
          <p:cNvPr id="29" name="Text 27"/>
          <p:cNvSpPr txBox="1"/>
          <p:nvPr/>
        </p:nvSpPr>
        <p:spPr>
          <a:xfrm>
            <a:off x="6355080" y="4480560"/>
            <a:ext cx="1188720" cy="502920"/>
          </a:xfrm>
          <a:prstGeom prst="rect">
            <a:avLst/>
          </a:prstGeom>
          <a:noFill/>
          <a:ln/>
        </p:spPr>
        <p:txBody>
          <a:bodyPr wrap="square" lIns="0" tIns="0" rIns="0" bIns="0" rtlCol="0" anchor="ctr"/>
          <a:lstStyle/>
          <a:p>
            <a:pPr algn="ctr" indent="0" marL="0">
              <a:buNone/>
            </a:pPr>
            <a:r>
              <a:rPr lang="en-US" sz="1400" b="1" dirty="0">
                <a:solidFill>
                  <a:srgbClr val="FFD43B"/>
                </a:solidFill>
                <a:latin typeface="Courier New" pitchFamily="34" charset="0"/>
                <a:ea typeface="Courier New" pitchFamily="34" charset="-122"/>
                <a:cs typeface="Courier New" pitchFamily="34" charset="-120"/>
              </a:rPr>
              <a:t>Enter</a:t>
            </a:r>
            <a:endParaRPr lang="en-US" sz="1400" dirty="0"/>
          </a:p>
        </p:txBody>
      </p:sp>
      <p:sp>
        <p:nvSpPr>
          <p:cNvPr id="30" name="Text 28"/>
          <p:cNvSpPr txBox="1"/>
          <p:nvPr/>
        </p:nvSpPr>
        <p:spPr>
          <a:xfrm>
            <a:off x="7772400" y="4251960"/>
            <a:ext cx="3429000" cy="96012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Go back into the cell to edit it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640080" y="548640"/>
            <a:ext cx="822960" cy="822960"/>
          </a:xfrm>
          <a:prstGeom prst="ellipse">
            <a:avLst/>
          </a:prstGeom>
          <a:solidFill>
            <a:srgbClr val="FFD43B"/>
          </a:solidFill>
          <a:ln/>
        </p:spPr>
      </p:sp>
      <p:pic>
        <p:nvPicPr>
          <p:cNvPr id="3" name="Image 0" descr="/tmp/claude-0/-home-user-pythonSEM-intro/a422a649-6240-52ae-9445-beabcf08c9b3/scratchpad/jupyter/icons/keyboard.png">    </p:cNvPr>
          <p:cNvPicPr>
            <a:picLocks noChangeAspect="1"/>
          </p:cNvPicPr>
          <p:nvPr/>
        </p:nvPicPr>
        <p:blipFill>
          <a:blip r:embed="rId1"/>
          <a:stretch>
            <a:fillRect/>
          </a:stretch>
        </p:blipFill>
        <p:spPr>
          <a:xfrm>
            <a:off x="747065" y="655625"/>
            <a:ext cx="608990" cy="608990"/>
          </a:xfrm>
          <a:prstGeom prst="rect">
            <a:avLst/>
          </a:prstGeom>
        </p:spPr>
      </p:pic>
      <p:sp>
        <p:nvSpPr>
          <p:cNvPr id="4" name="Text 1"/>
          <p:cNvSpPr txBox="1"/>
          <p:nvPr/>
        </p:nvSpPr>
        <p:spPr>
          <a:xfrm>
            <a:off x="1691640" y="640080"/>
            <a:ext cx="7315200" cy="365760"/>
          </a:xfrm>
          <a:prstGeom prst="rect">
            <a:avLst/>
          </a:prstGeom>
          <a:noFill/>
          <a:ln/>
        </p:spPr>
        <p:txBody>
          <a:bodyPr wrap="square" lIns="0" tIns="0" rIns="0" bIns="0" rtlCol="0" anchor="ctr"/>
          <a:lstStyle/>
          <a:p>
            <a:pPr indent="0" marL="0">
              <a:buNone/>
            </a:pPr>
            <a:r>
              <a:rPr lang="en-US" sz="1300" b="1" spc="200" kern="0" dirty="0">
                <a:solidFill>
                  <a:srgbClr val="FFD43B"/>
                </a:solidFill>
                <a:latin typeface="Arial" pitchFamily="34" charset="0"/>
                <a:ea typeface="Arial" pitchFamily="34" charset="-122"/>
                <a:cs typeface="Arial" pitchFamily="34" charset="-120"/>
              </a:rPr>
              <a:t>TRY IT NOW</a:t>
            </a:r>
            <a:endParaRPr lang="en-US" sz="1300" dirty="0"/>
          </a:p>
        </p:txBody>
      </p:sp>
      <p:sp>
        <p:nvSpPr>
          <p:cNvPr id="5" name="Text 2"/>
          <p:cNvSpPr txBox="1"/>
          <p:nvPr/>
        </p:nvSpPr>
        <p:spPr>
          <a:xfrm>
            <a:off x="1691640" y="932688"/>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Three shortcuts, thirty seconds</a:t>
            </a:r>
            <a:endParaRPr lang="en-US" sz="2600" dirty="0"/>
          </a:p>
        </p:txBody>
      </p:sp>
      <p:sp>
        <p:nvSpPr>
          <p:cNvPr id="6" name="Shape 3"/>
          <p:cNvSpPr/>
          <p:nvPr/>
        </p:nvSpPr>
        <p:spPr>
          <a:xfrm>
            <a:off x="822960" y="1920240"/>
            <a:ext cx="10515600" cy="777240"/>
          </a:xfrm>
          <a:prstGeom prst="roundRect">
            <a:avLst>
              <a:gd name="adj" fmla="val 11765"/>
            </a:avLst>
          </a:prstGeom>
          <a:solidFill>
            <a:srgbClr val="1B2A4A"/>
          </a:solidFill>
          <a:ln/>
        </p:spPr>
      </p:sp>
      <p:sp>
        <p:nvSpPr>
          <p:cNvPr id="7" name="Shape 4"/>
          <p:cNvSpPr/>
          <p:nvPr/>
        </p:nvSpPr>
        <p:spPr>
          <a:xfrm>
            <a:off x="1051560" y="2075688"/>
            <a:ext cx="457200" cy="457200"/>
          </a:xfrm>
          <a:prstGeom prst="ellipse">
            <a:avLst/>
          </a:prstGeom>
          <a:solidFill>
            <a:srgbClr val="306998"/>
          </a:solidFill>
          <a:ln/>
        </p:spPr>
      </p:sp>
      <p:sp>
        <p:nvSpPr>
          <p:cNvPr id="8" name="Text 5"/>
          <p:cNvSpPr txBox="1"/>
          <p:nvPr/>
        </p:nvSpPr>
        <p:spPr>
          <a:xfrm>
            <a:off x="1051560" y="2075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6"/>
          <p:cNvSpPr txBox="1"/>
          <p:nvPr/>
        </p:nvSpPr>
        <p:spPr>
          <a:xfrm>
            <a:off x="1691640" y="192024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Click a cell, then press Esc so the border turns blue</a:t>
            </a:r>
            <a:endParaRPr lang="en-US" sz="1450" dirty="0"/>
          </a:p>
        </p:txBody>
      </p:sp>
      <p:sp>
        <p:nvSpPr>
          <p:cNvPr id="10" name="Shape 7"/>
          <p:cNvSpPr/>
          <p:nvPr/>
        </p:nvSpPr>
        <p:spPr>
          <a:xfrm>
            <a:off x="822960" y="2834640"/>
            <a:ext cx="10515600" cy="777240"/>
          </a:xfrm>
          <a:prstGeom prst="roundRect">
            <a:avLst>
              <a:gd name="adj" fmla="val 11765"/>
            </a:avLst>
          </a:prstGeom>
          <a:solidFill>
            <a:srgbClr val="1B2A4A"/>
          </a:solidFill>
          <a:ln/>
        </p:spPr>
      </p:sp>
      <p:sp>
        <p:nvSpPr>
          <p:cNvPr id="11" name="Shape 8"/>
          <p:cNvSpPr/>
          <p:nvPr/>
        </p:nvSpPr>
        <p:spPr>
          <a:xfrm>
            <a:off x="1051560" y="2990088"/>
            <a:ext cx="457200" cy="457200"/>
          </a:xfrm>
          <a:prstGeom prst="ellipse">
            <a:avLst/>
          </a:prstGeom>
          <a:solidFill>
            <a:srgbClr val="306998"/>
          </a:solidFill>
          <a:ln/>
        </p:spPr>
      </p:sp>
      <p:sp>
        <p:nvSpPr>
          <p:cNvPr id="12" name="Text 9"/>
          <p:cNvSpPr txBox="1"/>
          <p:nvPr/>
        </p:nvSpPr>
        <p:spPr>
          <a:xfrm>
            <a:off x="1051560" y="29900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3" name="Text 10"/>
          <p:cNvSpPr txBox="1"/>
          <p:nvPr/>
        </p:nvSpPr>
        <p:spPr>
          <a:xfrm>
            <a:off x="1691640" y="283464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Press B to add a new cell below it</a:t>
            </a:r>
            <a:endParaRPr lang="en-US" sz="1450" dirty="0"/>
          </a:p>
        </p:txBody>
      </p:sp>
      <p:sp>
        <p:nvSpPr>
          <p:cNvPr id="14" name="Shape 11"/>
          <p:cNvSpPr/>
          <p:nvPr/>
        </p:nvSpPr>
        <p:spPr>
          <a:xfrm>
            <a:off x="822960" y="3749040"/>
            <a:ext cx="10515600" cy="777240"/>
          </a:xfrm>
          <a:prstGeom prst="roundRect">
            <a:avLst>
              <a:gd name="adj" fmla="val 11765"/>
            </a:avLst>
          </a:prstGeom>
          <a:solidFill>
            <a:srgbClr val="1B2A4A"/>
          </a:solidFill>
          <a:ln/>
        </p:spPr>
      </p:sp>
      <p:sp>
        <p:nvSpPr>
          <p:cNvPr id="15" name="Shape 12"/>
          <p:cNvSpPr/>
          <p:nvPr/>
        </p:nvSpPr>
        <p:spPr>
          <a:xfrm>
            <a:off x="1051560" y="3904488"/>
            <a:ext cx="457200" cy="457200"/>
          </a:xfrm>
          <a:prstGeom prst="ellipse">
            <a:avLst/>
          </a:prstGeom>
          <a:solidFill>
            <a:srgbClr val="306998"/>
          </a:solidFill>
          <a:ln/>
        </p:spPr>
      </p:sp>
      <p:sp>
        <p:nvSpPr>
          <p:cNvPr id="16" name="Text 13"/>
          <p:cNvSpPr txBox="1"/>
          <p:nvPr/>
        </p:nvSpPr>
        <p:spPr>
          <a:xfrm>
            <a:off x="1051560" y="39044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4"/>
          <p:cNvSpPr txBox="1"/>
          <p:nvPr/>
        </p:nvSpPr>
        <p:spPr>
          <a:xfrm>
            <a:off x="1691640" y="374904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Press D twice, quickly, to delete that new cell</a:t>
            </a:r>
            <a:endParaRPr lang="en-US" sz="1450" dirty="0"/>
          </a:p>
        </p:txBody>
      </p:sp>
      <p:sp>
        <p:nvSpPr>
          <p:cNvPr id="18" name="Shape 15"/>
          <p:cNvSpPr/>
          <p:nvPr/>
        </p:nvSpPr>
        <p:spPr>
          <a:xfrm>
            <a:off x="822960" y="4663440"/>
            <a:ext cx="10515600" cy="777240"/>
          </a:xfrm>
          <a:prstGeom prst="roundRect">
            <a:avLst>
              <a:gd name="adj" fmla="val 11765"/>
            </a:avLst>
          </a:prstGeom>
          <a:solidFill>
            <a:srgbClr val="1B2A4A"/>
          </a:solidFill>
          <a:ln/>
        </p:spPr>
      </p:sp>
      <p:sp>
        <p:nvSpPr>
          <p:cNvPr id="19" name="Shape 16"/>
          <p:cNvSpPr/>
          <p:nvPr/>
        </p:nvSpPr>
        <p:spPr>
          <a:xfrm>
            <a:off x="1051560" y="4818888"/>
            <a:ext cx="457200" cy="457200"/>
          </a:xfrm>
          <a:prstGeom prst="ellipse">
            <a:avLst/>
          </a:prstGeom>
          <a:solidFill>
            <a:srgbClr val="306998"/>
          </a:solidFill>
          <a:ln/>
        </p:spPr>
      </p:sp>
      <p:sp>
        <p:nvSpPr>
          <p:cNvPr id="20" name="Text 17"/>
          <p:cNvSpPr txBox="1"/>
          <p:nvPr/>
        </p:nvSpPr>
        <p:spPr>
          <a:xfrm>
            <a:off x="1051560" y="4818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691640" y="4663440"/>
            <a:ext cx="9509760" cy="7772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Press A to add one back above instead</a:t>
            </a:r>
            <a:endParaRPr lang="en-US" sz="1450" dirty="0"/>
          </a:p>
        </p:txBody>
      </p:sp>
      <p:sp>
        <p:nvSpPr>
          <p:cNvPr id="22" name="Text 19"/>
          <p:cNvSpPr txBox="1"/>
          <p:nvPr/>
        </p:nvSpPr>
        <p:spPr>
          <a:xfrm>
            <a:off x="822960" y="5623560"/>
            <a:ext cx="10515600" cy="365760"/>
          </a:xfrm>
          <a:prstGeom prst="rect">
            <a:avLst/>
          </a:prstGeom>
          <a:noFill/>
          <a:ln/>
        </p:spPr>
        <p:txBody>
          <a:bodyPr wrap="square" lIns="0" tIns="0" rIns="0" bIns="0" rtlCol="0" anchor="ctr"/>
          <a:lstStyle/>
          <a:p>
            <a:pPr indent="0" marL="0">
              <a:buNone/>
            </a:pPr>
            <a:r>
              <a:rPr lang="en-US" sz="1250" i="1" dirty="0">
                <a:solidFill>
                  <a:srgbClr val="AEB9CC"/>
                </a:solidFill>
                <a:latin typeface="Calibri" pitchFamily="34" charset="0"/>
                <a:ea typeface="Calibri" pitchFamily="34" charset="-122"/>
                <a:cs typeface="Calibri" pitchFamily="34" charset="-120"/>
              </a:rPr>
              <a:t>These same four shortcuts cover most of what you will do all day.</a:t>
            </a:r>
            <a:endParaRPr lang="en-US" sz="1250" dirty="0"/>
          </a:p>
        </p:txBody>
      </p:sp>
      <p:sp>
        <p:nvSpPr>
          <p:cNvPr id="23" name="Text 2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4 · Interface and the Kernel</a:t>
            </a:r>
            <a:endParaRPr lang="en-US" sz="1000" dirty="0"/>
          </a:p>
        </p:txBody>
      </p:sp>
      <p:sp>
        <p:nvSpPr>
          <p:cNvPr id="24" name="Text 2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5</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Why Use Jupyter?</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A fair, honest look at when a notebook helps, and when a plain script is better.</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compare.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5</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Use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24</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Notebook vs. plain script</a:t>
            </a:r>
            <a:endParaRPr lang="en-US" sz="3200" dirty="0"/>
          </a:p>
        </p:txBody>
      </p:sp>
      <p:sp>
        <p:nvSpPr>
          <p:cNvPr id="6" name="Text 4"/>
          <p:cNvSpPr txBox="1"/>
          <p:nvPr/>
        </p:nvSpPr>
        <p:spPr>
          <a:xfrm>
            <a:off x="640080" y="1600200"/>
            <a:ext cx="2377440" cy="32004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FACTOR</a:t>
            </a:r>
            <a:endParaRPr lang="en-US" sz="1100" dirty="0"/>
          </a:p>
        </p:txBody>
      </p:sp>
      <p:sp>
        <p:nvSpPr>
          <p:cNvPr id="7" name="Text 5"/>
          <p:cNvSpPr txBox="1"/>
          <p:nvPr/>
        </p:nvSpPr>
        <p:spPr>
          <a:xfrm>
            <a:off x="3200400" y="1600200"/>
            <a:ext cx="3931920" cy="320040"/>
          </a:xfrm>
          <a:prstGeom prst="rect">
            <a:avLst/>
          </a:prstGeom>
          <a:noFill/>
          <a:ln/>
        </p:spPr>
        <p:txBody>
          <a:bodyPr wrap="square" lIns="0" tIns="0" rIns="0" bIns="0" rtlCol="0" anchor="ctr"/>
          <a:lstStyle/>
          <a:p>
            <a:pPr indent="0" marL="0">
              <a:buNone/>
            </a:pPr>
            <a:r>
              <a:rPr lang="en-US" sz="1100" b="1" dirty="0">
                <a:solidFill>
                  <a:srgbClr val="306998"/>
                </a:solidFill>
                <a:latin typeface="Arial" pitchFamily="34" charset="0"/>
                <a:ea typeface="Arial" pitchFamily="34" charset="-122"/>
                <a:cs typeface="Arial" pitchFamily="34" charset="-120"/>
              </a:rPr>
              <a:t>NOTEBOOK</a:t>
            </a:r>
            <a:endParaRPr lang="en-US" sz="1100" dirty="0"/>
          </a:p>
        </p:txBody>
      </p:sp>
      <p:sp>
        <p:nvSpPr>
          <p:cNvPr id="8" name="Text 6"/>
          <p:cNvSpPr txBox="1"/>
          <p:nvPr/>
        </p:nvSpPr>
        <p:spPr>
          <a:xfrm>
            <a:off x="7315200" y="1600200"/>
            <a:ext cx="4206240" cy="320040"/>
          </a:xfrm>
          <a:prstGeom prst="rect">
            <a:avLst/>
          </a:prstGeom>
          <a:noFill/>
          <a:ln/>
        </p:spPr>
        <p:txBody>
          <a:bodyPr wrap="square" lIns="0" tIns="0" rIns="0" bIns="0" rtlCol="0" anchor="ctr"/>
          <a:lstStyle/>
          <a:p>
            <a:pPr indent="0" marL="0">
              <a:buNone/>
            </a:pPr>
            <a:r>
              <a:rPr lang="en-US" sz="1100" b="1" dirty="0">
                <a:solidFill>
                  <a:srgbClr val="5B6472"/>
                </a:solidFill>
                <a:latin typeface="Arial" pitchFamily="34" charset="0"/>
                <a:ea typeface="Arial" pitchFamily="34" charset="-122"/>
                <a:cs typeface="Arial" pitchFamily="34" charset="-120"/>
              </a:rPr>
              <a:t>PLAIN SCRIPT (.py)</a:t>
            </a:r>
            <a:endParaRPr lang="en-US" sz="1100" dirty="0"/>
          </a:p>
        </p:txBody>
      </p:sp>
      <p:sp>
        <p:nvSpPr>
          <p:cNvPr id="9" name="Shape 7"/>
          <p:cNvSpPr/>
          <p:nvPr/>
        </p:nvSpPr>
        <p:spPr>
          <a:xfrm>
            <a:off x="640080" y="2057400"/>
            <a:ext cx="10881360" cy="914400"/>
          </a:xfrm>
          <a:prstGeom prst="rect">
            <a:avLst/>
          </a:prstGeom>
          <a:solidFill>
            <a:srgbClr val="F4F6F9"/>
          </a:solidFill>
          <a:ln/>
        </p:spPr>
      </p:sp>
      <p:sp>
        <p:nvSpPr>
          <p:cNvPr id="10" name="Text 8"/>
          <p:cNvSpPr txBox="1"/>
          <p:nvPr/>
        </p:nvSpPr>
        <p:spPr>
          <a:xfrm>
            <a:off x="640080" y="2057400"/>
            <a:ext cx="2377440" cy="91440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Feedback</a:t>
            </a:r>
            <a:endParaRPr lang="en-US" sz="1300" dirty="0"/>
          </a:p>
        </p:txBody>
      </p:sp>
      <p:sp>
        <p:nvSpPr>
          <p:cNvPr id="11" name="Text 9"/>
          <p:cNvSpPr txBox="1"/>
          <p:nvPr/>
        </p:nvSpPr>
        <p:spPr>
          <a:xfrm>
            <a:off x="3200400" y="2057400"/>
            <a:ext cx="3931920" cy="9144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See output the moment a cell runs</a:t>
            </a:r>
            <a:endParaRPr lang="en-US" sz="1200" dirty="0"/>
          </a:p>
        </p:txBody>
      </p:sp>
      <p:sp>
        <p:nvSpPr>
          <p:cNvPr id="12" name="Text 10"/>
          <p:cNvSpPr txBox="1"/>
          <p:nvPr/>
        </p:nvSpPr>
        <p:spPr>
          <a:xfrm>
            <a:off x="7315200" y="2057400"/>
            <a:ext cx="4206240" cy="9144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Run the whole file to see any output</a:t>
            </a:r>
            <a:endParaRPr lang="en-US" sz="1200" dirty="0"/>
          </a:p>
        </p:txBody>
      </p:sp>
      <p:sp>
        <p:nvSpPr>
          <p:cNvPr id="13" name="Text 11"/>
          <p:cNvSpPr txBox="1"/>
          <p:nvPr/>
        </p:nvSpPr>
        <p:spPr>
          <a:xfrm>
            <a:off x="640080" y="2971800"/>
            <a:ext cx="2377440" cy="91440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Explaining your work</a:t>
            </a:r>
            <a:endParaRPr lang="en-US" sz="1300" dirty="0"/>
          </a:p>
        </p:txBody>
      </p:sp>
      <p:sp>
        <p:nvSpPr>
          <p:cNvPr id="14" name="Text 12"/>
          <p:cNvSpPr txBox="1"/>
          <p:nvPr/>
        </p:nvSpPr>
        <p:spPr>
          <a:xfrm>
            <a:off x="3200400" y="2971800"/>
            <a:ext cx="3931920" cy="9144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Markdown text lives beside the code</a:t>
            </a:r>
            <a:endParaRPr lang="en-US" sz="1200" dirty="0"/>
          </a:p>
        </p:txBody>
      </p:sp>
      <p:sp>
        <p:nvSpPr>
          <p:cNvPr id="15" name="Text 13"/>
          <p:cNvSpPr txBox="1"/>
          <p:nvPr/>
        </p:nvSpPr>
        <p:spPr>
          <a:xfrm>
            <a:off x="7315200" y="2971800"/>
            <a:ext cx="4206240" cy="9144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Explanation lives in separate comments or docs</a:t>
            </a:r>
            <a:endParaRPr lang="en-US" sz="1200" dirty="0"/>
          </a:p>
        </p:txBody>
      </p:sp>
      <p:sp>
        <p:nvSpPr>
          <p:cNvPr id="16" name="Shape 14"/>
          <p:cNvSpPr/>
          <p:nvPr/>
        </p:nvSpPr>
        <p:spPr>
          <a:xfrm>
            <a:off x="640080" y="3886200"/>
            <a:ext cx="10881360" cy="914400"/>
          </a:xfrm>
          <a:prstGeom prst="rect">
            <a:avLst/>
          </a:prstGeom>
          <a:solidFill>
            <a:srgbClr val="F4F6F9"/>
          </a:solidFill>
          <a:ln/>
        </p:spPr>
      </p:sp>
      <p:sp>
        <p:nvSpPr>
          <p:cNvPr id="17" name="Text 15"/>
          <p:cNvSpPr txBox="1"/>
          <p:nvPr/>
        </p:nvSpPr>
        <p:spPr>
          <a:xfrm>
            <a:off x="640080" y="3886200"/>
            <a:ext cx="2377440" cy="91440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Charts and tables</a:t>
            </a:r>
            <a:endParaRPr lang="en-US" sz="1300" dirty="0"/>
          </a:p>
        </p:txBody>
      </p:sp>
      <p:sp>
        <p:nvSpPr>
          <p:cNvPr id="18" name="Text 16"/>
          <p:cNvSpPr txBox="1"/>
          <p:nvPr/>
        </p:nvSpPr>
        <p:spPr>
          <a:xfrm>
            <a:off x="3200400" y="3886200"/>
            <a:ext cx="3931920" cy="9144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Rendered inline, right under the cell</a:t>
            </a:r>
            <a:endParaRPr lang="en-US" sz="1200" dirty="0"/>
          </a:p>
        </p:txBody>
      </p:sp>
      <p:sp>
        <p:nvSpPr>
          <p:cNvPr id="19" name="Text 17"/>
          <p:cNvSpPr txBox="1"/>
          <p:nvPr/>
        </p:nvSpPr>
        <p:spPr>
          <a:xfrm>
            <a:off x="7315200" y="3886200"/>
            <a:ext cx="4206240" cy="9144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Usually opens in a separate window or file</a:t>
            </a:r>
            <a:endParaRPr lang="en-US" sz="1200" dirty="0"/>
          </a:p>
        </p:txBody>
      </p:sp>
      <p:sp>
        <p:nvSpPr>
          <p:cNvPr id="20" name="Text 18"/>
          <p:cNvSpPr txBox="1"/>
          <p:nvPr/>
        </p:nvSpPr>
        <p:spPr>
          <a:xfrm>
            <a:off x="640080" y="4800600"/>
            <a:ext cx="2377440" cy="91440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Production and version control</a:t>
            </a:r>
            <a:endParaRPr lang="en-US" sz="1300" dirty="0"/>
          </a:p>
        </p:txBody>
      </p:sp>
      <p:sp>
        <p:nvSpPr>
          <p:cNvPr id="21" name="Text 19"/>
          <p:cNvSpPr txBox="1"/>
          <p:nvPr/>
        </p:nvSpPr>
        <p:spPr>
          <a:xfrm>
            <a:off x="3200400" y="4800600"/>
            <a:ext cx="3931920" cy="9144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Harder to diff and to deploy directly</a:t>
            </a:r>
            <a:endParaRPr lang="en-US" sz="1200" dirty="0"/>
          </a:p>
        </p:txBody>
      </p:sp>
      <p:sp>
        <p:nvSpPr>
          <p:cNvPr id="22" name="Text 20"/>
          <p:cNvSpPr txBox="1"/>
          <p:nvPr/>
        </p:nvSpPr>
        <p:spPr>
          <a:xfrm>
            <a:off x="7315200" y="4800600"/>
            <a:ext cx="4206240" cy="9144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Built for clean history and deployment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Use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25</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notebooks genuinely shine</a:t>
            </a:r>
            <a:endParaRPr lang="en-US" sz="3200" dirty="0"/>
          </a:p>
        </p:txBody>
      </p:sp>
      <p:sp>
        <p:nvSpPr>
          <p:cNvPr id="6" name="Shape 4"/>
          <p:cNvSpPr/>
          <p:nvPr/>
        </p:nvSpPr>
        <p:spPr>
          <a:xfrm>
            <a:off x="640080" y="1600200"/>
            <a:ext cx="3429000" cy="3017520"/>
          </a:xfrm>
          <a:prstGeom prst="roundRect">
            <a:avLst>
              <a:gd name="adj" fmla="val 2727"/>
            </a:avLst>
          </a:prstGeom>
          <a:solidFill>
            <a:srgbClr val="F4F6F9"/>
          </a:solidFill>
          <a:ln/>
        </p:spPr>
      </p:sp>
      <p:sp>
        <p:nvSpPr>
          <p:cNvPr id="7" name="Shape 5"/>
          <p:cNvSpPr/>
          <p:nvPr/>
        </p:nvSpPr>
        <p:spPr>
          <a:xfrm>
            <a:off x="1988820" y="1920240"/>
            <a:ext cx="731520" cy="731520"/>
          </a:xfrm>
          <a:prstGeom prst="ellipse">
            <a:avLst/>
          </a:prstGeom>
          <a:solidFill>
            <a:srgbClr val="306998"/>
          </a:solidFill>
          <a:ln/>
        </p:spPr>
      </p:sp>
      <p:pic>
        <p:nvPicPr>
          <p:cNvPr id="8" name="Image 0" descr="/tmp/claude-0/-home-user-pythonSEM-intro/a422a649-6240-52ae-9445-beabcf08c9b3/scratchpad/jupyter/icons/chart.png">    </p:cNvPr>
          <p:cNvPicPr>
            <a:picLocks noChangeAspect="1"/>
          </p:cNvPicPr>
          <p:nvPr/>
        </p:nvPicPr>
        <p:blipFill>
          <a:blip r:embed="rId1"/>
          <a:stretch>
            <a:fillRect/>
          </a:stretch>
        </p:blipFill>
        <p:spPr>
          <a:xfrm>
            <a:off x="2083918" y="2015338"/>
            <a:ext cx="541325" cy="541325"/>
          </a:xfrm>
          <a:prstGeom prst="rect">
            <a:avLst/>
          </a:prstGeom>
        </p:spPr>
      </p:pic>
      <p:sp>
        <p:nvSpPr>
          <p:cNvPr id="9" name="Text 6"/>
          <p:cNvSpPr txBox="1"/>
          <p:nvPr/>
        </p:nvSpPr>
        <p:spPr>
          <a:xfrm>
            <a:off x="9144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Inline charts</a:t>
            </a:r>
            <a:endParaRPr lang="en-US" sz="1500" dirty="0"/>
          </a:p>
        </p:txBody>
      </p:sp>
      <p:sp>
        <p:nvSpPr>
          <p:cNvPr id="10" name="Text 7"/>
          <p:cNvSpPr txBox="1"/>
          <p:nvPr/>
        </p:nvSpPr>
        <p:spPr>
          <a:xfrm>
            <a:off x="914400" y="3383280"/>
            <a:ext cx="2880360" cy="109728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Plot a graph and see it appear right below your code, no extra window</a:t>
            </a:r>
            <a:endParaRPr lang="en-US" sz="1200" dirty="0"/>
          </a:p>
        </p:txBody>
      </p:sp>
      <p:sp>
        <p:nvSpPr>
          <p:cNvPr id="11" name="Shape 8"/>
          <p:cNvSpPr/>
          <p:nvPr/>
        </p:nvSpPr>
        <p:spPr>
          <a:xfrm>
            <a:off x="4297680" y="1600200"/>
            <a:ext cx="3429000" cy="3017520"/>
          </a:xfrm>
          <a:prstGeom prst="roundRect">
            <a:avLst>
              <a:gd name="adj" fmla="val 2727"/>
            </a:avLst>
          </a:prstGeom>
          <a:solidFill>
            <a:srgbClr val="F4F6F9"/>
          </a:solidFill>
          <a:ln/>
        </p:spPr>
      </p:sp>
      <p:sp>
        <p:nvSpPr>
          <p:cNvPr id="12" name="Shape 9"/>
          <p:cNvSpPr/>
          <p:nvPr/>
        </p:nvSpPr>
        <p:spPr>
          <a:xfrm>
            <a:off x="5646420" y="1920240"/>
            <a:ext cx="731520" cy="731520"/>
          </a:xfrm>
          <a:prstGeom prst="ellipse">
            <a:avLst/>
          </a:prstGeom>
          <a:solidFill>
            <a:srgbClr val="306998"/>
          </a:solidFill>
          <a:ln/>
        </p:spPr>
      </p:sp>
      <p:pic>
        <p:nvPicPr>
          <p:cNvPr id="13" name="Image 1" descr="/tmp/claude-0/-home-user-pythonSEM-intro/a422a649-6240-52ae-9445-beabcf08c9b3/scratchpad/jupyter/icons/restart.png">    </p:cNvPr>
          <p:cNvPicPr>
            <a:picLocks noChangeAspect="1"/>
          </p:cNvPicPr>
          <p:nvPr/>
        </p:nvPicPr>
        <p:blipFill>
          <a:blip r:embed="rId2"/>
          <a:stretch>
            <a:fillRect/>
          </a:stretch>
        </p:blipFill>
        <p:spPr>
          <a:xfrm>
            <a:off x="5741518" y="2015338"/>
            <a:ext cx="541325" cy="541325"/>
          </a:xfrm>
          <a:prstGeom prst="rect">
            <a:avLst/>
          </a:prstGeom>
        </p:spPr>
      </p:pic>
      <p:sp>
        <p:nvSpPr>
          <p:cNvPr id="14" name="Text 10"/>
          <p:cNvSpPr txBox="1"/>
          <p:nvPr/>
        </p:nvSpPr>
        <p:spPr>
          <a:xfrm>
            <a:off x="45720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Fast iteration</a:t>
            </a:r>
            <a:endParaRPr lang="en-US" sz="1500" dirty="0"/>
          </a:p>
        </p:txBody>
      </p:sp>
      <p:sp>
        <p:nvSpPr>
          <p:cNvPr id="15" name="Text 11"/>
          <p:cNvSpPr txBox="1"/>
          <p:nvPr/>
        </p:nvSpPr>
        <p:spPr>
          <a:xfrm>
            <a:off x="4572000" y="3383280"/>
            <a:ext cx="2880360" cy="109728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Change one line and re-run just that cell, instead of the whole program</a:t>
            </a:r>
            <a:endParaRPr lang="en-US" sz="1200" dirty="0"/>
          </a:p>
        </p:txBody>
      </p:sp>
      <p:sp>
        <p:nvSpPr>
          <p:cNvPr id="16" name="Shape 12"/>
          <p:cNvSpPr/>
          <p:nvPr/>
        </p:nvSpPr>
        <p:spPr>
          <a:xfrm>
            <a:off x="7955280" y="1600200"/>
            <a:ext cx="3429000" cy="3017520"/>
          </a:xfrm>
          <a:prstGeom prst="roundRect">
            <a:avLst>
              <a:gd name="adj" fmla="val 2727"/>
            </a:avLst>
          </a:prstGeom>
          <a:solidFill>
            <a:srgbClr val="F4F6F9"/>
          </a:solidFill>
          <a:ln/>
        </p:spPr>
      </p:sp>
      <p:sp>
        <p:nvSpPr>
          <p:cNvPr id="17" name="Shape 13"/>
          <p:cNvSpPr/>
          <p:nvPr/>
        </p:nvSpPr>
        <p:spPr>
          <a:xfrm>
            <a:off x="9304020" y="1920240"/>
            <a:ext cx="731520" cy="731520"/>
          </a:xfrm>
          <a:prstGeom prst="ellipse">
            <a:avLst/>
          </a:prstGeom>
          <a:solidFill>
            <a:srgbClr val="306998"/>
          </a:solidFill>
          <a:ln/>
        </p:spPr>
      </p:sp>
      <p:pic>
        <p:nvPicPr>
          <p:cNvPr id="18" name="Image 2" descr="/tmp/claude-0/-home-user-pythonSEM-intro/a422a649-6240-52ae-9445-beabcf08c9b3/scratchpad/jupyter/icons/bulb_list.png">    </p:cNvPr>
          <p:cNvPicPr>
            <a:picLocks noChangeAspect="1"/>
          </p:cNvPicPr>
          <p:nvPr/>
        </p:nvPicPr>
        <p:blipFill>
          <a:blip r:embed="rId3"/>
          <a:stretch>
            <a:fillRect/>
          </a:stretch>
        </p:blipFill>
        <p:spPr>
          <a:xfrm>
            <a:off x="9399118" y="2015338"/>
            <a:ext cx="541325" cy="541325"/>
          </a:xfrm>
          <a:prstGeom prst="rect">
            <a:avLst/>
          </a:prstGeom>
        </p:spPr>
      </p:pic>
      <p:sp>
        <p:nvSpPr>
          <p:cNvPr id="19" name="Text 14"/>
          <p:cNvSpPr txBox="1"/>
          <p:nvPr/>
        </p:nvSpPr>
        <p:spPr>
          <a:xfrm>
            <a:off x="82296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A running record</a:t>
            </a:r>
            <a:endParaRPr lang="en-US" sz="1500" dirty="0"/>
          </a:p>
        </p:txBody>
      </p:sp>
      <p:sp>
        <p:nvSpPr>
          <p:cNvPr id="20" name="Text 15"/>
          <p:cNvSpPr txBox="1"/>
          <p:nvPr/>
        </p:nvSpPr>
        <p:spPr>
          <a:xfrm>
            <a:off x="8229600" y="3383280"/>
            <a:ext cx="2880360" cy="109728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Your notebook becomes a readable log of how you reached your answer</a:t>
            </a:r>
            <a:endParaRPr lang="en-US" sz="1200" dirty="0"/>
          </a:p>
        </p:txBody>
      </p:sp>
      <p:sp>
        <p:nvSpPr>
          <p:cNvPr id="21" name="Shape 16"/>
          <p:cNvSpPr/>
          <p:nvPr/>
        </p:nvSpPr>
        <p:spPr>
          <a:xfrm>
            <a:off x="640080" y="4846320"/>
            <a:ext cx="10881360" cy="777240"/>
          </a:xfrm>
          <a:prstGeom prst="roundRect">
            <a:avLst>
              <a:gd name="adj" fmla="val 9412"/>
            </a:avLst>
          </a:prstGeom>
          <a:solidFill>
            <a:srgbClr val="132038"/>
          </a:solidFill>
          <a:ln/>
        </p:spPr>
      </p:sp>
      <p:sp>
        <p:nvSpPr>
          <p:cNvPr id="22" name="Shape 17"/>
          <p:cNvSpPr/>
          <p:nvPr/>
        </p:nvSpPr>
        <p:spPr>
          <a:xfrm>
            <a:off x="822960" y="4983480"/>
            <a:ext cx="502920" cy="502920"/>
          </a:xfrm>
          <a:prstGeom prst="ellipse">
            <a:avLst/>
          </a:prstGeom>
          <a:solidFill>
            <a:srgbClr val="FFD43B"/>
          </a:solidFill>
          <a:ln/>
        </p:spPr>
      </p:sp>
      <p:pic>
        <p:nvPicPr>
          <p:cNvPr id="23" name="Image 3" descr="/tmp/claude-0/-home-user-pythonSEM-intro/a422a649-6240-52ae-9445-beabcf08c9b3/scratchpad/jupyter/icons/star.png">    </p:cNvPr>
          <p:cNvPicPr>
            <a:picLocks noChangeAspect="1"/>
          </p:cNvPicPr>
          <p:nvPr/>
        </p:nvPicPr>
        <p:blipFill>
          <a:blip r:embed="rId4"/>
          <a:stretch>
            <a:fillRect/>
          </a:stretch>
        </p:blipFill>
        <p:spPr>
          <a:xfrm>
            <a:off x="888340" y="5048860"/>
            <a:ext cx="372161" cy="372161"/>
          </a:xfrm>
          <a:prstGeom prst="rect">
            <a:avLst/>
          </a:prstGeom>
        </p:spPr>
      </p:pic>
      <p:sp>
        <p:nvSpPr>
          <p:cNvPr id="24" name="Text 18"/>
          <p:cNvSpPr txBox="1"/>
          <p:nvPr/>
        </p:nvSpPr>
        <p:spPr>
          <a:xfrm>
            <a:off x="1508760" y="4846320"/>
            <a:ext cx="9784080" cy="7772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Rule of thumb: explore and experiment in a notebook, then move finished, reusable code into a plain .py file.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5 · Why Use Jupyter?</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26</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5</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In fairness: not always the right tool</a:t>
            </a:r>
            <a:endParaRPr lang="en-US" sz="3200" dirty="0"/>
          </a:p>
        </p:txBody>
      </p:sp>
      <p:sp>
        <p:nvSpPr>
          <p:cNvPr id="6" name="Text 4"/>
          <p:cNvSpPr txBox="1"/>
          <p:nvPr/>
        </p:nvSpPr>
        <p:spPr>
          <a:xfrm>
            <a:off x="640080" y="1417320"/>
            <a:ext cx="10058400" cy="36576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Notebooks are wonderful for exploring, less so for a few specific jobs.</a:t>
            </a:r>
            <a:endParaRPr lang="en-US" sz="1400" dirty="0"/>
          </a:p>
        </p:txBody>
      </p:sp>
      <p:sp>
        <p:nvSpPr>
          <p:cNvPr id="7" name="Shape 5"/>
          <p:cNvSpPr/>
          <p:nvPr/>
        </p:nvSpPr>
        <p:spPr>
          <a:xfrm>
            <a:off x="640080" y="2103120"/>
            <a:ext cx="3429000" cy="3200400"/>
          </a:xfrm>
          <a:prstGeom prst="roundRect">
            <a:avLst>
              <a:gd name="adj" fmla="val 2571"/>
            </a:avLst>
          </a:prstGeom>
          <a:solidFill>
            <a:srgbClr val="F4F6F9"/>
          </a:solidFill>
          <a:ln/>
        </p:spPr>
      </p:sp>
      <p:sp>
        <p:nvSpPr>
          <p:cNvPr id="8" name="Shape 6"/>
          <p:cNvSpPr/>
          <p:nvPr/>
        </p:nvSpPr>
        <p:spPr>
          <a:xfrm>
            <a:off x="1988820" y="2423160"/>
            <a:ext cx="731520" cy="731520"/>
          </a:xfrm>
          <a:prstGeom prst="ellipse">
            <a:avLst/>
          </a:prstGeom>
          <a:solidFill>
            <a:srgbClr val="B03A2E"/>
          </a:solidFill>
          <a:ln/>
        </p:spPr>
      </p:sp>
      <p:pic>
        <p:nvPicPr>
          <p:cNvPr id="9" name="Image 0" descr="/tmp/claude-0/-home-user-pythonSEM-intro/a422a649-6240-52ae-9445-beabcf08c9b3/scratchpad/jupyter/icons/warning.png">    </p:cNvPr>
          <p:cNvPicPr>
            <a:picLocks noChangeAspect="1"/>
          </p:cNvPicPr>
          <p:nvPr/>
        </p:nvPicPr>
        <p:blipFill>
          <a:blip r:embed="rId1"/>
          <a:stretch>
            <a:fillRect/>
          </a:stretch>
        </p:blipFill>
        <p:spPr>
          <a:xfrm>
            <a:off x="2083918" y="2518258"/>
            <a:ext cx="541325" cy="541325"/>
          </a:xfrm>
          <a:prstGeom prst="rect">
            <a:avLst/>
          </a:prstGeom>
        </p:spPr>
      </p:pic>
      <p:sp>
        <p:nvSpPr>
          <p:cNvPr id="10" name="Text 7"/>
          <p:cNvSpPr txBox="1"/>
          <p:nvPr/>
        </p:nvSpPr>
        <p:spPr>
          <a:xfrm>
            <a:off x="9144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Production systems</a:t>
            </a:r>
            <a:endParaRPr lang="en-US" sz="1500" dirty="0"/>
          </a:p>
        </p:txBody>
      </p:sp>
      <p:sp>
        <p:nvSpPr>
          <p:cNvPr id="11" name="Text 8"/>
          <p:cNvSpPr txBox="1"/>
          <p:nvPr/>
        </p:nvSpPr>
        <p:spPr>
          <a:xfrm>
            <a:off x="9144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Software that runs unattended is built and deployed as scripts and applications, not notebooks.</a:t>
            </a:r>
            <a:endParaRPr lang="en-US" sz="1200" dirty="0"/>
          </a:p>
        </p:txBody>
      </p:sp>
      <p:sp>
        <p:nvSpPr>
          <p:cNvPr id="12" name="Shape 9"/>
          <p:cNvSpPr/>
          <p:nvPr/>
        </p:nvSpPr>
        <p:spPr>
          <a:xfrm>
            <a:off x="4297680" y="2103120"/>
            <a:ext cx="3429000" cy="3200400"/>
          </a:xfrm>
          <a:prstGeom prst="roundRect">
            <a:avLst>
              <a:gd name="adj" fmla="val 2571"/>
            </a:avLst>
          </a:prstGeom>
          <a:solidFill>
            <a:srgbClr val="F4F6F9"/>
          </a:solidFill>
          <a:ln/>
        </p:spPr>
      </p:sp>
      <p:sp>
        <p:nvSpPr>
          <p:cNvPr id="13" name="Shape 10"/>
          <p:cNvSpPr/>
          <p:nvPr/>
        </p:nvSpPr>
        <p:spPr>
          <a:xfrm>
            <a:off x="5646420" y="2423160"/>
            <a:ext cx="731520" cy="731520"/>
          </a:xfrm>
          <a:prstGeom prst="ellipse">
            <a:avLst/>
          </a:prstGeom>
          <a:solidFill>
            <a:srgbClr val="B03A2E"/>
          </a:solidFill>
          <a:ln/>
        </p:spPr>
      </p:sp>
      <p:pic>
        <p:nvPicPr>
          <p:cNvPr id="14" name="Image 1" descr="/tmp/claude-0/-home-user-pythonSEM-intro/a422a649-6240-52ae-9445-beabcf08c9b3/scratchpad/jupyter/icons/warning.png">    </p:cNvPr>
          <p:cNvPicPr>
            <a:picLocks noChangeAspect="1"/>
          </p:cNvPicPr>
          <p:nvPr/>
        </p:nvPicPr>
        <p:blipFill>
          <a:blip r:embed="rId2"/>
          <a:stretch>
            <a:fillRect/>
          </a:stretch>
        </p:blipFill>
        <p:spPr>
          <a:xfrm>
            <a:off x="5741518" y="2518258"/>
            <a:ext cx="541325" cy="541325"/>
          </a:xfrm>
          <a:prstGeom prst="rect">
            <a:avLst/>
          </a:prstGeom>
        </p:spPr>
      </p:pic>
      <p:sp>
        <p:nvSpPr>
          <p:cNvPr id="15" name="Text 11"/>
          <p:cNvSpPr txBox="1"/>
          <p:nvPr/>
        </p:nvSpPr>
        <p:spPr>
          <a:xfrm>
            <a:off x="45720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Large team codebases</a:t>
            </a:r>
            <a:endParaRPr lang="en-US" sz="1500" dirty="0"/>
          </a:p>
        </p:txBody>
      </p:sp>
      <p:sp>
        <p:nvSpPr>
          <p:cNvPr id="16" name="Text 12"/>
          <p:cNvSpPr txBox="1"/>
          <p:nvPr/>
        </p:nvSpPr>
        <p:spPr>
          <a:xfrm>
            <a:off x="45720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Notebook files are hard to review line by line in a pull request, plain code diffs far better.</a:t>
            </a:r>
            <a:endParaRPr lang="en-US" sz="1200" dirty="0"/>
          </a:p>
        </p:txBody>
      </p:sp>
      <p:sp>
        <p:nvSpPr>
          <p:cNvPr id="17" name="Shape 13"/>
          <p:cNvSpPr/>
          <p:nvPr/>
        </p:nvSpPr>
        <p:spPr>
          <a:xfrm>
            <a:off x="7955280" y="2103120"/>
            <a:ext cx="3429000" cy="3200400"/>
          </a:xfrm>
          <a:prstGeom prst="roundRect">
            <a:avLst>
              <a:gd name="adj" fmla="val 2571"/>
            </a:avLst>
          </a:prstGeom>
          <a:solidFill>
            <a:srgbClr val="F4F6F9"/>
          </a:solidFill>
          <a:ln/>
        </p:spPr>
      </p:sp>
      <p:sp>
        <p:nvSpPr>
          <p:cNvPr id="18" name="Shape 14"/>
          <p:cNvSpPr/>
          <p:nvPr/>
        </p:nvSpPr>
        <p:spPr>
          <a:xfrm>
            <a:off x="9304020" y="2423160"/>
            <a:ext cx="731520" cy="731520"/>
          </a:xfrm>
          <a:prstGeom prst="ellipse">
            <a:avLst/>
          </a:prstGeom>
          <a:solidFill>
            <a:srgbClr val="B03A2E"/>
          </a:solidFill>
          <a:ln/>
        </p:spPr>
      </p:sp>
      <p:pic>
        <p:nvPicPr>
          <p:cNvPr id="19" name="Image 2" descr="/tmp/claude-0/-home-user-pythonSEM-intro/a422a649-6240-52ae-9445-beabcf08c9b3/scratchpad/jupyter/icons/warning.png">    </p:cNvPr>
          <p:cNvPicPr>
            <a:picLocks noChangeAspect="1"/>
          </p:cNvPicPr>
          <p:nvPr/>
        </p:nvPicPr>
        <p:blipFill>
          <a:blip r:embed="rId3"/>
          <a:stretch>
            <a:fillRect/>
          </a:stretch>
        </p:blipFill>
        <p:spPr>
          <a:xfrm>
            <a:off x="9399118" y="2518258"/>
            <a:ext cx="541325" cy="541325"/>
          </a:xfrm>
          <a:prstGeom prst="rect">
            <a:avLst/>
          </a:prstGeom>
        </p:spPr>
      </p:pic>
      <p:sp>
        <p:nvSpPr>
          <p:cNvPr id="20" name="Text 15"/>
          <p:cNvSpPr txBox="1"/>
          <p:nvPr/>
        </p:nvSpPr>
        <p:spPr>
          <a:xfrm>
            <a:off x="8229600" y="333756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Strict, repeatable order</a:t>
            </a:r>
            <a:endParaRPr lang="en-US" sz="1500" dirty="0"/>
          </a:p>
        </p:txBody>
      </p:sp>
      <p:sp>
        <p:nvSpPr>
          <p:cNvPr id="21" name="Text 16"/>
          <p:cNvSpPr txBox="1"/>
          <p:nvPr/>
        </p:nvSpPr>
        <p:spPr>
          <a:xfrm>
            <a:off x="8229600" y="3886200"/>
            <a:ext cx="2880360" cy="12801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Because cells can run out of order, a notebook can quietly hide mistakes a script would not.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038"/>
        </a:solidFill>
      </p:bgPr>
    </p:bg>
    <p:spTree>
      <p:nvGrpSpPr>
        <p:cNvPr id="1" name=""/>
        <p:cNvGrpSpPr/>
        <p:nvPr/>
      </p:nvGrpSpPr>
      <p:grpSpPr>
        <a:xfrm>
          <a:off x="0" y="0"/>
          <a:ext cx="0" cy="0"/>
          <a:chOff x="0" y="0"/>
          <a:chExt cx="0" cy="0"/>
        </a:xfrm>
      </p:grpSpPr>
      <p:sp>
        <p:nvSpPr>
          <p:cNvPr id="2" name="Text 0"/>
          <p:cNvSpPr txBox="1"/>
          <p:nvPr/>
        </p:nvSpPr>
        <p:spPr>
          <a:xfrm>
            <a:off x="822960" y="2331720"/>
            <a:ext cx="5486400" cy="457200"/>
          </a:xfrm>
          <a:prstGeom prst="rect">
            <a:avLst/>
          </a:prstGeom>
          <a:noFill/>
          <a:ln/>
        </p:spPr>
        <p:txBody>
          <a:bodyPr wrap="square" lIns="0" tIns="0" rIns="0" bIns="0" rtlCol="0" anchor="ctr"/>
          <a:lstStyle/>
          <a:p>
            <a:pPr indent="0" marL="0">
              <a:buNone/>
            </a:pPr>
            <a:r>
              <a:rPr lang="en-US" sz="1600" b="1" spc="300" kern="0" dirty="0">
                <a:solidFill>
                  <a:srgbClr val="FFD43B"/>
                </a:solidFill>
                <a:latin typeface="Arial" pitchFamily="34" charset="0"/>
                <a:ea typeface="Arial" pitchFamily="34" charset="-122"/>
                <a:cs typeface="Arial" pitchFamily="34" charset="-120"/>
              </a:rPr>
              <a:t>CHAPTER 6</a:t>
            </a:r>
            <a:endParaRPr lang="en-US" sz="1600" dirty="0"/>
          </a:p>
        </p:txBody>
      </p:sp>
      <p:sp>
        <p:nvSpPr>
          <p:cNvPr id="3" name="Text 1"/>
          <p:cNvSpPr txBox="1"/>
          <p:nvPr/>
        </p:nvSpPr>
        <p:spPr>
          <a:xfrm>
            <a:off x="822960" y="2743200"/>
            <a:ext cx="8503920" cy="14630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Good Habits to Know</a:t>
            </a:r>
            <a:endParaRPr lang="en-US" sz="4400" dirty="0"/>
          </a:p>
        </p:txBody>
      </p:sp>
      <p:sp>
        <p:nvSpPr>
          <p:cNvPr id="4" name="Text 2"/>
          <p:cNvSpPr txBox="1"/>
          <p:nvPr/>
        </p:nvSpPr>
        <p:spPr>
          <a:xfrm>
            <a:off x="822960" y="3977640"/>
            <a:ext cx="8046720" cy="731520"/>
          </a:xfrm>
          <a:prstGeom prst="rect">
            <a:avLst/>
          </a:prstGeom>
          <a:noFill/>
          <a:ln/>
        </p:spPr>
        <p:txBody>
          <a:bodyPr wrap="square" lIns="0" tIns="0" rIns="0" bIns="0" rtlCol="0" anchor="ctr"/>
          <a:lstStyle/>
          <a:p>
            <a:pPr indent="0" marL="0">
              <a:buNone/>
            </a:pPr>
            <a:r>
              <a:rPr lang="en-US" sz="1600" dirty="0">
                <a:solidFill>
                  <a:srgbClr val="AEB9CC"/>
                </a:solidFill>
                <a:latin typeface="Calibri" pitchFamily="34" charset="0"/>
                <a:ea typeface="Calibri" pitchFamily="34" charset="-122"/>
                <a:cs typeface="Calibri" pitchFamily="34" charset="-120"/>
              </a:rPr>
              <a:t>The small, practical things that keep a notebook trustworthy and easy to share.</a:t>
            </a:r>
            <a:endParaRPr lang="en-US" sz="1600" dirty="0"/>
          </a:p>
        </p:txBody>
      </p:sp>
      <p:sp>
        <p:nvSpPr>
          <p:cNvPr id="5" name="Shape 3"/>
          <p:cNvSpPr/>
          <p:nvPr/>
        </p:nvSpPr>
        <p:spPr>
          <a:xfrm>
            <a:off x="9357055" y="2331720"/>
            <a:ext cx="1828800" cy="1828800"/>
          </a:xfrm>
          <a:prstGeom prst="ellipse">
            <a:avLst/>
          </a:prstGeom>
          <a:solidFill>
            <a:srgbClr val="306998"/>
          </a:solidFill>
          <a:ln/>
        </p:spPr>
      </p:sp>
      <p:pic>
        <p:nvPicPr>
          <p:cNvPr id="6" name="Image 0" descr="/tmp/claude-0/-home-user-pythonSEM-intro/a422a649-6240-52ae-9445-beabcf08c9b3/scratchpad/jupyter/icons/gear.png">    </p:cNvPr>
          <p:cNvPicPr>
            <a:picLocks noChangeAspect="1"/>
          </p:cNvPicPr>
          <p:nvPr/>
        </p:nvPicPr>
        <p:blipFill>
          <a:blip r:embed="rId1"/>
          <a:stretch>
            <a:fillRect/>
          </a:stretch>
        </p:blipFill>
        <p:spPr>
          <a:xfrm>
            <a:off x="9594799" y="2569464"/>
            <a:ext cx="1353312" cy="1353312"/>
          </a:xfrm>
          <a:prstGeom prst="rect">
            <a:avLst/>
          </a:prstGeom>
        </p:spPr>
      </p:pic>
      <p:sp>
        <p:nvSpPr>
          <p:cNvPr id="7" name="Text 4"/>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Chapter 6</a:t>
            </a:r>
            <a:endParaRPr lang="en-US" sz="1000" dirty="0"/>
          </a:p>
        </p:txBody>
      </p:sp>
      <p:sp>
        <p:nvSpPr>
          <p:cNvPr id="8" name="Text 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28</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Always trust "Restart &amp; Run All"</a:t>
            </a:r>
            <a:endParaRPr lang="en-US" sz="3200" dirty="0"/>
          </a:p>
        </p:txBody>
      </p:sp>
      <p:sp>
        <p:nvSpPr>
          <p:cNvPr id="6" name="Text 4"/>
          <p:cNvSpPr txBox="1"/>
          <p:nvPr/>
        </p:nvSpPr>
        <p:spPr>
          <a:xfrm>
            <a:off x="640080" y="1417320"/>
            <a:ext cx="10515600" cy="731520"/>
          </a:xfrm>
          <a:prstGeom prst="rect">
            <a:avLst/>
          </a:prstGeom>
          <a:noFill/>
          <a:ln/>
        </p:spPr>
        <p:txBody>
          <a:bodyPr wrap="square" lIns="0" tIns="0" rIns="0" bIns="0" rtlCol="0" anchor="ctr"/>
          <a:lstStyle/>
          <a:p>
            <a:pPr indent="0" marL="0">
              <a:buNone/>
            </a:pPr>
            <a:r>
              <a:rPr lang="en-US" sz="1400" dirty="0">
                <a:solidFill>
                  <a:srgbClr val="5B6472"/>
                </a:solidFill>
                <a:latin typeface="Calibri" pitchFamily="34" charset="0"/>
                <a:ea typeface="Calibri" pitchFamily="34" charset="-122"/>
                <a:cs typeface="Calibri" pitchFamily="34" charset="-120"/>
              </a:rPr>
              <a:t>Because you can run cells in any order, a notebook can look correct while hiding a mistake. Before you trust or share your results, restart and re-run everything top to bottom.</a:t>
            </a:r>
            <a:endParaRPr lang="en-US" sz="1400" dirty="0"/>
          </a:p>
        </p:txBody>
      </p:sp>
      <p:sp>
        <p:nvSpPr>
          <p:cNvPr id="7" name="Shape 5"/>
          <p:cNvSpPr/>
          <p:nvPr/>
        </p:nvSpPr>
        <p:spPr>
          <a:xfrm>
            <a:off x="640080" y="2331720"/>
            <a:ext cx="5212080" cy="3017520"/>
          </a:xfrm>
          <a:prstGeom prst="roundRect">
            <a:avLst>
              <a:gd name="adj" fmla="val 2727"/>
            </a:avLst>
          </a:prstGeom>
          <a:solidFill>
            <a:srgbClr val="F4F6F9"/>
          </a:solidFill>
          <a:ln/>
        </p:spPr>
      </p:sp>
      <p:sp>
        <p:nvSpPr>
          <p:cNvPr id="8" name="Shape 6"/>
          <p:cNvSpPr/>
          <p:nvPr/>
        </p:nvSpPr>
        <p:spPr>
          <a:xfrm>
            <a:off x="868680" y="2514600"/>
            <a:ext cx="502920" cy="502920"/>
          </a:xfrm>
          <a:prstGeom prst="ellipse">
            <a:avLst/>
          </a:prstGeom>
          <a:solidFill>
            <a:srgbClr val="B03A2E"/>
          </a:solidFill>
          <a:ln/>
        </p:spPr>
      </p:sp>
      <p:pic>
        <p:nvPicPr>
          <p:cNvPr id="9" name="Image 0" descr="/tmp/claude-0/-home-user-pythonSEM-intro/a422a649-6240-52ae-9445-beabcf08c9b3/scratchpad/jupyter/icons/warning.png">    </p:cNvPr>
          <p:cNvPicPr>
            <a:picLocks noChangeAspect="1"/>
          </p:cNvPicPr>
          <p:nvPr/>
        </p:nvPicPr>
        <p:blipFill>
          <a:blip r:embed="rId1"/>
          <a:stretch>
            <a:fillRect/>
          </a:stretch>
        </p:blipFill>
        <p:spPr>
          <a:xfrm>
            <a:off x="934060" y="2579980"/>
            <a:ext cx="372161" cy="372161"/>
          </a:xfrm>
          <a:prstGeom prst="rect">
            <a:avLst/>
          </a:prstGeom>
        </p:spPr>
      </p:pic>
      <p:sp>
        <p:nvSpPr>
          <p:cNvPr id="10" name="Text 7"/>
          <p:cNvSpPr txBox="1"/>
          <p:nvPr/>
        </p:nvSpPr>
        <p:spPr>
          <a:xfrm>
            <a:off x="1508760" y="2587752"/>
            <a:ext cx="4114800" cy="365760"/>
          </a:xfrm>
          <a:prstGeom prst="rect">
            <a:avLst/>
          </a:prstGeom>
          <a:noFill/>
          <a:ln/>
        </p:spPr>
        <p:txBody>
          <a:bodyPr wrap="square" lIns="0" tIns="0" rIns="0" bIns="0" rtlCol="0" anchor="ctr"/>
          <a:lstStyle/>
          <a:p>
            <a:pPr indent="0" marL="0">
              <a:buNone/>
            </a:pPr>
            <a:r>
              <a:rPr lang="en-US" sz="1500" b="1" dirty="0">
                <a:solidFill>
                  <a:srgbClr val="B03A2E"/>
                </a:solidFill>
                <a:latin typeface="Arial" pitchFamily="34" charset="0"/>
                <a:ea typeface="Arial" pitchFamily="34" charset="-122"/>
                <a:cs typeface="Arial" pitchFamily="34" charset="-120"/>
              </a:rPr>
              <a:t>The hidden trap</a:t>
            </a:r>
            <a:endParaRPr lang="en-US" sz="1500" dirty="0"/>
          </a:p>
        </p:txBody>
      </p:sp>
      <p:sp>
        <p:nvSpPr>
          <p:cNvPr id="11" name="Text 8"/>
          <p:cNvSpPr txBox="1"/>
          <p:nvPr/>
        </p:nvSpPr>
        <p:spPr>
          <a:xfrm>
            <a:off x="868680" y="3108960"/>
            <a:ext cx="4754880" cy="210312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You define x = 5 in cell 8, run it, then delete that cell. The notebook still remembers x, until you restart the kernel. Anyone re-running your file from the top would get an error.</a:t>
            </a:r>
            <a:endParaRPr lang="en-US" sz="1300" dirty="0"/>
          </a:p>
        </p:txBody>
      </p:sp>
      <p:sp>
        <p:nvSpPr>
          <p:cNvPr id="12" name="Shape 9"/>
          <p:cNvSpPr/>
          <p:nvPr/>
        </p:nvSpPr>
        <p:spPr>
          <a:xfrm>
            <a:off x="6126480" y="2331720"/>
            <a:ext cx="5422392" cy="3017520"/>
          </a:xfrm>
          <a:prstGeom prst="roundRect">
            <a:avLst>
              <a:gd name="adj" fmla="val 2727"/>
            </a:avLst>
          </a:prstGeom>
          <a:solidFill>
            <a:srgbClr val="F4F6F9"/>
          </a:solidFill>
          <a:ln/>
        </p:spPr>
      </p:sp>
      <p:sp>
        <p:nvSpPr>
          <p:cNvPr id="13" name="Shape 10"/>
          <p:cNvSpPr/>
          <p:nvPr/>
        </p:nvSpPr>
        <p:spPr>
          <a:xfrm>
            <a:off x="6355080" y="2514600"/>
            <a:ext cx="502920" cy="502920"/>
          </a:xfrm>
          <a:prstGeom prst="ellipse">
            <a:avLst/>
          </a:prstGeom>
          <a:solidFill>
            <a:srgbClr val="2C5F2D"/>
          </a:solidFill>
          <a:ln/>
        </p:spPr>
      </p:sp>
      <p:pic>
        <p:nvPicPr>
          <p:cNvPr id="14" name="Image 1" descr="/tmp/claude-0/-home-user-pythonSEM-intro/a422a649-6240-52ae-9445-beabcf08c9b3/scratchpad/jupyter/icons/check.png">    </p:cNvPr>
          <p:cNvPicPr>
            <a:picLocks noChangeAspect="1"/>
          </p:cNvPicPr>
          <p:nvPr/>
        </p:nvPicPr>
        <p:blipFill>
          <a:blip r:embed="rId2"/>
          <a:stretch>
            <a:fillRect/>
          </a:stretch>
        </p:blipFill>
        <p:spPr>
          <a:xfrm>
            <a:off x="6420460" y="2579980"/>
            <a:ext cx="372161" cy="372161"/>
          </a:xfrm>
          <a:prstGeom prst="rect">
            <a:avLst/>
          </a:prstGeom>
        </p:spPr>
      </p:pic>
      <p:sp>
        <p:nvSpPr>
          <p:cNvPr id="15" name="Text 11"/>
          <p:cNvSpPr txBox="1"/>
          <p:nvPr/>
        </p:nvSpPr>
        <p:spPr>
          <a:xfrm>
            <a:off x="6995160" y="2587752"/>
            <a:ext cx="4114800" cy="365760"/>
          </a:xfrm>
          <a:prstGeom prst="rect">
            <a:avLst/>
          </a:prstGeom>
          <a:noFill/>
          <a:ln/>
        </p:spPr>
        <p:txBody>
          <a:bodyPr wrap="square" lIns="0" tIns="0" rIns="0" bIns="0" rtlCol="0" anchor="ctr"/>
          <a:lstStyle/>
          <a:p>
            <a:pPr indent="0" marL="0">
              <a:buNone/>
            </a:pPr>
            <a:r>
              <a:rPr lang="en-US" sz="1500" b="1" dirty="0">
                <a:solidFill>
                  <a:srgbClr val="2C5F2D"/>
                </a:solidFill>
                <a:latin typeface="Arial" pitchFamily="34" charset="0"/>
                <a:ea typeface="Arial" pitchFamily="34" charset="-122"/>
                <a:cs typeface="Arial" pitchFamily="34" charset="-120"/>
              </a:rPr>
              <a:t>The fix</a:t>
            </a:r>
            <a:endParaRPr lang="en-US" sz="1500" dirty="0"/>
          </a:p>
        </p:txBody>
      </p:sp>
      <p:sp>
        <p:nvSpPr>
          <p:cNvPr id="16" name="Text 12"/>
          <p:cNvSpPr txBox="1"/>
          <p:nvPr/>
        </p:nvSpPr>
        <p:spPr>
          <a:xfrm>
            <a:off x="6355080" y="3108960"/>
            <a:ext cx="4937760" cy="1463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From the menu, choose Kernel, then Restart &amp; Run All. If it finishes without errors, top to bottom, you know the notebook actually works as written.</a:t>
            </a:r>
            <a:endParaRPr lang="en-US" sz="1300" dirty="0"/>
          </a:p>
        </p:txBody>
      </p:sp>
      <p:sp>
        <p:nvSpPr>
          <p:cNvPr id="17" name="Shape 13"/>
          <p:cNvSpPr/>
          <p:nvPr/>
        </p:nvSpPr>
        <p:spPr>
          <a:xfrm>
            <a:off x="6355080" y="4617720"/>
            <a:ext cx="4937760" cy="786384"/>
          </a:xfrm>
          <a:prstGeom prst="roundRect">
            <a:avLst>
              <a:gd name="adj" fmla="val 9302"/>
            </a:avLst>
          </a:prstGeom>
          <a:solidFill>
            <a:srgbClr val="132038"/>
          </a:solidFill>
          <a:ln/>
        </p:spPr>
      </p:sp>
      <p:sp>
        <p:nvSpPr>
          <p:cNvPr id="18" name="Text 14"/>
          <p:cNvSpPr txBox="1"/>
          <p:nvPr/>
        </p:nvSpPr>
        <p:spPr>
          <a:xfrm>
            <a:off x="6675120" y="4818888"/>
            <a:ext cx="4389120" cy="365760"/>
          </a:xfrm>
          <a:prstGeom prst="rect">
            <a:avLst/>
          </a:prstGeom>
          <a:noFill/>
          <a:ln/>
        </p:spPr>
        <p:txBody>
          <a:bodyPr wrap="square" lIns="0" tIns="0" rIns="0" bIns="0" rtlCol="0" anchor="ctr"/>
          <a:lstStyle/>
          <a:p>
            <a:pPr indent="0" marL="0">
              <a:buNone/>
            </a:pPr>
            <a:r>
              <a:rPr lang="en-US" sz="1500" dirty="0">
                <a:solidFill>
                  <a:srgbClr val="FFD43B"/>
                </a:solidFill>
                <a:latin typeface="Courier New" pitchFamily="34" charset="0"/>
                <a:ea typeface="Courier New" pitchFamily="34" charset="-122"/>
                <a:cs typeface="Courier New" pitchFamily="34" charset="-120"/>
              </a:rPr>
              <a:t>Kernel &gt; Restart &amp; Run All</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29</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Naming, saving, and sharing</a:t>
            </a:r>
            <a:endParaRPr lang="en-US" sz="3200" dirty="0"/>
          </a:p>
        </p:txBody>
      </p:sp>
      <p:sp>
        <p:nvSpPr>
          <p:cNvPr id="6" name="Shape 4"/>
          <p:cNvSpPr/>
          <p:nvPr/>
        </p:nvSpPr>
        <p:spPr>
          <a:xfrm>
            <a:off x="640080" y="1554480"/>
            <a:ext cx="5257800" cy="1417320"/>
          </a:xfrm>
          <a:prstGeom prst="roundRect">
            <a:avLst>
              <a:gd name="adj" fmla="val 5806"/>
            </a:avLst>
          </a:prstGeom>
          <a:solidFill>
            <a:srgbClr val="F4F6F9"/>
          </a:solidFill>
          <a:ln/>
        </p:spPr>
      </p:sp>
      <p:sp>
        <p:nvSpPr>
          <p:cNvPr id="7" name="Shape 5"/>
          <p:cNvSpPr/>
          <p:nvPr/>
        </p:nvSpPr>
        <p:spPr>
          <a:xfrm>
            <a:off x="868680" y="1783080"/>
            <a:ext cx="502920" cy="502920"/>
          </a:xfrm>
          <a:prstGeom prst="ellipse">
            <a:avLst/>
          </a:prstGeom>
          <a:solidFill>
            <a:srgbClr val="306998"/>
          </a:solidFill>
          <a:ln/>
        </p:spPr>
      </p:sp>
      <p:pic>
        <p:nvPicPr>
          <p:cNvPr id="8" name="Image 0" descr="/tmp/claude-0/-home-user-pythonSEM-intro/a422a649-6240-52ae-9445-beabcf08c9b3/scratchpad/jupyter/icons/save.png">    </p:cNvPr>
          <p:cNvPicPr>
            <a:picLocks noChangeAspect="1"/>
          </p:cNvPicPr>
          <p:nvPr/>
        </p:nvPicPr>
        <p:blipFill>
          <a:blip r:embed="rId1"/>
          <a:stretch>
            <a:fillRect/>
          </a:stretch>
        </p:blipFill>
        <p:spPr>
          <a:xfrm>
            <a:off x="934060" y="1848460"/>
            <a:ext cx="372161" cy="372161"/>
          </a:xfrm>
          <a:prstGeom prst="rect">
            <a:avLst/>
          </a:prstGeom>
        </p:spPr>
      </p:pic>
      <p:sp>
        <p:nvSpPr>
          <p:cNvPr id="9" name="Text 6"/>
          <p:cNvSpPr txBox="1"/>
          <p:nvPr/>
        </p:nvSpPr>
        <p:spPr>
          <a:xfrm>
            <a:off x="150876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Save often</a:t>
            </a:r>
            <a:endParaRPr lang="en-US" sz="1400" dirty="0"/>
          </a:p>
        </p:txBody>
      </p:sp>
      <p:sp>
        <p:nvSpPr>
          <p:cNvPr id="10" name="Text 7"/>
          <p:cNvSpPr txBox="1"/>
          <p:nvPr/>
        </p:nvSpPr>
        <p:spPr>
          <a:xfrm>
            <a:off x="91440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Ctrl+S saves a checkpoint, Jupyter also autosaves every couple of minutes.</a:t>
            </a:r>
            <a:endParaRPr lang="en-US" sz="1150" dirty="0"/>
          </a:p>
        </p:txBody>
      </p:sp>
      <p:sp>
        <p:nvSpPr>
          <p:cNvPr id="11" name="Shape 8"/>
          <p:cNvSpPr/>
          <p:nvPr/>
        </p:nvSpPr>
        <p:spPr>
          <a:xfrm>
            <a:off x="6172200" y="1554480"/>
            <a:ext cx="5257800" cy="1417320"/>
          </a:xfrm>
          <a:prstGeom prst="roundRect">
            <a:avLst>
              <a:gd name="adj" fmla="val 5806"/>
            </a:avLst>
          </a:prstGeom>
          <a:solidFill>
            <a:srgbClr val="F4F6F9"/>
          </a:solidFill>
          <a:ln/>
        </p:spPr>
      </p:sp>
      <p:sp>
        <p:nvSpPr>
          <p:cNvPr id="12" name="Shape 9"/>
          <p:cNvSpPr/>
          <p:nvPr/>
        </p:nvSpPr>
        <p:spPr>
          <a:xfrm>
            <a:off x="6400800" y="1783080"/>
            <a:ext cx="502920" cy="502920"/>
          </a:xfrm>
          <a:prstGeom prst="ellipse">
            <a:avLst/>
          </a:prstGeom>
          <a:solidFill>
            <a:srgbClr val="306998"/>
          </a:solidFill>
          <a:ln/>
        </p:spPr>
      </p:sp>
      <p:pic>
        <p:nvPicPr>
          <p:cNvPr id="13" name="Image 1" descr="/tmp/claude-0/-home-user-pythonSEM-intro/a422a649-6240-52ae-9445-beabcf08c9b3/scratchpad/jupyter/icons/layout.png">    </p:cNvPr>
          <p:cNvPicPr>
            <a:picLocks noChangeAspect="1"/>
          </p:cNvPicPr>
          <p:nvPr/>
        </p:nvPicPr>
        <p:blipFill>
          <a:blip r:embed="rId2"/>
          <a:stretch>
            <a:fillRect/>
          </a:stretch>
        </p:blipFill>
        <p:spPr>
          <a:xfrm>
            <a:off x="6466180" y="1848460"/>
            <a:ext cx="372161" cy="372161"/>
          </a:xfrm>
          <a:prstGeom prst="rect">
            <a:avLst/>
          </a:prstGeom>
        </p:spPr>
      </p:pic>
      <p:sp>
        <p:nvSpPr>
          <p:cNvPr id="14" name="Text 10"/>
          <p:cNvSpPr txBox="1"/>
          <p:nvPr/>
        </p:nvSpPr>
        <p:spPr>
          <a:xfrm>
            <a:off x="704088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Name it clearly</a:t>
            </a:r>
            <a:endParaRPr lang="en-US" sz="1400" dirty="0"/>
          </a:p>
        </p:txBody>
      </p:sp>
      <p:sp>
        <p:nvSpPr>
          <p:cNvPr id="15" name="Text 11"/>
          <p:cNvSpPr txBox="1"/>
          <p:nvPr/>
        </p:nvSpPr>
        <p:spPr>
          <a:xfrm>
            <a:off x="644652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sales_report.ipynb beats Untitled4.ipynb once you have a dozen open.</a:t>
            </a:r>
            <a:endParaRPr lang="en-US" sz="1150" dirty="0"/>
          </a:p>
        </p:txBody>
      </p:sp>
      <p:sp>
        <p:nvSpPr>
          <p:cNvPr id="16" name="Shape 12"/>
          <p:cNvSpPr/>
          <p:nvPr/>
        </p:nvSpPr>
        <p:spPr>
          <a:xfrm>
            <a:off x="640080" y="3246120"/>
            <a:ext cx="5257800" cy="1417320"/>
          </a:xfrm>
          <a:prstGeom prst="roundRect">
            <a:avLst>
              <a:gd name="adj" fmla="val 5806"/>
            </a:avLst>
          </a:prstGeom>
          <a:solidFill>
            <a:srgbClr val="F4F6F9"/>
          </a:solidFill>
          <a:ln/>
        </p:spPr>
      </p:sp>
      <p:sp>
        <p:nvSpPr>
          <p:cNvPr id="17" name="Shape 13"/>
          <p:cNvSpPr/>
          <p:nvPr/>
        </p:nvSpPr>
        <p:spPr>
          <a:xfrm>
            <a:off x="868680" y="3474720"/>
            <a:ext cx="502920" cy="502920"/>
          </a:xfrm>
          <a:prstGeom prst="ellipse">
            <a:avLst/>
          </a:prstGeom>
          <a:solidFill>
            <a:srgbClr val="306998"/>
          </a:solidFill>
          <a:ln/>
        </p:spPr>
      </p:sp>
      <p:pic>
        <p:nvPicPr>
          <p:cNvPr id="18" name="Image 2" descr="/tmp/claude-0/-home-user-pythonSEM-intro/a422a649-6240-52ae-9445-beabcf08c9b3/scratchpad/jupyter/icons/export.png">    </p:cNvPr>
          <p:cNvPicPr>
            <a:picLocks noChangeAspect="1"/>
          </p:cNvPicPr>
          <p:nvPr/>
        </p:nvPicPr>
        <p:blipFill>
          <a:blip r:embed="rId3"/>
          <a:stretch>
            <a:fillRect/>
          </a:stretch>
        </p:blipFill>
        <p:spPr>
          <a:xfrm>
            <a:off x="934060" y="3540100"/>
            <a:ext cx="372161" cy="372161"/>
          </a:xfrm>
          <a:prstGeom prst="rect">
            <a:avLst/>
          </a:prstGeom>
        </p:spPr>
      </p:pic>
      <p:sp>
        <p:nvSpPr>
          <p:cNvPr id="19" name="Text 14"/>
          <p:cNvSpPr txBox="1"/>
          <p:nvPr/>
        </p:nvSpPr>
        <p:spPr>
          <a:xfrm>
            <a:off x="150876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Export when done</a:t>
            </a:r>
            <a:endParaRPr lang="en-US" sz="1400" dirty="0"/>
          </a:p>
        </p:txBody>
      </p:sp>
      <p:sp>
        <p:nvSpPr>
          <p:cNvPr id="20" name="Text 15"/>
          <p:cNvSpPr txBox="1"/>
          <p:nvPr/>
        </p:nvSpPr>
        <p:spPr>
          <a:xfrm>
            <a:off x="91440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File &gt; Download as turns your notebook into .py, .html, or .pdf to share.</a:t>
            </a:r>
            <a:endParaRPr lang="en-US" sz="1150" dirty="0"/>
          </a:p>
        </p:txBody>
      </p:sp>
      <p:sp>
        <p:nvSpPr>
          <p:cNvPr id="21" name="Shape 16"/>
          <p:cNvSpPr/>
          <p:nvPr/>
        </p:nvSpPr>
        <p:spPr>
          <a:xfrm>
            <a:off x="6172200" y="3246120"/>
            <a:ext cx="5257800" cy="1417320"/>
          </a:xfrm>
          <a:prstGeom prst="roundRect">
            <a:avLst>
              <a:gd name="adj" fmla="val 5806"/>
            </a:avLst>
          </a:prstGeom>
          <a:solidFill>
            <a:srgbClr val="F4F6F9"/>
          </a:solidFill>
          <a:ln/>
        </p:spPr>
      </p:sp>
      <p:sp>
        <p:nvSpPr>
          <p:cNvPr id="22" name="Shape 17"/>
          <p:cNvSpPr/>
          <p:nvPr/>
        </p:nvSpPr>
        <p:spPr>
          <a:xfrm>
            <a:off x="6400800" y="3474720"/>
            <a:ext cx="502920" cy="502920"/>
          </a:xfrm>
          <a:prstGeom prst="ellipse">
            <a:avLst/>
          </a:prstGeom>
          <a:solidFill>
            <a:srgbClr val="306998"/>
          </a:solidFill>
          <a:ln/>
        </p:spPr>
      </p:sp>
      <p:pic>
        <p:nvPicPr>
          <p:cNvPr id="23" name="Image 3" descr="/tmp/claude-0/-home-user-pythonSEM-intro/a422a649-6240-52ae-9445-beabcf08c9b3/scratchpad/jupyter/icons/bulb_list.png">    </p:cNvPr>
          <p:cNvPicPr>
            <a:picLocks noChangeAspect="1"/>
          </p:cNvPicPr>
          <p:nvPr/>
        </p:nvPicPr>
        <p:blipFill>
          <a:blip r:embed="rId4"/>
          <a:stretch>
            <a:fillRect/>
          </a:stretch>
        </p:blipFill>
        <p:spPr>
          <a:xfrm>
            <a:off x="6466180" y="3540100"/>
            <a:ext cx="372161" cy="372161"/>
          </a:xfrm>
          <a:prstGeom prst="rect">
            <a:avLst/>
          </a:prstGeom>
        </p:spPr>
      </p:pic>
      <p:sp>
        <p:nvSpPr>
          <p:cNvPr id="24" name="Text 18"/>
          <p:cNvSpPr txBox="1"/>
          <p:nvPr/>
        </p:nvSpPr>
        <p:spPr>
          <a:xfrm>
            <a:off x="704088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Keep it focused</a:t>
            </a:r>
            <a:endParaRPr lang="en-US" sz="1400" dirty="0"/>
          </a:p>
        </p:txBody>
      </p:sp>
      <p:sp>
        <p:nvSpPr>
          <p:cNvPr id="25" name="Text 19"/>
          <p:cNvSpPr txBox="1"/>
          <p:nvPr/>
        </p:nvSpPr>
        <p:spPr>
          <a:xfrm>
            <a:off x="644652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One notebook, one goal. Split a sprawling notebook into smaller ones.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30</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Mistakes almost everyone makes at first</a:t>
            </a:r>
            <a:endParaRPr lang="en-US" sz="3200" dirty="0"/>
          </a:p>
        </p:txBody>
      </p:sp>
      <p:sp>
        <p:nvSpPr>
          <p:cNvPr id="6" name="Shape 4"/>
          <p:cNvSpPr/>
          <p:nvPr/>
        </p:nvSpPr>
        <p:spPr>
          <a:xfrm>
            <a:off x="640080" y="1554480"/>
            <a:ext cx="5257800" cy="1417320"/>
          </a:xfrm>
          <a:prstGeom prst="roundRect">
            <a:avLst>
              <a:gd name="adj" fmla="val 5806"/>
            </a:avLst>
          </a:prstGeom>
          <a:solidFill>
            <a:srgbClr val="F4F6F9"/>
          </a:solidFill>
          <a:ln/>
        </p:spPr>
      </p:sp>
      <p:sp>
        <p:nvSpPr>
          <p:cNvPr id="7" name="Shape 5"/>
          <p:cNvSpPr/>
          <p:nvPr/>
        </p:nvSpPr>
        <p:spPr>
          <a:xfrm>
            <a:off x="868680" y="1783080"/>
            <a:ext cx="502920" cy="502920"/>
          </a:xfrm>
          <a:prstGeom prst="ellipse">
            <a:avLst/>
          </a:prstGeom>
          <a:solidFill>
            <a:srgbClr val="B03A2E"/>
          </a:solidFill>
          <a:ln/>
        </p:spPr>
      </p:sp>
      <p:pic>
        <p:nvPicPr>
          <p:cNvPr id="8" name="Image 0" descr="/tmp/claude-0/-home-user-pythonSEM-intro/a422a649-6240-52ae-9445-beabcf08c9b3/scratchpad/jupyter/icons/warning.png">    </p:cNvPr>
          <p:cNvPicPr>
            <a:picLocks noChangeAspect="1"/>
          </p:cNvPicPr>
          <p:nvPr/>
        </p:nvPicPr>
        <p:blipFill>
          <a:blip r:embed="rId1"/>
          <a:stretch>
            <a:fillRect/>
          </a:stretch>
        </p:blipFill>
        <p:spPr>
          <a:xfrm>
            <a:off x="934060" y="1848460"/>
            <a:ext cx="372161" cy="372161"/>
          </a:xfrm>
          <a:prstGeom prst="rect">
            <a:avLst/>
          </a:prstGeom>
        </p:spPr>
      </p:pic>
      <p:sp>
        <p:nvSpPr>
          <p:cNvPr id="9" name="Text 6"/>
          <p:cNvSpPr txBox="1"/>
          <p:nvPr/>
        </p:nvSpPr>
        <p:spPr>
          <a:xfrm>
            <a:off x="150876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Running cells out of order</a:t>
            </a:r>
            <a:endParaRPr lang="en-US" sz="1400" dirty="0"/>
          </a:p>
        </p:txBody>
      </p:sp>
      <p:sp>
        <p:nvSpPr>
          <p:cNvPr id="10" name="Text 7"/>
          <p:cNvSpPr txBox="1"/>
          <p:nvPr/>
        </p:nvSpPr>
        <p:spPr>
          <a:xfrm>
            <a:off x="91440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Jumping around can leave the notebook in a state no one can reproduce.</a:t>
            </a:r>
            <a:endParaRPr lang="en-US" sz="1150" dirty="0"/>
          </a:p>
        </p:txBody>
      </p:sp>
      <p:sp>
        <p:nvSpPr>
          <p:cNvPr id="11" name="Shape 8"/>
          <p:cNvSpPr/>
          <p:nvPr/>
        </p:nvSpPr>
        <p:spPr>
          <a:xfrm>
            <a:off x="6172200" y="1554480"/>
            <a:ext cx="5257800" cy="1417320"/>
          </a:xfrm>
          <a:prstGeom prst="roundRect">
            <a:avLst>
              <a:gd name="adj" fmla="val 5806"/>
            </a:avLst>
          </a:prstGeom>
          <a:solidFill>
            <a:srgbClr val="F4F6F9"/>
          </a:solidFill>
          <a:ln/>
        </p:spPr>
      </p:sp>
      <p:sp>
        <p:nvSpPr>
          <p:cNvPr id="12" name="Shape 9"/>
          <p:cNvSpPr/>
          <p:nvPr/>
        </p:nvSpPr>
        <p:spPr>
          <a:xfrm>
            <a:off x="6400800" y="1783080"/>
            <a:ext cx="502920" cy="502920"/>
          </a:xfrm>
          <a:prstGeom prst="ellipse">
            <a:avLst/>
          </a:prstGeom>
          <a:solidFill>
            <a:srgbClr val="B03A2E"/>
          </a:solidFill>
          <a:ln/>
        </p:spPr>
      </p:sp>
      <p:pic>
        <p:nvPicPr>
          <p:cNvPr id="13" name="Image 1" descr="/tmp/claude-0/-home-user-pythonSEM-intro/a422a649-6240-52ae-9445-beabcf08c9b3/scratchpad/jupyter/icons/warning.png">    </p:cNvPr>
          <p:cNvPicPr>
            <a:picLocks noChangeAspect="1"/>
          </p:cNvPicPr>
          <p:nvPr/>
        </p:nvPicPr>
        <p:blipFill>
          <a:blip r:embed="rId2"/>
          <a:stretch>
            <a:fillRect/>
          </a:stretch>
        </p:blipFill>
        <p:spPr>
          <a:xfrm>
            <a:off x="6466180" y="1848460"/>
            <a:ext cx="372161" cy="372161"/>
          </a:xfrm>
          <a:prstGeom prst="rect">
            <a:avLst/>
          </a:prstGeom>
        </p:spPr>
      </p:pic>
      <p:sp>
        <p:nvSpPr>
          <p:cNvPr id="14" name="Text 10"/>
          <p:cNvSpPr txBox="1"/>
          <p:nvPr/>
        </p:nvSpPr>
        <p:spPr>
          <a:xfrm>
            <a:off x="7040880" y="175564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Never restarting the kernel</a:t>
            </a:r>
            <a:endParaRPr lang="en-US" sz="1400" dirty="0"/>
          </a:p>
        </p:txBody>
      </p:sp>
      <p:sp>
        <p:nvSpPr>
          <p:cNvPr id="15" name="Text 11"/>
          <p:cNvSpPr txBox="1"/>
          <p:nvPr/>
        </p:nvSpPr>
        <p:spPr>
          <a:xfrm>
            <a:off x="6446520" y="237744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Old, deleted, or renamed variables can quietly linger in memory.</a:t>
            </a:r>
            <a:endParaRPr lang="en-US" sz="1150" dirty="0"/>
          </a:p>
        </p:txBody>
      </p:sp>
      <p:sp>
        <p:nvSpPr>
          <p:cNvPr id="16" name="Shape 12"/>
          <p:cNvSpPr/>
          <p:nvPr/>
        </p:nvSpPr>
        <p:spPr>
          <a:xfrm>
            <a:off x="640080" y="3246120"/>
            <a:ext cx="5257800" cy="1417320"/>
          </a:xfrm>
          <a:prstGeom prst="roundRect">
            <a:avLst>
              <a:gd name="adj" fmla="val 5806"/>
            </a:avLst>
          </a:prstGeom>
          <a:solidFill>
            <a:srgbClr val="F4F6F9"/>
          </a:solidFill>
          <a:ln/>
        </p:spPr>
      </p:sp>
      <p:sp>
        <p:nvSpPr>
          <p:cNvPr id="17" name="Shape 13"/>
          <p:cNvSpPr/>
          <p:nvPr/>
        </p:nvSpPr>
        <p:spPr>
          <a:xfrm>
            <a:off x="868680" y="3474720"/>
            <a:ext cx="502920" cy="502920"/>
          </a:xfrm>
          <a:prstGeom prst="ellipse">
            <a:avLst/>
          </a:prstGeom>
          <a:solidFill>
            <a:srgbClr val="B03A2E"/>
          </a:solidFill>
          <a:ln/>
        </p:spPr>
      </p:sp>
      <p:pic>
        <p:nvPicPr>
          <p:cNvPr id="18" name="Image 2" descr="/tmp/claude-0/-home-user-pythonSEM-intro/a422a649-6240-52ae-9445-beabcf08c9b3/scratchpad/jupyter/icons/warning.png">    </p:cNvPr>
          <p:cNvPicPr>
            <a:picLocks noChangeAspect="1"/>
          </p:cNvPicPr>
          <p:nvPr/>
        </p:nvPicPr>
        <p:blipFill>
          <a:blip r:embed="rId3"/>
          <a:stretch>
            <a:fillRect/>
          </a:stretch>
        </p:blipFill>
        <p:spPr>
          <a:xfrm>
            <a:off x="934060" y="3540100"/>
            <a:ext cx="372161" cy="372161"/>
          </a:xfrm>
          <a:prstGeom prst="rect">
            <a:avLst/>
          </a:prstGeom>
        </p:spPr>
      </p:pic>
      <p:sp>
        <p:nvSpPr>
          <p:cNvPr id="19" name="Text 14"/>
          <p:cNvSpPr txBox="1"/>
          <p:nvPr/>
        </p:nvSpPr>
        <p:spPr>
          <a:xfrm>
            <a:off x="150876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One giant notebook</a:t>
            </a:r>
            <a:endParaRPr lang="en-US" sz="1400" dirty="0"/>
          </a:p>
        </p:txBody>
      </p:sp>
      <p:sp>
        <p:nvSpPr>
          <p:cNvPr id="20" name="Text 15"/>
          <p:cNvSpPr txBox="1"/>
          <p:nvPr/>
        </p:nvSpPr>
        <p:spPr>
          <a:xfrm>
            <a:off x="91440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Dozens of unrelated cells become impossible to navigate or trust.</a:t>
            </a:r>
            <a:endParaRPr lang="en-US" sz="1150" dirty="0"/>
          </a:p>
        </p:txBody>
      </p:sp>
      <p:sp>
        <p:nvSpPr>
          <p:cNvPr id="21" name="Shape 16"/>
          <p:cNvSpPr/>
          <p:nvPr/>
        </p:nvSpPr>
        <p:spPr>
          <a:xfrm>
            <a:off x="6172200" y="3246120"/>
            <a:ext cx="5257800" cy="1417320"/>
          </a:xfrm>
          <a:prstGeom prst="roundRect">
            <a:avLst>
              <a:gd name="adj" fmla="val 5806"/>
            </a:avLst>
          </a:prstGeom>
          <a:solidFill>
            <a:srgbClr val="F4F6F9"/>
          </a:solidFill>
          <a:ln/>
        </p:spPr>
      </p:sp>
      <p:sp>
        <p:nvSpPr>
          <p:cNvPr id="22" name="Shape 17"/>
          <p:cNvSpPr/>
          <p:nvPr/>
        </p:nvSpPr>
        <p:spPr>
          <a:xfrm>
            <a:off x="6400800" y="3474720"/>
            <a:ext cx="502920" cy="502920"/>
          </a:xfrm>
          <a:prstGeom prst="ellipse">
            <a:avLst/>
          </a:prstGeom>
          <a:solidFill>
            <a:srgbClr val="B03A2E"/>
          </a:solidFill>
          <a:ln/>
        </p:spPr>
      </p:sp>
      <p:pic>
        <p:nvPicPr>
          <p:cNvPr id="23" name="Image 3" descr="/tmp/claude-0/-home-user-pythonSEM-intro/a422a649-6240-52ae-9445-beabcf08c9b3/scratchpad/jupyter/icons/warning.png">    </p:cNvPr>
          <p:cNvPicPr>
            <a:picLocks noChangeAspect="1"/>
          </p:cNvPicPr>
          <p:nvPr/>
        </p:nvPicPr>
        <p:blipFill>
          <a:blip r:embed="rId4"/>
          <a:stretch>
            <a:fillRect/>
          </a:stretch>
        </p:blipFill>
        <p:spPr>
          <a:xfrm>
            <a:off x="6466180" y="3540100"/>
            <a:ext cx="372161" cy="372161"/>
          </a:xfrm>
          <a:prstGeom prst="rect">
            <a:avLst/>
          </a:prstGeom>
        </p:spPr>
      </p:pic>
      <p:sp>
        <p:nvSpPr>
          <p:cNvPr id="24" name="Text 18"/>
          <p:cNvSpPr txBox="1"/>
          <p:nvPr/>
        </p:nvSpPr>
        <p:spPr>
          <a:xfrm>
            <a:off x="7040880" y="3447288"/>
            <a:ext cx="4160520" cy="5486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Skipping markdown notes</a:t>
            </a:r>
            <a:endParaRPr lang="en-US" sz="1400" dirty="0"/>
          </a:p>
        </p:txBody>
      </p:sp>
      <p:sp>
        <p:nvSpPr>
          <p:cNvPr id="25" name="Text 19"/>
          <p:cNvSpPr txBox="1"/>
          <p:nvPr/>
        </p:nvSpPr>
        <p:spPr>
          <a:xfrm>
            <a:off x="6446520" y="4069080"/>
            <a:ext cx="4709160" cy="548640"/>
          </a:xfrm>
          <a:prstGeom prst="rect">
            <a:avLst/>
          </a:prstGeom>
          <a:noFill/>
          <a:ln/>
        </p:spPr>
        <p:txBody>
          <a:bodyPr wrap="square" lIns="0" tIns="0" rIns="0" bIns="0" rtlCol="0" anchor="ctr"/>
          <a:lstStyle/>
          <a:p>
            <a:pPr indent="0" marL="0">
              <a:buNone/>
            </a:pPr>
            <a:r>
              <a:rPr lang="en-US" sz="1150" dirty="0">
                <a:solidFill>
                  <a:srgbClr val="5B6472"/>
                </a:solidFill>
                <a:latin typeface="Calibri" pitchFamily="34" charset="0"/>
                <a:ea typeface="Calibri" pitchFamily="34" charset="-122"/>
                <a:cs typeface="Calibri" pitchFamily="34" charset="-120"/>
              </a:rPr>
              <a:t>Code without explanation is hard for your future self, or a teammate, to follow.</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Chapter 6 · Good Habits to Know</a:t>
            </a:r>
            <a:endParaRPr lang="en-US" sz="1000" dirty="0"/>
          </a:p>
        </p:txBody>
      </p:sp>
      <p:sp>
        <p:nvSpPr>
          <p:cNvPr id="3" name="Text 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31</a:t>
            </a:r>
            <a:endParaRPr lang="en-US" sz="1000" dirty="0"/>
          </a:p>
        </p:txBody>
      </p:sp>
      <p:sp>
        <p:nvSpPr>
          <p:cNvPr id="4" name="Text 2"/>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CHAPTER 6</a:t>
            </a:r>
            <a:endParaRPr lang="en-US" sz="1300" dirty="0"/>
          </a:p>
        </p:txBody>
      </p:sp>
      <p:sp>
        <p:nvSpPr>
          <p:cNvPr id="5" name="Text 3"/>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Where to keep learning</a:t>
            </a:r>
            <a:endParaRPr lang="en-US" sz="3200" dirty="0"/>
          </a:p>
        </p:txBody>
      </p:sp>
      <p:sp>
        <p:nvSpPr>
          <p:cNvPr id="6" name="Shape 4"/>
          <p:cNvSpPr/>
          <p:nvPr/>
        </p:nvSpPr>
        <p:spPr>
          <a:xfrm>
            <a:off x="640080" y="1600200"/>
            <a:ext cx="3429000" cy="2926080"/>
          </a:xfrm>
          <a:prstGeom prst="roundRect">
            <a:avLst>
              <a:gd name="adj" fmla="val 2813"/>
            </a:avLst>
          </a:prstGeom>
          <a:solidFill>
            <a:srgbClr val="F4F6F9"/>
          </a:solidFill>
          <a:ln/>
        </p:spPr>
      </p:sp>
      <p:sp>
        <p:nvSpPr>
          <p:cNvPr id="7" name="Shape 5"/>
          <p:cNvSpPr/>
          <p:nvPr/>
        </p:nvSpPr>
        <p:spPr>
          <a:xfrm>
            <a:off x="1988820" y="1920240"/>
            <a:ext cx="731520" cy="731520"/>
          </a:xfrm>
          <a:prstGeom prst="ellipse">
            <a:avLst/>
          </a:prstGeom>
          <a:solidFill>
            <a:srgbClr val="306998"/>
          </a:solidFill>
          <a:ln/>
        </p:spPr>
      </p:sp>
      <p:pic>
        <p:nvPicPr>
          <p:cNvPr id="8" name="Image 0" descr="/tmp/claude-0/-home-user-pythonSEM-intro/a422a649-6240-52ae-9445-beabcf08c9b3/scratchpad/jupyter/icons/book.png">    </p:cNvPr>
          <p:cNvPicPr>
            <a:picLocks noChangeAspect="1"/>
          </p:cNvPicPr>
          <p:nvPr/>
        </p:nvPicPr>
        <p:blipFill>
          <a:blip r:embed="rId1"/>
          <a:stretch>
            <a:fillRect/>
          </a:stretch>
        </p:blipFill>
        <p:spPr>
          <a:xfrm>
            <a:off x="2083918" y="2015338"/>
            <a:ext cx="541325" cy="541325"/>
          </a:xfrm>
          <a:prstGeom prst="rect">
            <a:avLst/>
          </a:prstGeom>
        </p:spPr>
      </p:pic>
      <p:sp>
        <p:nvSpPr>
          <p:cNvPr id="9" name="Text 6"/>
          <p:cNvSpPr txBox="1"/>
          <p:nvPr/>
        </p:nvSpPr>
        <p:spPr>
          <a:xfrm>
            <a:off x="9144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Official Jupyter docs</a:t>
            </a:r>
            <a:endParaRPr lang="en-US" sz="1500" dirty="0"/>
          </a:p>
        </p:txBody>
      </p:sp>
      <p:sp>
        <p:nvSpPr>
          <p:cNvPr id="10" name="Text 7"/>
          <p:cNvSpPr txBox="1"/>
          <p:nvPr/>
        </p:nvSpPr>
        <p:spPr>
          <a:xfrm>
            <a:off x="9144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jupyter.org/documentation, the most reliable reference there is</a:t>
            </a:r>
            <a:endParaRPr lang="en-US" sz="1200" dirty="0"/>
          </a:p>
        </p:txBody>
      </p:sp>
      <p:sp>
        <p:nvSpPr>
          <p:cNvPr id="11" name="Shape 8"/>
          <p:cNvSpPr/>
          <p:nvPr/>
        </p:nvSpPr>
        <p:spPr>
          <a:xfrm>
            <a:off x="4297680" y="1600200"/>
            <a:ext cx="3429000" cy="2926080"/>
          </a:xfrm>
          <a:prstGeom prst="roundRect">
            <a:avLst>
              <a:gd name="adj" fmla="val 2813"/>
            </a:avLst>
          </a:prstGeom>
          <a:solidFill>
            <a:srgbClr val="F4F6F9"/>
          </a:solidFill>
          <a:ln/>
        </p:spPr>
      </p:sp>
      <p:sp>
        <p:nvSpPr>
          <p:cNvPr id="12" name="Shape 9"/>
          <p:cNvSpPr/>
          <p:nvPr/>
        </p:nvSpPr>
        <p:spPr>
          <a:xfrm>
            <a:off x="5646420" y="1920240"/>
            <a:ext cx="731520" cy="731520"/>
          </a:xfrm>
          <a:prstGeom prst="ellipse">
            <a:avLst/>
          </a:prstGeom>
          <a:solidFill>
            <a:srgbClr val="306998"/>
          </a:solidFill>
          <a:ln/>
        </p:spPr>
      </p:sp>
      <p:pic>
        <p:nvPicPr>
          <p:cNvPr id="13" name="Image 1" descr="/tmp/claude-0/-home-user-pythonSEM-intro/a422a649-6240-52ae-9445-beabcf08c9b3/scratchpad/jupyter/icons/gradcap.png">    </p:cNvPr>
          <p:cNvPicPr>
            <a:picLocks noChangeAspect="1"/>
          </p:cNvPicPr>
          <p:nvPr/>
        </p:nvPicPr>
        <p:blipFill>
          <a:blip r:embed="rId2"/>
          <a:stretch>
            <a:fillRect/>
          </a:stretch>
        </p:blipFill>
        <p:spPr>
          <a:xfrm>
            <a:off x="5741518" y="2015338"/>
            <a:ext cx="541325" cy="541325"/>
          </a:xfrm>
          <a:prstGeom prst="rect">
            <a:avLst/>
          </a:prstGeom>
        </p:spPr>
      </p:pic>
      <p:sp>
        <p:nvSpPr>
          <p:cNvPr id="14" name="Text 10"/>
          <p:cNvSpPr txBox="1"/>
          <p:nvPr/>
        </p:nvSpPr>
        <p:spPr>
          <a:xfrm>
            <a:off x="45720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Practice sites</a:t>
            </a:r>
            <a:endParaRPr lang="en-US" sz="1500" dirty="0"/>
          </a:p>
        </p:txBody>
      </p:sp>
      <p:sp>
        <p:nvSpPr>
          <p:cNvPr id="15" name="Text 11"/>
          <p:cNvSpPr txBox="1"/>
          <p:nvPr/>
        </p:nvSpPr>
        <p:spPr>
          <a:xfrm>
            <a:off x="45720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Google Colab and Kaggle both let you run notebooks free, in the browser</a:t>
            </a:r>
            <a:endParaRPr lang="en-US" sz="1200" dirty="0"/>
          </a:p>
        </p:txBody>
      </p:sp>
      <p:sp>
        <p:nvSpPr>
          <p:cNvPr id="16" name="Shape 12"/>
          <p:cNvSpPr/>
          <p:nvPr/>
        </p:nvSpPr>
        <p:spPr>
          <a:xfrm>
            <a:off x="7955280" y="1600200"/>
            <a:ext cx="3429000" cy="2926080"/>
          </a:xfrm>
          <a:prstGeom prst="roundRect">
            <a:avLst>
              <a:gd name="adj" fmla="val 2813"/>
            </a:avLst>
          </a:prstGeom>
          <a:solidFill>
            <a:srgbClr val="F4F6F9"/>
          </a:solidFill>
          <a:ln/>
        </p:spPr>
      </p:sp>
      <p:sp>
        <p:nvSpPr>
          <p:cNvPr id="17" name="Shape 13"/>
          <p:cNvSpPr/>
          <p:nvPr/>
        </p:nvSpPr>
        <p:spPr>
          <a:xfrm>
            <a:off x="9304020" y="1920240"/>
            <a:ext cx="731520" cy="731520"/>
          </a:xfrm>
          <a:prstGeom prst="ellipse">
            <a:avLst/>
          </a:prstGeom>
          <a:solidFill>
            <a:srgbClr val="306998"/>
          </a:solidFill>
          <a:ln/>
        </p:spPr>
      </p:sp>
      <p:pic>
        <p:nvPicPr>
          <p:cNvPr id="18" name="Image 2" descr="/tmp/claude-0/-home-user-pythonSEM-intro/a422a649-6240-52ae-9445-beabcf08c9b3/scratchpad/jupyter/icons/users.png">    </p:cNvPr>
          <p:cNvPicPr>
            <a:picLocks noChangeAspect="1"/>
          </p:cNvPicPr>
          <p:nvPr/>
        </p:nvPicPr>
        <p:blipFill>
          <a:blip r:embed="rId3"/>
          <a:stretch>
            <a:fillRect/>
          </a:stretch>
        </p:blipFill>
        <p:spPr>
          <a:xfrm>
            <a:off x="9399118" y="2015338"/>
            <a:ext cx="541325" cy="541325"/>
          </a:xfrm>
          <a:prstGeom prst="rect">
            <a:avLst/>
          </a:prstGeom>
        </p:spPr>
      </p:pic>
      <p:sp>
        <p:nvSpPr>
          <p:cNvPr id="19" name="Text 14"/>
          <p:cNvSpPr txBox="1"/>
          <p:nvPr/>
        </p:nvSpPr>
        <p:spPr>
          <a:xfrm>
            <a:off x="8229600" y="2834640"/>
            <a:ext cx="2880360" cy="502920"/>
          </a:xfrm>
          <a:prstGeom prst="rect">
            <a:avLst/>
          </a:prstGeom>
          <a:noFill/>
          <a:ln/>
        </p:spPr>
        <p:txBody>
          <a:bodyPr wrap="square" lIns="0" tIns="0" rIns="0" bIns="0" rtlCol="0" anchor="ctr"/>
          <a:lstStyle/>
          <a:p>
            <a:pPr algn="ctr" indent="0" marL="0">
              <a:buNone/>
            </a:pPr>
            <a:r>
              <a:rPr lang="en-US" sz="1500" b="1" dirty="0">
                <a:solidFill>
                  <a:srgbClr val="1F2937"/>
                </a:solidFill>
                <a:latin typeface="Arial" pitchFamily="34" charset="0"/>
                <a:ea typeface="Arial" pitchFamily="34" charset="-122"/>
                <a:cs typeface="Arial" pitchFamily="34" charset="-120"/>
              </a:rPr>
              <a:t>This team</a:t>
            </a:r>
            <a:endParaRPr lang="en-US" sz="1500" dirty="0"/>
          </a:p>
        </p:txBody>
      </p:sp>
      <p:sp>
        <p:nvSpPr>
          <p:cNvPr id="20" name="Text 15"/>
          <p:cNvSpPr txBox="1"/>
          <p:nvPr/>
        </p:nvSpPr>
        <p:spPr>
          <a:xfrm>
            <a:off x="8229600" y="3383280"/>
            <a:ext cx="2880360" cy="100584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Our next session, plus a shared channel for questions</a:t>
            </a:r>
            <a:endParaRPr lang="en-US" sz="1200" dirty="0"/>
          </a:p>
        </p:txBody>
      </p:sp>
      <p:sp>
        <p:nvSpPr>
          <p:cNvPr id="21" name="Shape 16"/>
          <p:cNvSpPr/>
          <p:nvPr/>
        </p:nvSpPr>
        <p:spPr>
          <a:xfrm>
            <a:off x="640080" y="4754880"/>
            <a:ext cx="10881360" cy="777240"/>
          </a:xfrm>
          <a:prstGeom prst="roundRect">
            <a:avLst>
              <a:gd name="adj" fmla="val 9412"/>
            </a:avLst>
          </a:prstGeom>
          <a:solidFill>
            <a:srgbClr val="132038"/>
          </a:solidFill>
          <a:ln/>
        </p:spPr>
      </p:sp>
      <p:sp>
        <p:nvSpPr>
          <p:cNvPr id="22" name="Shape 17"/>
          <p:cNvSpPr/>
          <p:nvPr/>
        </p:nvSpPr>
        <p:spPr>
          <a:xfrm>
            <a:off x="822960" y="4892040"/>
            <a:ext cx="502920" cy="502920"/>
          </a:xfrm>
          <a:prstGeom prst="ellipse">
            <a:avLst/>
          </a:prstGeom>
          <a:solidFill>
            <a:srgbClr val="FFD43B"/>
          </a:solidFill>
          <a:ln/>
        </p:spPr>
      </p:sp>
      <p:pic>
        <p:nvPicPr>
          <p:cNvPr id="23" name="Image 3" descr="/tmp/claude-0/-home-user-pythonSEM-intro/a422a649-6240-52ae-9445-beabcf08c9b3/scratchpad/jupyter/icons/star.png">    </p:cNvPr>
          <p:cNvPicPr>
            <a:picLocks noChangeAspect="1"/>
          </p:cNvPicPr>
          <p:nvPr/>
        </p:nvPicPr>
        <p:blipFill>
          <a:blip r:embed="rId4"/>
          <a:stretch>
            <a:fillRect/>
          </a:stretch>
        </p:blipFill>
        <p:spPr>
          <a:xfrm>
            <a:off x="888340" y="4957420"/>
            <a:ext cx="372161" cy="372161"/>
          </a:xfrm>
          <a:prstGeom prst="rect">
            <a:avLst/>
          </a:prstGeom>
        </p:spPr>
      </p:pic>
      <p:sp>
        <p:nvSpPr>
          <p:cNvPr id="24" name="Text 18"/>
          <p:cNvSpPr txBox="1"/>
          <p:nvPr/>
        </p:nvSpPr>
        <p:spPr>
          <a:xfrm>
            <a:off x="1508760" y="4754880"/>
            <a:ext cx="9784080" cy="777240"/>
          </a:xfrm>
          <a:prstGeom prst="rect">
            <a:avLst/>
          </a:prstGeom>
          <a:noFill/>
          <a:ln/>
        </p:spPr>
        <p:txBody>
          <a:bodyPr wrap="square" lIns="0" tIns="0" rIns="0" bIns="0"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The fastest way to get comfortable is to open a notebook and explore a small dataset this week.</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300" b="1" spc="200" kern="0" dirty="0">
                <a:solidFill>
                  <a:srgbClr val="306998"/>
                </a:solidFill>
                <a:latin typeface="Arial" pitchFamily="34" charset="0"/>
                <a:ea typeface="Arial" pitchFamily="34" charset="-122"/>
                <a:cs typeface="Arial" pitchFamily="34" charset="-120"/>
              </a:rPr>
              <a:t>RECAP</a:t>
            </a:r>
            <a:endParaRPr lang="en-US" sz="1300" dirty="0"/>
          </a:p>
        </p:txBody>
      </p:sp>
      <p:sp>
        <p:nvSpPr>
          <p:cNvPr id="3" name="Text 1"/>
          <p:cNvSpPr txBox="1"/>
          <p:nvPr/>
        </p:nvSpPr>
        <p:spPr>
          <a:xfrm>
            <a:off x="640080" y="658368"/>
            <a:ext cx="10881360" cy="822960"/>
          </a:xfrm>
          <a:prstGeom prst="rect">
            <a:avLst/>
          </a:prstGeom>
          <a:noFill/>
          <a:ln/>
        </p:spPr>
        <p:txBody>
          <a:bodyPr wrap="square" lIns="0" tIns="0" rIns="0" bIns="0" rtlCol="0" anchor="ctr"/>
          <a:lstStyle/>
          <a:p>
            <a:pPr indent="0" marL="0">
              <a:buNone/>
            </a:pPr>
            <a:r>
              <a:rPr lang="en-US" sz="3200" b="1" dirty="0">
                <a:solidFill>
                  <a:srgbClr val="1F2937"/>
                </a:solidFill>
                <a:latin typeface="Arial" pitchFamily="34" charset="0"/>
                <a:ea typeface="Arial" pitchFamily="34" charset="-122"/>
                <a:cs typeface="Arial" pitchFamily="34" charset="-120"/>
              </a:rPr>
              <a:t>What we covered today</a:t>
            </a:r>
            <a:endParaRPr lang="en-US" sz="3200" dirty="0"/>
          </a:p>
        </p:txBody>
      </p:sp>
      <p:sp>
        <p:nvSpPr>
          <p:cNvPr id="4" name="Shape 2"/>
          <p:cNvSpPr/>
          <p:nvPr/>
        </p:nvSpPr>
        <p:spPr>
          <a:xfrm>
            <a:off x="640080" y="1554480"/>
            <a:ext cx="3429000" cy="1371600"/>
          </a:xfrm>
          <a:prstGeom prst="roundRect">
            <a:avLst>
              <a:gd name="adj" fmla="val 6000"/>
            </a:avLst>
          </a:prstGeom>
          <a:solidFill>
            <a:srgbClr val="F4F6F9"/>
          </a:solidFill>
          <a:ln/>
        </p:spPr>
      </p:sp>
      <p:sp>
        <p:nvSpPr>
          <p:cNvPr id="5" name="Shape 3"/>
          <p:cNvSpPr/>
          <p:nvPr/>
        </p:nvSpPr>
        <p:spPr>
          <a:xfrm>
            <a:off x="868680" y="1956816"/>
            <a:ext cx="548640" cy="548640"/>
          </a:xfrm>
          <a:prstGeom prst="ellipse">
            <a:avLst/>
          </a:prstGeom>
          <a:solidFill>
            <a:srgbClr val="306998"/>
          </a:solidFill>
          <a:ln/>
        </p:spPr>
      </p:sp>
      <p:pic>
        <p:nvPicPr>
          <p:cNvPr id="6" name="Image 0" descr="/tmp/claude-0/-home-user-pythonSEM-intro/a422a649-6240-52ae-9445-beabcf08c9b3/scratchpad/jupyter/icons/download.png">    </p:cNvPr>
          <p:cNvPicPr>
            <a:picLocks noChangeAspect="1"/>
          </p:cNvPicPr>
          <p:nvPr/>
        </p:nvPicPr>
        <p:blipFill>
          <a:blip r:embed="rId1"/>
          <a:stretch>
            <a:fillRect/>
          </a:stretch>
        </p:blipFill>
        <p:spPr>
          <a:xfrm>
            <a:off x="940003" y="2028139"/>
            <a:ext cx="405994" cy="405994"/>
          </a:xfrm>
          <a:prstGeom prst="rect">
            <a:avLst/>
          </a:prstGeom>
        </p:spPr>
      </p:pic>
      <p:sp>
        <p:nvSpPr>
          <p:cNvPr id="7" name="Text 4"/>
          <p:cNvSpPr txBox="1"/>
          <p:nvPr/>
        </p:nvSpPr>
        <p:spPr>
          <a:xfrm>
            <a:off x="15361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Installed Jupyter</a:t>
            </a:r>
            <a:endParaRPr lang="en-US" sz="1350" dirty="0"/>
          </a:p>
        </p:txBody>
      </p:sp>
      <p:sp>
        <p:nvSpPr>
          <p:cNvPr id="8" name="Shape 5"/>
          <p:cNvSpPr/>
          <p:nvPr/>
        </p:nvSpPr>
        <p:spPr>
          <a:xfrm>
            <a:off x="4297680" y="1554480"/>
            <a:ext cx="3429000" cy="1371600"/>
          </a:xfrm>
          <a:prstGeom prst="roundRect">
            <a:avLst>
              <a:gd name="adj" fmla="val 6000"/>
            </a:avLst>
          </a:prstGeom>
          <a:solidFill>
            <a:srgbClr val="F4F6F9"/>
          </a:solidFill>
          <a:ln/>
        </p:spPr>
      </p:sp>
      <p:sp>
        <p:nvSpPr>
          <p:cNvPr id="9" name="Shape 6"/>
          <p:cNvSpPr/>
          <p:nvPr/>
        </p:nvSpPr>
        <p:spPr>
          <a:xfrm>
            <a:off x="4526280" y="1956816"/>
            <a:ext cx="548640" cy="548640"/>
          </a:xfrm>
          <a:prstGeom prst="ellipse">
            <a:avLst/>
          </a:prstGeom>
          <a:solidFill>
            <a:srgbClr val="306998"/>
          </a:solidFill>
          <a:ln/>
        </p:spPr>
      </p:sp>
      <p:pic>
        <p:nvPicPr>
          <p:cNvPr id="10" name="Image 1" descr="/tmp/claude-0/-home-user-pythonSEM-intro/a422a649-6240-52ae-9445-beabcf08c9b3/scratchpad/jupyter/icons/question.png">    </p:cNvPr>
          <p:cNvPicPr>
            <a:picLocks noChangeAspect="1"/>
          </p:cNvPicPr>
          <p:nvPr/>
        </p:nvPicPr>
        <p:blipFill>
          <a:blip r:embed="rId2"/>
          <a:stretch>
            <a:fillRect/>
          </a:stretch>
        </p:blipFill>
        <p:spPr>
          <a:xfrm>
            <a:off x="4597603" y="2028139"/>
            <a:ext cx="405994" cy="405994"/>
          </a:xfrm>
          <a:prstGeom prst="rect">
            <a:avLst/>
          </a:prstGeom>
        </p:spPr>
      </p:pic>
      <p:sp>
        <p:nvSpPr>
          <p:cNvPr id="11" name="Text 7"/>
          <p:cNvSpPr txBox="1"/>
          <p:nvPr/>
        </p:nvSpPr>
        <p:spPr>
          <a:xfrm>
            <a:off x="51937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Learned what a notebook is</a:t>
            </a:r>
            <a:endParaRPr lang="en-US" sz="1350" dirty="0"/>
          </a:p>
        </p:txBody>
      </p:sp>
      <p:sp>
        <p:nvSpPr>
          <p:cNvPr id="12" name="Shape 8"/>
          <p:cNvSpPr/>
          <p:nvPr/>
        </p:nvSpPr>
        <p:spPr>
          <a:xfrm>
            <a:off x="7955280" y="1554480"/>
            <a:ext cx="3429000" cy="1371600"/>
          </a:xfrm>
          <a:prstGeom prst="roundRect">
            <a:avLst>
              <a:gd name="adj" fmla="val 6000"/>
            </a:avLst>
          </a:prstGeom>
          <a:solidFill>
            <a:srgbClr val="F4F6F9"/>
          </a:solidFill>
          <a:ln/>
        </p:spPr>
      </p:sp>
      <p:sp>
        <p:nvSpPr>
          <p:cNvPr id="13" name="Shape 9"/>
          <p:cNvSpPr/>
          <p:nvPr/>
        </p:nvSpPr>
        <p:spPr>
          <a:xfrm>
            <a:off x="8183880" y="1956816"/>
            <a:ext cx="548640" cy="548640"/>
          </a:xfrm>
          <a:prstGeom prst="ellipse">
            <a:avLst/>
          </a:prstGeom>
          <a:solidFill>
            <a:srgbClr val="306998"/>
          </a:solidFill>
          <a:ln/>
        </p:spPr>
      </p:sp>
      <p:pic>
        <p:nvPicPr>
          <p:cNvPr id="14" name="Image 2" descr="/tmp/claude-0/-home-user-pythonSEM-intro/a422a649-6240-52ae-9445-beabcf08c9b3/scratchpad/jupyter/icons/layout.png">    </p:cNvPr>
          <p:cNvPicPr>
            <a:picLocks noChangeAspect="1"/>
          </p:cNvPicPr>
          <p:nvPr/>
        </p:nvPicPr>
        <p:blipFill>
          <a:blip r:embed="rId3"/>
          <a:stretch>
            <a:fillRect/>
          </a:stretch>
        </p:blipFill>
        <p:spPr>
          <a:xfrm>
            <a:off x="8255203" y="2028139"/>
            <a:ext cx="405994" cy="405994"/>
          </a:xfrm>
          <a:prstGeom prst="rect">
            <a:avLst/>
          </a:prstGeom>
        </p:spPr>
      </p:pic>
      <p:sp>
        <p:nvSpPr>
          <p:cNvPr id="15" name="Text 10"/>
          <p:cNvSpPr txBox="1"/>
          <p:nvPr/>
        </p:nvSpPr>
        <p:spPr>
          <a:xfrm>
            <a:off x="8851392" y="19202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Used code and markdown cells</a:t>
            </a:r>
            <a:endParaRPr lang="en-US" sz="1350" dirty="0"/>
          </a:p>
        </p:txBody>
      </p:sp>
      <p:sp>
        <p:nvSpPr>
          <p:cNvPr id="16" name="Shape 11"/>
          <p:cNvSpPr/>
          <p:nvPr/>
        </p:nvSpPr>
        <p:spPr>
          <a:xfrm>
            <a:off x="640080" y="3154680"/>
            <a:ext cx="3429000" cy="1371600"/>
          </a:xfrm>
          <a:prstGeom prst="roundRect">
            <a:avLst>
              <a:gd name="adj" fmla="val 6000"/>
            </a:avLst>
          </a:prstGeom>
          <a:solidFill>
            <a:srgbClr val="F4F6F9"/>
          </a:solidFill>
          <a:ln/>
        </p:spPr>
      </p:sp>
      <p:sp>
        <p:nvSpPr>
          <p:cNvPr id="17" name="Shape 12"/>
          <p:cNvSpPr/>
          <p:nvPr/>
        </p:nvSpPr>
        <p:spPr>
          <a:xfrm>
            <a:off x="868680" y="3557016"/>
            <a:ext cx="548640" cy="548640"/>
          </a:xfrm>
          <a:prstGeom prst="ellipse">
            <a:avLst/>
          </a:prstGeom>
          <a:solidFill>
            <a:srgbClr val="306998"/>
          </a:solidFill>
          <a:ln/>
        </p:spPr>
      </p:sp>
      <p:pic>
        <p:nvPicPr>
          <p:cNvPr id="18" name="Image 3" descr="/tmp/claude-0/-home-user-pythonSEM-intro/a422a649-6240-52ae-9445-beabcf08c9b3/scratchpad/jupyter/icons/kernel.png">    </p:cNvPr>
          <p:cNvPicPr>
            <a:picLocks noChangeAspect="1"/>
          </p:cNvPicPr>
          <p:nvPr/>
        </p:nvPicPr>
        <p:blipFill>
          <a:blip r:embed="rId4"/>
          <a:stretch>
            <a:fillRect/>
          </a:stretch>
        </p:blipFill>
        <p:spPr>
          <a:xfrm>
            <a:off x="940003" y="3628339"/>
            <a:ext cx="405994" cy="405994"/>
          </a:xfrm>
          <a:prstGeom prst="rect">
            <a:avLst/>
          </a:prstGeom>
        </p:spPr>
      </p:pic>
      <p:sp>
        <p:nvSpPr>
          <p:cNvPr id="19" name="Text 13"/>
          <p:cNvSpPr txBox="1"/>
          <p:nvPr/>
        </p:nvSpPr>
        <p:spPr>
          <a:xfrm>
            <a:off x="15361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Toured the interface and kernel</a:t>
            </a:r>
            <a:endParaRPr lang="en-US" sz="1350" dirty="0"/>
          </a:p>
        </p:txBody>
      </p:sp>
      <p:sp>
        <p:nvSpPr>
          <p:cNvPr id="20" name="Shape 14"/>
          <p:cNvSpPr/>
          <p:nvPr/>
        </p:nvSpPr>
        <p:spPr>
          <a:xfrm>
            <a:off x="4297680" y="3154680"/>
            <a:ext cx="3429000" cy="1371600"/>
          </a:xfrm>
          <a:prstGeom prst="roundRect">
            <a:avLst>
              <a:gd name="adj" fmla="val 6000"/>
            </a:avLst>
          </a:prstGeom>
          <a:solidFill>
            <a:srgbClr val="F4F6F9"/>
          </a:solidFill>
          <a:ln/>
        </p:spPr>
      </p:sp>
      <p:sp>
        <p:nvSpPr>
          <p:cNvPr id="21" name="Shape 15"/>
          <p:cNvSpPr/>
          <p:nvPr/>
        </p:nvSpPr>
        <p:spPr>
          <a:xfrm>
            <a:off x="4526280" y="3557016"/>
            <a:ext cx="548640" cy="548640"/>
          </a:xfrm>
          <a:prstGeom prst="ellipse">
            <a:avLst/>
          </a:prstGeom>
          <a:solidFill>
            <a:srgbClr val="306998"/>
          </a:solidFill>
          <a:ln/>
        </p:spPr>
      </p:sp>
      <p:pic>
        <p:nvPicPr>
          <p:cNvPr id="22" name="Image 4" descr="/tmp/claude-0/-home-user-pythonSEM-intro/a422a649-6240-52ae-9445-beabcf08c9b3/scratchpad/jupyter/icons/compare.png">    </p:cNvPr>
          <p:cNvPicPr>
            <a:picLocks noChangeAspect="1"/>
          </p:cNvPicPr>
          <p:nvPr/>
        </p:nvPicPr>
        <p:blipFill>
          <a:blip r:embed="rId5"/>
          <a:stretch>
            <a:fillRect/>
          </a:stretch>
        </p:blipFill>
        <p:spPr>
          <a:xfrm>
            <a:off x="4597603" y="3628339"/>
            <a:ext cx="405994" cy="405994"/>
          </a:xfrm>
          <a:prstGeom prst="rect">
            <a:avLst/>
          </a:prstGeom>
        </p:spPr>
      </p:pic>
      <p:sp>
        <p:nvSpPr>
          <p:cNvPr id="23" name="Text 16"/>
          <p:cNvSpPr txBox="1"/>
          <p:nvPr/>
        </p:nvSpPr>
        <p:spPr>
          <a:xfrm>
            <a:off x="51937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Compared it to plain scripts</a:t>
            </a:r>
            <a:endParaRPr lang="en-US" sz="1350" dirty="0"/>
          </a:p>
        </p:txBody>
      </p:sp>
      <p:sp>
        <p:nvSpPr>
          <p:cNvPr id="24" name="Shape 17"/>
          <p:cNvSpPr/>
          <p:nvPr/>
        </p:nvSpPr>
        <p:spPr>
          <a:xfrm>
            <a:off x="7955280" y="3154680"/>
            <a:ext cx="3429000" cy="1371600"/>
          </a:xfrm>
          <a:prstGeom prst="roundRect">
            <a:avLst>
              <a:gd name="adj" fmla="val 6000"/>
            </a:avLst>
          </a:prstGeom>
          <a:solidFill>
            <a:srgbClr val="F4F6F9"/>
          </a:solidFill>
          <a:ln/>
        </p:spPr>
      </p:sp>
      <p:sp>
        <p:nvSpPr>
          <p:cNvPr id="25" name="Shape 18"/>
          <p:cNvSpPr/>
          <p:nvPr/>
        </p:nvSpPr>
        <p:spPr>
          <a:xfrm>
            <a:off x="8183880" y="3557016"/>
            <a:ext cx="548640" cy="548640"/>
          </a:xfrm>
          <a:prstGeom prst="ellipse">
            <a:avLst/>
          </a:prstGeom>
          <a:solidFill>
            <a:srgbClr val="306998"/>
          </a:solidFill>
          <a:ln/>
        </p:spPr>
      </p:sp>
      <p:pic>
        <p:nvPicPr>
          <p:cNvPr id="26" name="Image 5" descr="/tmp/claude-0/-home-user-pythonSEM-intro/a422a649-6240-52ae-9445-beabcf08c9b3/scratchpad/jupyter/icons/gear.png">    </p:cNvPr>
          <p:cNvPicPr>
            <a:picLocks noChangeAspect="1"/>
          </p:cNvPicPr>
          <p:nvPr/>
        </p:nvPicPr>
        <p:blipFill>
          <a:blip r:embed="rId6"/>
          <a:stretch>
            <a:fillRect/>
          </a:stretch>
        </p:blipFill>
        <p:spPr>
          <a:xfrm>
            <a:off x="8255203" y="3628339"/>
            <a:ext cx="405994" cy="405994"/>
          </a:xfrm>
          <a:prstGeom prst="rect">
            <a:avLst/>
          </a:prstGeom>
        </p:spPr>
      </p:pic>
      <p:sp>
        <p:nvSpPr>
          <p:cNvPr id="27" name="Text 19"/>
          <p:cNvSpPr txBox="1"/>
          <p:nvPr/>
        </p:nvSpPr>
        <p:spPr>
          <a:xfrm>
            <a:off x="8851392" y="3520440"/>
            <a:ext cx="2331720" cy="640080"/>
          </a:xfrm>
          <a:prstGeom prst="rect">
            <a:avLst/>
          </a:prstGeom>
          <a:noFill/>
          <a:ln/>
        </p:spPr>
        <p:txBody>
          <a:bodyPr wrap="square" lIns="0" tIns="0" rIns="0" bIns="0" rtlCol="0" anchor="ctr"/>
          <a:lstStyle/>
          <a:p>
            <a:pPr indent="0" marL="0">
              <a:buNone/>
            </a:pPr>
            <a:r>
              <a:rPr lang="en-US" sz="1350" b="1" dirty="0">
                <a:solidFill>
                  <a:srgbClr val="1F2937"/>
                </a:solidFill>
                <a:latin typeface="Arial" pitchFamily="34" charset="0"/>
                <a:ea typeface="Arial" pitchFamily="34" charset="-122"/>
                <a:cs typeface="Arial" pitchFamily="34" charset="-120"/>
              </a:rPr>
              <a:t>Picked up good habits</a:t>
            </a:r>
            <a:endParaRPr lang="en-US" sz="1350" dirty="0"/>
          </a:p>
        </p:txBody>
      </p:sp>
      <p:sp>
        <p:nvSpPr>
          <p:cNvPr id="28" name="Shape 20"/>
          <p:cNvSpPr/>
          <p:nvPr/>
        </p:nvSpPr>
        <p:spPr>
          <a:xfrm>
            <a:off x="640080" y="4983480"/>
            <a:ext cx="10881360" cy="1051560"/>
          </a:xfrm>
          <a:prstGeom prst="roundRect">
            <a:avLst>
              <a:gd name="adj" fmla="val 7826"/>
            </a:avLst>
          </a:prstGeom>
          <a:solidFill>
            <a:srgbClr val="132038"/>
          </a:solidFill>
          <a:ln/>
        </p:spPr>
      </p:sp>
      <p:sp>
        <p:nvSpPr>
          <p:cNvPr id="29" name="Shape 21"/>
          <p:cNvSpPr/>
          <p:nvPr/>
        </p:nvSpPr>
        <p:spPr>
          <a:xfrm>
            <a:off x="822960" y="5148072"/>
            <a:ext cx="685800" cy="685800"/>
          </a:xfrm>
          <a:prstGeom prst="ellipse">
            <a:avLst/>
          </a:prstGeom>
          <a:solidFill>
            <a:srgbClr val="FFD43B"/>
          </a:solidFill>
          <a:ln/>
        </p:spPr>
      </p:sp>
      <p:pic>
        <p:nvPicPr>
          <p:cNvPr id="30" name="Image 6" descr="/tmp/claude-0/-home-user-pythonSEM-intro/a422a649-6240-52ae-9445-beabcf08c9b3/scratchpad/jupyter/icons/comments.png">    </p:cNvPr>
          <p:cNvPicPr>
            <a:picLocks noChangeAspect="1"/>
          </p:cNvPicPr>
          <p:nvPr/>
        </p:nvPicPr>
        <p:blipFill>
          <a:blip r:embed="rId7"/>
          <a:stretch>
            <a:fillRect/>
          </a:stretch>
        </p:blipFill>
        <p:spPr>
          <a:xfrm>
            <a:off x="912114" y="5237226"/>
            <a:ext cx="507492" cy="507492"/>
          </a:xfrm>
          <a:prstGeom prst="rect">
            <a:avLst/>
          </a:prstGeom>
        </p:spPr>
      </p:pic>
      <p:sp>
        <p:nvSpPr>
          <p:cNvPr id="31" name="Text 22"/>
          <p:cNvSpPr txBox="1"/>
          <p:nvPr/>
        </p:nvSpPr>
        <p:spPr>
          <a:xfrm>
            <a:off x="1691640" y="4983480"/>
            <a:ext cx="9601200" cy="10515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Let’s discuss: what would you want to explore first in a notebook of your own?</a:t>
            </a:r>
            <a:endParaRPr lang="en-US" sz="1500" dirty="0"/>
          </a:p>
        </p:txBody>
      </p:sp>
      <p:sp>
        <p:nvSpPr>
          <p:cNvPr id="32" name="Text 23"/>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Recap &amp; Discussion</a:t>
            </a:r>
            <a:endParaRPr lang="en-US" sz="1000" dirty="0"/>
          </a:p>
        </p:txBody>
      </p:sp>
      <p:sp>
        <p:nvSpPr>
          <p:cNvPr id="33"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32038"/>
        </a:solidFill>
      </p:bgPr>
    </p:bg>
    <p:spTree>
      <p:nvGrpSpPr>
        <p:cNvPr id="1" name=""/>
        <p:cNvGrpSpPr/>
        <p:nvPr/>
      </p:nvGrpSpPr>
      <p:grpSpPr>
        <a:xfrm>
          <a:off x="0" y="0"/>
          <a:ext cx="0" cy="0"/>
          <a:chOff x="0" y="0"/>
          <a:chExt cx="0" cy="0"/>
        </a:xfrm>
      </p:grpSpPr>
      <p:sp>
        <p:nvSpPr>
          <p:cNvPr id="2" name="Shape 0"/>
          <p:cNvSpPr/>
          <p:nvPr/>
        </p:nvSpPr>
        <p:spPr>
          <a:xfrm>
            <a:off x="5501488" y="777240"/>
            <a:ext cx="1188720" cy="1188720"/>
          </a:xfrm>
          <a:prstGeom prst="ellipse">
            <a:avLst/>
          </a:prstGeom>
          <a:solidFill>
            <a:srgbClr val="306998"/>
          </a:solidFill>
          <a:ln/>
        </p:spPr>
      </p:sp>
      <p:pic>
        <p:nvPicPr>
          <p:cNvPr id="3" name="Image 0" descr="/tmp/claude-0/-home-user-pythonSEM-intro/a422a649-6240-52ae-9445-beabcf08c9b3/scratchpad/jupyter/icons/jupyter_logo.png">    </p:cNvPr>
          <p:cNvPicPr>
            <a:picLocks noChangeAspect="1"/>
          </p:cNvPicPr>
          <p:nvPr/>
        </p:nvPicPr>
        <p:blipFill>
          <a:blip r:embed="rId1"/>
          <a:stretch>
            <a:fillRect/>
          </a:stretch>
        </p:blipFill>
        <p:spPr>
          <a:xfrm>
            <a:off x="5656021" y="931774"/>
            <a:ext cx="879653" cy="879653"/>
          </a:xfrm>
          <a:prstGeom prst="rect">
            <a:avLst/>
          </a:prstGeom>
        </p:spPr>
      </p:pic>
      <p:sp>
        <p:nvSpPr>
          <p:cNvPr id="4" name="Text 1"/>
          <p:cNvSpPr txBox="1"/>
          <p:nvPr/>
        </p:nvSpPr>
        <p:spPr>
          <a:xfrm>
            <a:off x="0" y="233172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5" name="Text 2"/>
          <p:cNvSpPr txBox="1"/>
          <p:nvPr/>
        </p:nvSpPr>
        <p:spPr>
          <a:xfrm>
            <a:off x="1798168" y="3429000"/>
            <a:ext cx="8595360" cy="640080"/>
          </a:xfrm>
          <a:prstGeom prst="rect">
            <a:avLst/>
          </a:prstGeom>
          <a:noFill/>
          <a:ln/>
        </p:spPr>
        <p:txBody>
          <a:bodyPr wrap="square" lIns="0" tIns="0" rIns="0" bIns="0" rtlCol="0" anchor="ctr"/>
          <a:lstStyle/>
          <a:p>
            <a:pPr algn="ctr" indent="0" marL="0">
              <a:buNone/>
            </a:pPr>
            <a:r>
              <a:rPr lang="en-US" sz="1500" dirty="0">
                <a:solidFill>
                  <a:srgbClr val="AEB9CC"/>
                </a:solidFill>
                <a:latin typeface="Calibri" pitchFamily="34" charset="0"/>
                <a:ea typeface="Calibri" pitchFamily="34" charset="-122"/>
                <a:cs typeface="Calibri" pitchFamily="34" charset="-120"/>
              </a:rPr>
              <a:t>You installed Jupyter, ran real cells, and learned how notebooks fit alongside Python scripts. Great second session.</a:t>
            </a:r>
            <a:endParaRPr lang="en-US" sz="1500" dirty="0"/>
          </a:p>
        </p:txBody>
      </p:sp>
      <p:sp>
        <p:nvSpPr>
          <p:cNvPr id="6" name="Shape 3"/>
          <p:cNvSpPr/>
          <p:nvPr/>
        </p:nvSpPr>
        <p:spPr>
          <a:xfrm>
            <a:off x="2986888" y="4343400"/>
            <a:ext cx="6217920" cy="548640"/>
          </a:xfrm>
          <a:prstGeom prst="roundRect">
            <a:avLst>
              <a:gd name="adj" fmla="val 50000"/>
            </a:avLst>
          </a:prstGeom>
          <a:solidFill>
            <a:srgbClr val="1B2A4A"/>
          </a:solidFill>
          <a:ln w="12700">
            <a:solidFill>
              <a:srgbClr val="306998"/>
            </a:solidFill>
            <a:prstDash val="solid"/>
          </a:ln>
        </p:spPr>
      </p:sp>
      <p:sp>
        <p:nvSpPr>
          <p:cNvPr id="7" name="Text 4"/>
          <p:cNvSpPr txBox="1"/>
          <p:nvPr/>
        </p:nvSpPr>
        <p:spPr>
          <a:xfrm>
            <a:off x="2986888" y="4343400"/>
            <a:ext cx="6217920" cy="548640"/>
          </a:xfrm>
          <a:prstGeom prst="rect">
            <a:avLst/>
          </a:prstGeom>
          <a:noFill/>
          <a:ln/>
        </p:spPr>
        <p:txBody>
          <a:bodyPr wrap="square" lIns="0" tIns="0" rIns="0" bIns="0" rtlCol="0" anchor="ctr"/>
          <a:lstStyle/>
          <a:p>
            <a:pPr algn="ctr" indent="0" marL="0">
              <a:buNone/>
            </a:pPr>
            <a:r>
              <a:rPr lang="en-US" sz="1250" dirty="0">
                <a:solidFill>
                  <a:srgbClr val="FFD43B"/>
                </a:solidFill>
                <a:latin typeface="Calibri" pitchFamily="34" charset="0"/>
                <a:ea typeface="Calibri" pitchFamily="34" charset="-122"/>
                <a:cs typeface="Calibri" pitchFamily="34" charset="-120"/>
              </a:rPr>
              <a:t>Next session: exploring a real dataset together</a:t>
            </a:r>
            <a:endParaRPr lang="en-US" sz="1250" dirty="0"/>
          </a:p>
        </p:txBody>
      </p:sp>
      <p:sp>
        <p:nvSpPr>
          <p:cNvPr id="8" name="Text 5"/>
          <p:cNvSpPr txBox="1"/>
          <p:nvPr/>
        </p:nvSpPr>
        <p:spPr>
          <a:xfrm>
            <a:off x="457200" y="6473952"/>
            <a:ext cx="6400800" cy="274320"/>
          </a:xfrm>
          <a:prstGeom prst="rect">
            <a:avLst/>
          </a:prstGeom>
          <a:noFill/>
          <a:ln/>
        </p:spPr>
        <p:txBody>
          <a:bodyPr wrap="square" lIns="0" tIns="0" rIns="0" bIns="0" rtlCol="0" anchor="ctr"/>
          <a:lstStyle/>
          <a:p>
            <a:pPr indent="0" marL="0">
              <a:buNone/>
            </a:pPr>
            <a:r>
              <a:rPr lang="en-US" sz="1000" dirty="0">
                <a:solidFill>
                  <a:srgbClr val="AEB9CC"/>
                </a:solidFill>
                <a:latin typeface="Calibri" pitchFamily="34" charset="0"/>
                <a:ea typeface="Calibri" pitchFamily="34" charset="-122"/>
                <a:cs typeface="Calibri" pitchFamily="34" charset="-120"/>
              </a:rPr>
              <a:t>Team Python Onboarding</a:t>
            </a:r>
            <a:endParaRPr lang="en-US" sz="1000" dirty="0"/>
          </a:p>
        </p:txBody>
      </p:sp>
      <p:sp>
        <p:nvSpPr>
          <p:cNvPr id="9" name="Text 6"/>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AEB9CC"/>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2026-09-14T17:27:52Z</dcterms:created>
  <dcterms:modified xsi:type="dcterms:W3CDTF">2026-09-14T17:27:52Z</dcterms:modified>
</cp:coreProperties>
</file>